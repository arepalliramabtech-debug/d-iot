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728"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0794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This lecture deck covers nine concept topics in IoT security, structured as a learning module. Each topic is presented with a definition, a block diagram, real-world examples, and applications — so you get both the conceptual model and the engineering intuition behind it. We begin with the IoT security landscape and end with privacy and dependability, with the ARMET hardening approach as the centerpiece methodology that ties everything together. By the end of this forty-five-minute session, you should be able to reason about IoT threats across perception, network, and application layers, and apply a structured hardening workflow to a microcontroller-class device.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organized into nine concept topics. Each topic follows the same teaching pattern — first a concept slide that defines the term and gives examples, then a dedicated block diagram slide that visualizes the architecture or flow, and throughout, live real-world examples and applications. We start with a broad introduction to IoT security, then move down the stack from systems to networks to applications, then up again into process safety, design-time methodology, runtime monitoring, and finally the ARMET hardening approach and privacy and dependability. Treat ARMET as the capstone — it ties together many of the earlier concepts into a single seven-step hardening workflow you can apply to a microcontroller-class device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open with a working definition: IoT security is the discipline of protecting connected devices, their data, and the networks they ride on, against attacks on confidentiality, integrity, and availability — the CIA triad. The reason we dedicate a full module to IoT security is that it differs materially from enterprise IT. Devices are resource-constrained — many cannot run full TLS or antivirus agents. They are physically exposed, often deployed outdoors or in homes where attackers can touch them. They have lifecycles of ten-plus years, far longer than typical phones or servers. And they speak dozens of protocols — Zigbee, LoRa, BLE, MQTT — each with its own threat model. The four statistics on the right show the scale of the problem: 75 billion devices by 2027, more than half vulnerable, million-dollar breach costs, and tens of thousands of new malware samples daily.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IoT security problem decomposes naturally into three layers, each with its own threats and controls. The perception layer is the physical edge — sensors, actuators, RFID tags, and cameras. Threats here include physical tampering, side-channel attacks, and firmware extraction. The network layer carries the data — Wi-Fi, BLE, Zigbee, LoRa, and the messaging protocols that ride on top, like MQTT. Threats here are eavesdropping, replay, man-in-the-middle, and DDoS. The application layer is the cloud, mobile, and analytics tier — and over-the-air firmware, which is often the softest target. The Mirai botnet is the canonical live example: it compromised perception-layer cameras using default Telnet credentials, then used them as a launchpad for a network-layer DDoS against Dyn DNS, which cascaded into application-layer outages at Twitter, Netflix, and Reddit. One attack, three layers.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Systems security is the foundation. If an attacker controls the silicon or the boot path, no application-layer defense can save you. The key idea is a root of trust — a small piece of immutable, cryptographically verifiable code, often burned into ROM at manufacture time, that verifies the next stage before executing it. That next stage verifies the next, and so on — a chain of trust that runs from power-on to a running OS. The four hardware primitives on the right are the building blocks: TPM 2.0 for PCs and servers, ARM TrustZone for SoCs, dedicated secure elements for keys, and HSMs on the cloud side. The Nintendo Switch boot ROM exploit from 2018 is a textbook case — a single unpatchable flaw in the Tegra X1's boot ROM gave attackers permanent control of the device, because the root of trust itself was broken.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of trust is built bottom-up. At the bottom is the silicon — the SoC itself, with hardware isolation features like ARM TrustZone-M or RISC-V PMP. On top of that, a one-time-programmable key hash — typically burned into eFUSE at manufacture — anchors the root of trust. The mask ROM is the first code that runs at power-on, and it is immutable: it cannot be patched even by the vendor. The ROM verifies the bootloader's signature, the bootloader verifies the OS kernel, and the OS verifies application binaries. Each layer checks the next. The right-hand column lists three industrial applications where this matters: smart meters that reject unsigned firmware, medical pumps that won't actuate on unsigned code, and automotive ECUs that resist performance tuning and tampering. Break any link, and everything above it is suspect.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security in IoT is fundamentally about the CIA triad — confidentiality, integrity, and authenticity — applied to data in motion, often under severe resource constraints. Constrained devices cannot always afford full TLS; DTLS gives you datagram-friendly TLS, and protocols like OSCORE or CoAP-over-DTLS compress the overhead. The table on the right summarizes the core protocols you need to know: TLS 1.3 for TCP traffic, DTLS for UDP, IPsec for site-to-site tunnels, IEEE 802.1AR for device identity at the link layer, and 6LoWPAN header compression for IPv6 over low-power radios. The Jeep Cherokee hack of 2015 is the canonical network-security failure: an unauthenticated D-Bus service running inside the infotainment unit was reachable over Sprint's cellular network, and from there the attackers bridged to the internal CAN bus — remotely engaging the brakes on a moving vehicle. The lesson: every network-facing service must authenticate, even internal 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defense in IoT is best visualized as a pipeline. Data flows from the device — the most constrained, least trusted node — through a gateway that aggregates traffic and provides mutual TLS, through an intrusion-detection layer that flags anomalies, past a stateful firewall that filters by protocol and rate, and finally to a cloud backend that requires mTLS and OAuth. The key principle is defense in depth: no single control is sufficient, and each hop adds a layer. The bottom strip shows three real deployments: smart-grid AMI uses 802.1AR identity and DTLS; connected vehicles run TLS to the OEM cloud and IPS in the head unit; industrial IoT uses IPsec tunnels and a DMZ to isolate OT from IT. The same five-stage pattern recurs across domains — only the protocols change.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application security is the layer of defenses that sit inside your application logic — independent of the device, network, or OS underneath. These six controls are the minimum bar: authentication must be mutual and certificate-based, never hardcoded passwords; authorization uses per-device RBAC with least privilege; input validation rejects malformed JSON and bounds untrusted sizes; cryptography uses AES-256-GCM at rest and TLS 1.3 in transit, with HKDF for any key derivation; secure update means signed firmware with rollback protection, ideally A/B partitions; and logging must be tamper-evident, fed to a SIEM, and trigger alerts on anomalies. The 2021 Verkada breach shows what happens when authentication fails: a single hardcoded super-admin credential gave attackers access to 150,000 live cameras in hospitals, jails, and Tesla factories. Six controls — every one must hold.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security stack is built like a pyramid. At the base is logging and audit — your ability to see what happened after the fact. Above that, secure update — because the OTA channel is the single most common way attackers get code execution onto devices. Above that, input and API validation — the front door attackers probe. Above that, cryptography — encrypting data at rest and in transit. At the top, identity and access — the gatekeeper. Stuxnet is the canonical example: the worm forged driver signatures on Siemens WinCC software, effectively bypassing the update layer (Layer 2) on S7-300 PLCs. Once inside, it modified the centrifuge control logic and destroyed about 1,000 centrifuges at the Natanz enrichment facility. Any one layer can be bypassed — which is exactly why defense in depth matters.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security is the intersection of cybersecurity and functional safety. A device can be perfectly secure against remote attackers and still kill someone if its safety logic fails. The SIL framework — Safety Integrity Level, defined in IEC 61508 — quantifies how reliable a safety function must be, expressed as Probability of Failure on Demand (PFD). SIL 1 tolerates a 1-in-10 chance per demand; SIL 4 tolerates 1-in-10,000. The right column shows real applications: nuclear and aviation need SIL 4; railway signalling and refineries need SIL 3; industrial boilers and escalators are SIL 2; HVAC and lighting are typically SIL 1. The Therac-25 case from 1986 is the textbook disaster: developers removed hardware interlocks, trusting software alone. A race condition caused the electron beam to deliver 100× the intended dose — killing six patients. Software-only safety is never enough. Always add a hardware interlock.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IEC 61508 safety lifecycle is the gold standard for any safety-critical IoT system. It begins with hazard identification — a HAZOP or FMEA workshop where engineers systematically walk through every operating mode and ask what could go wrong. Step two is risk assessment: scoring each hazard on a risk matrix and asking whether the residual risk is ALARP — As Low As Reasonably Practicable. Step three allocates SIL levels to each Safety Instrumented Function. Step four is design: choosing sensors, the logic solver, and the final actuator. Step five is validation — Factory Acceptance Test, Site Acceptance Test, and periodic proof testing. Step six is operation: ongoing maintenance, audit, and eventual decommissioning. The dashed feedback loop is essential: every incident, every firmware update, every new threat should trigger re-evaluation. Without that loop, the safety case drifts out of sync with reality.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Secure-by-design is the philosophy that security and reliability must be architectural properties — baked in from day one, not bolted on after a breach. The seven principles on this slide are the operating contract. Threat-model before you write code, using STRIDE or DREAD. Apply least privilege — every component, device, and user gets the minimum access needed. Layer your defenses so that no single failure is catastrophic. Ship secure defaults — deny-by-default, opt-in for any risky feature. Verify, don't trust — validate at every boundary, even internal ones. Maintain a Software Bill of Materials so you know what's in your firmware when a Log4Shell-style vulnerability drops. And make everything auditable: tamper-evident logs, reproducible builds, signed artifacts. The three chips at the bottom tell the economic story: a defect costs a dollar at design time, thirty at test, and over a thousand in production. Shift left.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secure-by-design lifecycle turns the seven principles into operational practice. We move left-to-right through seven stages, each with its own security activity. We start with threat modeling — using STRIDE to enumerate spoofing, tampering, repudiation, information disclosure, denial of service, and elevation of privilege. We capture security requirements as NFRs and verify them against compliance regimes like GDPR. We design the architecture with explicit trust boundaries — every boundary is a place where we validate. We implement with secure coding standards, mandatory code review, and static analysis (SAST). We test with dynamic analysis (DAST), fuzzing, and external pen tests. We deploy only signed images, scanned Infrastructure-as-Code. And we operate with runtime IDS, patching, and audit. The feedback loop is critical: every runtime incident feeds the next threat model. The bottom strip shows three real deployments — Google Nest, Tesla, and Medtronic — each implementing this lifecycle.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monitoring is the eyes and ears of a security program. Static analysis catches known-bad signatures before code ships; runtime monitoring catches everything else — zero-days, insider threats, the unknown unknowns. The two main flavors are HIDS, host-based, watching files, processes, and syscalls, and NIDS, network-based, watching packets and flows. Modern systems layer ML-based anomaly detection on top, learning the normal baseline of telemetry and flagging deviations beyond three sigma or what an autoencoder can reconstruct. eBPF traces syscalls at kernel level with near-zero overhead. But detection alone is worthless without response — the 2013 Target breach is the painful lesson: their FireEye IDS detected the malware and alerted correctly, but the security team, drowning in false positives, ignored the alerts. Forty million credit cards were stolen because alerts were ignored, not because detection failed. Alerts must be actionable, tuned, and owned.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monitoring is a closed loop. Stage one is sensing — syscall audit logs on hosts, packet captures on the network, file-integrity monitors on critical binaries. Stage two is collection — an edge agent ships data to a pub-sub bus, landing it in a time-series database. Stage three is analysis: a rule engine matches known-bad patterns, an ML model scores deviations, a threat-intel feed correlates with IOCs observed elsewhere. Stage four is decision — risk-scoring the alert, routing it to the right team, matching against a playbook. Stage five is action: isolate the device, revoke its certificate, push a signed patch. The dashed feedback loop is critical: after every incident, the analysis models are retrained and the rules refined. The bottom strip shows three live deployments — smart-grid PMU sensing detects False Data Injection attacks; connected vehicles stream CAN-bus anomalies; hospital IoT fingerprints infusion pumps and flags protocol deviations.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ARMET — the name encodes its purpose: a hardening Approach for Reliable and secure Microcontrollers in IoT by applicaTion. It is a methodology, not a product. The core insight: generic hardening checklists like CIS Benchmarks were written for servers with megabytes of RAM and dedicated security teams — they do not map onto a 32-bit microcontroller with 512K of flash and no full OS. ARMET fixes this with three components. First, threat modeling per application context — a smart lock has a different threat model from a soil sensor, even on identical hardware. Second, a hardening catalog of seven control categories — secure boot, crypto, key storage, network, memory protection, update, logging — each mapped to silicon capabilities. Third, verification — every control produces a CI/CD-testable artifact, so hardening is enforced by build pipeline, not by documentation. The image shows a typical ARMET target: an ESP32-class MCU with on-chip crypto, secure boot, and flash encryption.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ARMET methodology runs as a seven-step pipeline. Step one: inventory — what device, OS, libraries, data flows. Step two: threat model using STRIDE, scoped to the application context — a smart lock cares about relay attacks, a soil sensor about data tampering. Step three: map hardware capabilities — TEE, crypto accelerator, MPU, secure boot. Step four: select controls from the seven-category catalog on the right. Step five: implement — configs, code, key provisioning. Step six: verify in CI — every control produces a testable artifact; if secure boot is supposed to be on, the pipeline must fail when it is off. Step seven: operate — runtime monitoring, and crucially, re-evaluate the threat model after every incident. The bottom example shows a smart-lock vendor deploying ARMET end-to-end: relay attacks in the threat model, ESP32 capabilities drive control selection, CI verifies signatures on every build, runtime monitors door-actuator anomalies. ARMET turns hardening from a checklist into an engineering pipeline.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topic widens the lens beyond security to two interlocking properties: dependability and privacy. Dependability is the umbrella term that encompasses reliability — Mean Time Between Failures; availability — uptime; safety — the absence of physical harm; security — the absence of unauthorized access; and maintainability — the ease of repair. A device can be perfectly secure and yet unreliable; highly available and yet unsafe. Privacy is the additional promise that personal data is collected minimally, used only for stated purposes, encrypted end-to-end, and erasable on request. GDPR has made privacy a regulated expectation, with fines up to twenty million euros or four percent of global revenue — whichever is higher. The image of the hardened padlock captures the philosophy: privacy is a hardening outcome, and the chain is only as strong as the weakest link. The classic mental model is the fault-error-failure chain — dependability engineering breaks that chain before the failure.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dependability tree shows how attacks become harm — and where controls intervene. The cascade starts with a fault, which can be a software bug, an attack, or a hardware defect. The fault produces an error — an incorrect internal state — which propagates to a failure, where the service deviates from its specification, which can become a hazard, exposing a user to physical harm. Each arrow is where a control breaks the chain. Fault prevention — secure coding standards, secure boot, signed updates — stops faults from entering the system. Error detection — MPU isolation, runtime IDS, canaries — catches errors before they become failures. Fail-safe design — hardware interlocks, redundant sensors, graceful degradation — ensures the device fails safe. Below the cascade, the five dependability attributes form the engineering checklist. A medical device must satisfy all five; a consumer wearable can trade off safety integrity against cost — but the trade-off must be explicit, documented, and reviewed.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IoT security is not a single technology but a layered, lifecycle discipline. The nine concepts we covered form three clusters. The foundation — introduction, systems security, network security — establishes the layered architecture, the hardware root of trust, and the network defenses that everything else depends on. The application cluster — generic application security, process safety, secure-by-design — covers the six application-layer controls, the IEC 61508 safety lifecycle, and the shift-left philosophy. The operation cluster — runtime monitoring, ARMET, and privacy/dependability — covers how you watch the running system, how you systematically harden microcontrollers, and the dependability and privacy promises you keep with your users. The closing line says it all: build it in, verify it holds, watch it run, patch it before the attacker does. Four verbs, one practice. Thank you.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C"/>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AFBFC"/>
          </a:solidFill>
          <a:ln/>
        </p:spPr>
        <p:txBody>
          <a:bodyPr wrap="square" rtlCol="0" anchor="ctr"/>
          <a:lstStyle/>
          <a:p>
            <a:pPr marL="0" indent="0">
              <a:buNone/>
            </a:pPr>
            <a:endParaRPr lang="en-US" dirty="0"/>
          </a:p>
        </p:txBody>
      </p:sp>
      <p:pic>
        <p:nvPicPr>
          <p:cNvPr id="3" name="Image 0" descr="preencoded.png"/>
          <p:cNvPicPr>
            <a:picLocks noChangeAspect="1"/>
          </p:cNvPicPr>
          <p:nvPr/>
        </p:nvPicPr>
        <p:blipFill>
          <a:blip r:embed="rId3"/>
          <a:stretch>
            <a:fillRect/>
          </a:stretch>
        </p:blipFill>
        <p:spPr>
          <a:xfrm>
            <a:off x="0" y="0"/>
            <a:ext cx="9144000" cy="28575"/>
          </a:xfrm>
          <a:prstGeom prst="rect">
            <a:avLst/>
          </a:prstGeom>
        </p:spPr>
      </p:pic>
      <p:sp>
        <p:nvSpPr>
          <p:cNvPr id="4" name="Text 1"/>
          <p:cNvSpPr/>
          <p:nvPr/>
        </p:nvSpPr>
        <p:spPr>
          <a:xfrm>
            <a:off x="0" y="0"/>
            <a:ext cx="5486400" cy="5143500"/>
          </a:xfrm>
          <a:prstGeom prst="rect">
            <a:avLst/>
          </a:prstGeom>
          <a:solidFill>
            <a:srgbClr val="FFFFFF"/>
          </a:solidFill>
          <a:ln/>
        </p:spPr>
        <p:txBody>
          <a:bodyPr wrap="square" rtlCol="0" anchor="ctr"/>
          <a:lstStyle/>
          <a:p>
            <a:pPr marL="0" indent="0">
              <a:buNone/>
            </a:pPr>
            <a:endParaRPr lang="en-US" dirty="0"/>
          </a:p>
        </p:txBody>
      </p:sp>
      <p:sp>
        <p:nvSpPr>
          <p:cNvPr id="5" name="Text 2"/>
          <p:cNvSpPr/>
          <p:nvPr/>
        </p:nvSpPr>
        <p:spPr>
          <a:xfrm>
            <a:off x="5061347" y="175022"/>
            <a:ext cx="250031" cy="250031"/>
          </a:xfrm>
          <a:prstGeom prst="rect">
            <a:avLst/>
          </a:prstGeom>
          <a:noFill/>
          <a:ln w="7144">
            <a:solidFill>
              <a:srgbClr val="C9A961"/>
            </a:solidFill>
            <a:prstDash val="solid"/>
          </a:ln>
        </p:spPr>
        <p:txBody>
          <a:bodyPr wrap="square" rtlCol="0" anchor="ctr"/>
          <a:lstStyle/>
          <a:p>
            <a:pPr marL="0" indent="0">
              <a:buNone/>
            </a:pPr>
            <a:endParaRPr lang="en-US" dirty="0"/>
          </a:p>
        </p:txBody>
      </p:sp>
      <p:sp>
        <p:nvSpPr>
          <p:cNvPr id="6" name="Text 3"/>
          <p:cNvSpPr/>
          <p:nvPr/>
        </p:nvSpPr>
        <p:spPr>
          <a:xfrm>
            <a:off x="5093137" y="206812"/>
            <a:ext cx="186452" cy="186452"/>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7" name="Text 4"/>
          <p:cNvSpPr/>
          <p:nvPr/>
        </p:nvSpPr>
        <p:spPr>
          <a:xfrm>
            <a:off x="457200" y="628650"/>
            <a:ext cx="4681728" cy="164592"/>
          </a:xfrm>
          <a:prstGeom prst="rect">
            <a:avLst/>
          </a:prstGeom>
          <a:noFill/>
          <a:ln/>
        </p:spPr>
        <p:txBody>
          <a:bodyPr wrap="square" lIns="0" tIns="0" rIns="0" bIns="0" rtlCol="0" anchor="t"/>
          <a:lstStyle/>
          <a:p>
            <a:pPr marL="0" indent="0" algn="l">
              <a:lnSpc>
                <a:spcPts val="1097"/>
              </a:lnSpc>
              <a:buNone/>
            </a:pPr>
            <a:r>
              <a:rPr lang="en-US" sz="800" kern="0" spc="161" dirty="0">
                <a:solidFill>
                  <a:srgbClr val="C9A961"/>
                </a:solidFill>
                <a:latin typeface="Carlito" pitchFamily="34" charset="0"/>
                <a:ea typeface="Carlito" pitchFamily="34" charset="-122"/>
                <a:cs typeface="Carlito" pitchFamily="34" charset="-120"/>
              </a:rPr>
              <a:t>COURSE NOTES · IOT SECURITY</a:t>
            </a:r>
            <a:endParaRPr lang="en-US" sz="800" dirty="0"/>
          </a:p>
        </p:txBody>
      </p:sp>
      <p:sp>
        <p:nvSpPr>
          <p:cNvPr id="8" name="Text 5"/>
          <p:cNvSpPr/>
          <p:nvPr/>
        </p:nvSpPr>
        <p:spPr>
          <a:xfrm>
            <a:off x="457200" y="1329519"/>
            <a:ext cx="4572000" cy="916427"/>
          </a:xfrm>
          <a:prstGeom prst="rect">
            <a:avLst/>
          </a:prstGeom>
          <a:noFill/>
          <a:ln/>
        </p:spPr>
        <p:txBody>
          <a:bodyPr wrap="none" lIns="0" tIns="0" rIns="0" bIns="0" rtlCol="0" anchor="t"/>
          <a:lstStyle/>
          <a:p>
            <a:pPr marL="0" indent="0" algn="l">
              <a:lnSpc>
                <a:spcPts val="3341"/>
              </a:lnSpc>
              <a:buNone/>
            </a:pPr>
            <a:r>
              <a:rPr lang="en-US" sz="3038" b="1" kern="0" spc="-46">
                <a:solidFill>
                  <a:srgbClr val="0F2A4A"/>
                </a:solidFill>
                <a:latin typeface="Tinos" pitchFamily="34" charset="0"/>
                <a:ea typeface="Tinos" pitchFamily="34" charset="-122"/>
                <a:cs typeface="Tinos" pitchFamily="34" charset="-120"/>
              </a:rPr>
              <a:t>Security and Safety</a:t>
            </a:r>
            <a:endParaRPr lang="en-US" sz="3038" dirty="0"/>
          </a:p>
        </p:txBody>
      </p:sp>
      <p:sp>
        <p:nvSpPr>
          <p:cNvPr id="9" name="Text 6"/>
          <p:cNvSpPr/>
          <p:nvPr/>
        </p:nvSpPr>
        <p:spPr>
          <a:xfrm>
            <a:off x="457200" y="2335225"/>
            <a:ext cx="571500" cy="7144"/>
          </a:xfrm>
          <a:prstGeom prst="rect">
            <a:avLst/>
          </a:prstGeom>
          <a:solidFill>
            <a:srgbClr val="C9A961"/>
          </a:solidFill>
          <a:ln/>
        </p:spPr>
        <p:txBody>
          <a:bodyPr wrap="square" rtlCol="0" anchor="ctr"/>
          <a:lstStyle/>
          <a:p>
            <a:pPr marL="0" indent="0">
              <a:buNone/>
            </a:pPr>
            <a:endParaRPr lang="en-US" dirty="0"/>
          </a:p>
        </p:txBody>
      </p:sp>
      <p:sp>
        <p:nvSpPr>
          <p:cNvPr id="10" name="Text 7"/>
          <p:cNvSpPr/>
          <p:nvPr/>
        </p:nvSpPr>
        <p:spPr>
          <a:xfrm>
            <a:off x="457200" y="2499531"/>
            <a:ext cx="4572000" cy="432054"/>
          </a:xfrm>
          <a:prstGeom prst="rect">
            <a:avLst/>
          </a:prstGeom>
          <a:noFill/>
          <a:ln/>
        </p:spPr>
        <p:txBody>
          <a:bodyPr wrap="square" lIns="0" tIns="0" rIns="0" bIns="0" rtlCol="0" anchor="t"/>
          <a:lstStyle/>
          <a:p>
            <a:pPr marL="0" indent="0" algn="l">
              <a:lnSpc>
                <a:spcPts val="1575"/>
              </a:lnSpc>
              <a:buNone/>
            </a:pPr>
            <a:r>
              <a:rPr lang="en-US" sz="1125" dirty="0">
                <a:solidFill>
                  <a:srgbClr val="4A5568"/>
                </a:solidFill>
                <a:latin typeface="Carlito" pitchFamily="34" charset="0"/>
                <a:ea typeface="Carlito" pitchFamily="34" charset="-122"/>
                <a:cs typeface="Carlito" pitchFamily="34" charset="-120"/>
              </a:rPr>
              <a:t>Systems · Network · Application Security</a:t>
            </a:r>
            <a:endParaRPr lang="en-US" sz="1125" dirty="0"/>
          </a:p>
          <a:p>
            <a:pPr marL="0" indent="0" algn="l">
              <a:lnSpc>
                <a:spcPts val="1575"/>
              </a:lnSpc>
              <a:buNone/>
            </a:pPr>
            <a:r>
              <a:rPr lang="en-US" sz="1125" dirty="0">
                <a:solidFill>
                  <a:srgbClr val="4A5568"/>
                </a:solidFill>
                <a:latin typeface="Carlito" pitchFamily="34" charset="0"/>
                <a:ea typeface="Carlito" pitchFamily="34" charset="-122"/>
                <a:cs typeface="Carlito" pitchFamily="34" charset="-120"/>
              </a:rPr>
              <a:t>with the ARMET Approach</a:t>
            </a:r>
            <a:endParaRPr lang="en-US" sz="1125" dirty="0"/>
          </a:p>
        </p:txBody>
      </p:sp>
      <p:sp>
        <p:nvSpPr>
          <p:cNvPr id="11" name="Shape 8"/>
          <p:cNvSpPr/>
          <p:nvPr/>
        </p:nvSpPr>
        <p:spPr>
          <a:xfrm>
            <a:off x="457200" y="3435362"/>
            <a:ext cx="4572000" cy="0"/>
          </a:xfrm>
          <a:prstGeom prst="line">
            <a:avLst/>
          </a:prstGeom>
          <a:noFill/>
          <a:ln w="7144">
            <a:solidFill>
              <a:srgbClr val="E5E9EE"/>
            </a:solidFill>
            <a:prstDash val="solid"/>
          </a:ln>
        </p:spPr>
      </p:sp>
      <p:sp>
        <p:nvSpPr>
          <p:cNvPr id="12" name="Text 9"/>
          <p:cNvSpPr/>
          <p:nvPr/>
        </p:nvSpPr>
        <p:spPr>
          <a:xfrm>
            <a:off x="457200" y="3242481"/>
            <a:ext cx="1318011" cy="132159"/>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AUDIENCE</a:t>
            </a:r>
            <a:endParaRPr lang="en-US" sz="800" dirty="0"/>
          </a:p>
        </p:txBody>
      </p:sp>
      <p:sp>
        <p:nvSpPr>
          <p:cNvPr id="13" name="Text 10"/>
          <p:cNvSpPr/>
          <p:nvPr/>
        </p:nvSpPr>
        <p:spPr>
          <a:xfrm>
            <a:off x="1385888" y="3213906"/>
            <a:ext cx="3753041" cy="160734"/>
          </a:xfrm>
          <a:prstGeom prst="rect">
            <a:avLst/>
          </a:prstGeom>
          <a:noFill/>
          <a:ln/>
        </p:spPr>
        <p:txBody>
          <a:bodyPr wrap="square" lIns="0" tIns="0" rIns="0" bIns="0" rtlCol="0" anchor="t"/>
          <a:lstStyle/>
          <a:p>
            <a:pPr marL="0" indent="0" algn="l">
              <a:lnSpc>
                <a:spcPts val="1266"/>
              </a:lnSpc>
              <a:buNone/>
            </a:pPr>
            <a:r>
              <a:rPr lang="en-US" sz="844" dirty="0">
                <a:solidFill>
                  <a:srgbClr val="0F2A4A"/>
                </a:solidFill>
                <a:latin typeface="Carlito" pitchFamily="34" charset="0"/>
                <a:ea typeface="Carlito" pitchFamily="34" charset="-122"/>
                <a:cs typeface="Carlito" pitchFamily="34" charset="-120"/>
              </a:rPr>
              <a:t>Computer Science / IT Students</a:t>
            </a:r>
            <a:endParaRPr lang="en-US" sz="844" dirty="0"/>
          </a:p>
        </p:txBody>
      </p:sp>
      <p:sp>
        <p:nvSpPr>
          <p:cNvPr id="14" name="Shape 11"/>
          <p:cNvSpPr/>
          <p:nvPr/>
        </p:nvSpPr>
        <p:spPr>
          <a:xfrm>
            <a:off x="457200" y="3717541"/>
            <a:ext cx="4572000" cy="0"/>
          </a:xfrm>
          <a:prstGeom prst="line">
            <a:avLst/>
          </a:prstGeom>
          <a:noFill/>
          <a:ln w="7144">
            <a:solidFill>
              <a:srgbClr val="E5E9EE"/>
            </a:solidFill>
            <a:prstDash val="solid"/>
          </a:ln>
        </p:spPr>
      </p:sp>
      <p:sp>
        <p:nvSpPr>
          <p:cNvPr id="15" name="Text 12"/>
          <p:cNvSpPr/>
          <p:nvPr/>
        </p:nvSpPr>
        <p:spPr>
          <a:xfrm>
            <a:off x="457200" y="3524659"/>
            <a:ext cx="1318011" cy="132159"/>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MODULES</a:t>
            </a:r>
            <a:endParaRPr lang="en-US" sz="800" dirty="0"/>
          </a:p>
        </p:txBody>
      </p:sp>
      <p:sp>
        <p:nvSpPr>
          <p:cNvPr id="16" name="Text 13"/>
          <p:cNvSpPr/>
          <p:nvPr/>
        </p:nvSpPr>
        <p:spPr>
          <a:xfrm>
            <a:off x="1385888" y="3496084"/>
            <a:ext cx="3753041" cy="160734"/>
          </a:xfrm>
          <a:prstGeom prst="rect">
            <a:avLst/>
          </a:prstGeom>
          <a:noFill/>
          <a:ln/>
        </p:spPr>
        <p:txBody>
          <a:bodyPr wrap="square" lIns="0" tIns="0" rIns="0" bIns="0" rtlCol="0" anchor="t"/>
          <a:lstStyle/>
          <a:p>
            <a:pPr marL="0" indent="0" algn="l">
              <a:lnSpc>
                <a:spcPts val="1266"/>
              </a:lnSpc>
              <a:buNone/>
            </a:pPr>
            <a:r>
              <a:rPr lang="en-US" sz="844" dirty="0">
                <a:solidFill>
                  <a:srgbClr val="0F2A4A"/>
                </a:solidFill>
                <a:latin typeface="Liberation Sans Narrow" pitchFamily="34" charset="0"/>
                <a:ea typeface="Liberation Sans Narrow" pitchFamily="34" charset="-122"/>
                <a:cs typeface="Liberation Sans Narrow" pitchFamily="34" charset="-120"/>
              </a:rPr>
              <a:t>9 Concept Topics with Block Diagrams</a:t>
            </a:r>
            <a:endParaRPr lang="en-US" sz="844" dirty="0"/>
          </a:p>
        </p:txBody>
      </p:sp>
      <p:sp>
        <p:nvSpPr>
          <p:cNvPr id="17" name="Text 14"/>
          <p:cNvSpPr/>
          <p:nvPr/>
        </p:nvSpPr>
        <p:spPr>
          <a:xfrm>
            <a:off x="457200" y="3806837"/>
            <a:ext cx="1318011"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DURATION</a:t>
            </a:r>
            <a:endParaRPr lang="en-US" sz="800" dirty="0"/>
          </a:p>
        </p:txBody>
      </p:sp>
      <p:sp>
        <p:nvSpPr>
          <p:cNvPr id="18" name="Text 15"/>
          <p:cNvSpPr/>
          <p:nvPr/>
        </p:nvSpPr>
        <p:spPr>
          <a:xfrm>
            <a:off x="1385888" y="3778262"/>
            <a:ext cx="3643313" cy="173593"/>
          </a:xfrm>
          <a:prstGeom prst="rect">
            <a:avLst/>
          </a:prstGeom>
          <a:noFill/>
          <a:ln/>
        </p:spPr>
        <p:txBody>
          <a:bodyPr wrap="none" lIns="0" tIns="0" rIns="0" bIns="0" rtlCol="0" anchor="t"/>
          <a:lstStyle/>
          <a:p>
            <a:pPr marL="0" indent="0" algn="l">
              <a:lnSpc>
                <a:spcPts val="1266"/>
              </a:lnSpc>
              <a:buNone/>
            </a:pPr>
            <a:r>
              <a:rPr lang="en-US" sz="844" dirty="0">
                <a:solidFill>
                  <a:srgbClr val="0F2A4A"/>
                </a:solidFill>
                <a:latin typeface="Liberation Sans Narrow" pitchFamily="34" charset="0"/>
                <a:ea typeface="Liberation Sans Narrow" pitchFamily="34" charset="-122"/>
                <a:cs typeface="Liberation Sans Narrow" pitchFamily="34" charset="-120"/>
              </a:rPr>
              <a:t>~45 min Lecture</a:t>
            </a:r>
            <a:endParaRPr lang="en-US" sz="844" dirty="0"/>
          </a:p>
        </p:txBody>
      </p:sp>
      <p:sp>
        <p:nvSpPr>
          <p:cNvPr id="19" name="Text 16"/>
          <p:cNvSpPr/>
          <p:nvPr/>
        </p:nvSpPr>
        <p:spPr>
          <a:xfrm>
            <a:off x="457200" y="4557713"/>
            <a:ext cx="4183559" cy="128588"/>
          </a:xfrm>
          <a:prstGeom prst="rect">
            <a:avLst/>
          </a:prstGeom>
          <a:noFill/>
          <a:ln/>
        </p:spPr>
        <p:txBody>
          <a:bodyPr wrap="none" lIns="0" tIns="0" rIns="0" bIns="0" rtlCol="0" anchor="t"/>
          <a:lstStyle/>
          <a:p>
            <a:pPr marL="0" indent="0" algn="l">
              <a:lnSpc>
                <a:spcPts val="1013"/>
              </a:lnSpc>
              <a:buNone/>
            </a:pPr>
            <a:r>
              <a:rPr lang="en-US" sz="800" kern="0" spc="122" dirty="0">
                <a:solidFill>
                  <a:srgbClr val="6B7280"/>
                </a:solidFill>
                <a:latin typeface="Liberation Sans Narrow" pitchFamily="34" charset="0"/>
                <a:ea typeface="Liberation Sans Narrow" pitchFamily="34" charset="-122"/>
                <a:cs typeface="Liberation Sans Narrow" pitchFamily="34" charset="-120"/>
              </a:rPr>
              <a:t>IoT-SEC · 2026</a:t>
            </a:r>
            <a:endParaRPr lang="en-US" sz="800" dirty="0"/>
          </a:p>
        </p:txBody>
      </p:sp>
      <p:sp>
        <p:nvSpPr>
          <p:cNvPr id="20" name="Text 17"/>
          <p:cNvSpPr/>
          <p:nvPr/>
        </p:nvSpPr>
        <p:spPr>
          <a:xfrm>
            <a:off x="4650801" y="4563070"/>
            <a:ext cx="382644" cy="123230"/>
          </a:xfrm>
          <a:prstGeom prst="rect">
            <a:avLst/>
          </a:prstGeom>
          <a:noFill/>
          <a:ln/>
        </p:spPr>
        <p:txBody>
          <a:bodyPr wrap="none" lIns="0" tIns="0" rIns="0" bIns="0" rtlCol="0" anchor="t"/>
          <a:lstStyle/>
          <a:p>
            <a:pPr marL="0" indent="0" algn="l">
              <a:lnSpc>
                <a:spcPts val="928"/>
              </a:lnSpc>
              <a:buNone/>
            </a:pPr>
            <a:r>
              <a:rPr lang="en-US" sz="619" kern="0" spc="111" dirty="0">
                <a:solidFill>
                  <a:srgbClr val="6B7280"/>
                </a:solidFill>
                <a:latin typeface="Liberation Sans Narrow" pitchFamily="34" charset="0"/>
                <a:ea typeface="Liberation Sans Narrow" pitchFamily="34" charset="-122"/>
                <a:cs typeface="Liberation Sans Narrow" pitchFamily="34" charset="-120"/>
              </a:rPr>
              <a:t>VOL. 01</a:t>
            </a:r>
            <a:endParaRPr lang="en-US" sz="619" dirty="0"/>
          </a:p>
        </p:txBody>
      </p:sp>
      <p:pic>
        <p:nvPicPr>
          <p:cNvPr id="21" name="Image 1" descr="/tmp/h2p-fit-1790255545246-weaome.png"/>
          <p:cNvPicPr>
            <a:picLocks noChangeAspect="1"/>
          </p:cNvPicPr>
          <p:nvPr/>
        </p:nvPicPr>
        <p:blipFill>
          <a:blip r:embed="rId4"/>
          <a:stretch>
            <a:fillRect/>
          </a:stretch>
        </p:blipFill>
        <p:spPr>
          <a:xfrm>
            <a:off x="5486400" y="0"/>
            <a:ext cx="3657600" cy="5143500"/>
          </a:xfrm>
          <a:prstGeom prst="rect">
            <a:avLst/>
          </a:prstGeom>
        </p:spPr>
      </p:pic>
      <p:pic>
        <p:nvPicPr>
          <p:cNvPr id="22" name="Image 2" descr="preencoded.png"/>
          <p:cNvPicPr>
            <a:picLocks noChangeAspect="1"/>
          </p:cNvPicPr>
          <p:nvPr/>
        </p:nvPicPr>
        <p:blipFill>
          <a:blip r:embed="rId5"/>
          <a:stretch>
            <a:fillRect/>
          </a:stretch>
        </p:blipFill>
        <p:spPr>
          <a:xfrm>
            <a:off x="5486400" y="0"/>
            <a:ext cx="36576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357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87536"/>
            <a:ext cx="940908" cy="164592"/>
          </a:xfrm>
          <a:prstGeom prst="rect">
            <a:avLst/>
          </a:prstGeom>
          <a:noFill/>
          <a:ln/>
        </p:spPr>
        <p:txBody>
          <a:bodyPr wrap="none" lIns="0" tIns="0" rIns="0" bIns="0" rtlCol="0" anchor="t"/>
          <a:lstStyle/>
          <a:p>
            <a:pPr marL="0" indent="0" algn="l">
              <a:lnSpc>
                <a:spcPts val="1097"/>
              </a:lnSpc>
              <a:buNone/>
            </a:pPr>
            <a:r>
              <a:rPr lang="en-US" sz="800" kern="0" spc="110" dirty="0">
                <a:solidFill>
                  <a:srgbClr val="C9A961"/>
                </a:solidFill>
                <a:latin typeface="Carlito" pitchFamily="34" charset="0"/>
                <a:ea typeface="Carlito" pitchFamily="34" charset="-122"/>
                <a:cs typeface="Carlito" pitchFamily="34" charset="-120"/>
              </a:rPr>
              <a:t>AGENDA</a:t>
            </a:r>
            <a:endParaRPr lang="en-US" sz="800" dirty="0"/>
          </a:p>
        </p:txBody>
      </p:sp>
      <p:sp>
        <p:nvSpPr>
          <p:cNvPr id="5" name="Text 2"/>
          <p:cNvSpPr/>
          <p:nvPr/>
        </p:nvSpPr>
        <p:spPr>
          <a:xfrm>
            <a:off x="457200" y="485775"/>
            <a:ext cx="4512897" cy="314017"/>
          </a:xfrm>
          <a:prstGeom prst="rect">
            <a:avLst/>
          </a:prstGeom>
          <a:noFill/>
          <a:ln/>
        </p:spPr>
        <p:txBody>
          <a:bodyPr wrap="square" lIns="0" tIns="0" rIns="0" bIns="0" rtlCol="0" anchor="t">
            <a:normAutofit/>
          </a:bodyPr>
          <a:lstStyle/>
          <a:p>
            <a:pPr marL="0" indent="0" algn="l">
              <a:lnSpc>
                <a:spcPts val="2351"/>
              </a:lnSpc>
              <a:buNone/>
            </a:pPr>
            <a:r>
              <a:rPr lang="en-US" sz="2138" b="1" kern="0" spc="-32" dirty="0">
                <a:solidFill>
                  <a:srgbClr val="0F2A4A"/>
                </a:solidFill>
                <a:latin typeface="Tinos" pitchFamily="34" charset="0"/>
                <a:ea typeface="Tinos" pitchFamily="34" charset="-122"/>
                <a:cs typeface="Tinos" pitchFamily="34" charset="-120"/>
              </a:rPr>
              <a:t>Nine Concepts, One Secure Stack</a:t>
            </a:r>
            <a:endParaRPr lang="en-US" sz="2138" dirty="0"/>
          </a:p>
        </p:txBody>
      </p:sp>
      <p:sp>
        <p:nvSpPr>
          <p:cNvPr id="6" name="Text 3"/>
          <p:cNvSpPr/>
          <p:nvPr/>
        </p:nvSpPr>
        <p:spPr>
          <a:xfrm>
            <a:off x="457200" y="827224"/>
            <a:ext cx="4102633" cy="164592"/>
          </a:xfrm>
          <a:prstGeom prst="rect">
            <a:avLst/>
          </a:prstGeom>
          <a:noFill/>
          <a:ln/>
        </p:spPr>
        <p:txBody>
          <a:bodyPr wrap="square" lIns="0" tIns="0" rIns="0" bIns="0" rtlCol="0" anchor="t"/>
          <a:lstStyle/>
          <a:p>
            <a:pPr marL="0" indent="0" algn="l">
              <a:lnSpc>
                <a:spcPts val="1181"/>
              </a:lnSpc>
              <a:buNone/>
            </a:pPr>
            <a:r>
              <a:rPr lang="en-US" sz="788" dirty="0">
                <a:solidFill>
                  <a:srgbClr val="4A5568"/>
                </a:solidFill>
                <a:latin typeface="Carlito" pitchFamily="34" charset="0"/>
                <a:ea typeface="Carlito" pitchFamily="34" charset="-122"/>
                <a:cs typeface="Carlito" pitchFamily="34" charset="-120"/>
              </a:rPr>
              <a:t>Each topic pairs a concept slide with a block diagram, examples, and real-world applications.</a:t>
            </a:r>
            <a:endParaRPr lang="en-US" sz="788" dirty="0"/>
          </a:p>
        </p:txBody>
      </p:sp>
      <p:sp>
        <p:nvSpPr>
          <p:cNvPr id="7" name="Text 4"/>
          <p:cNvSpPr/>
          <p:nvPr/>
        </p:nvSpPr>
        <p:spPr>
          <a:xfrm>
            <a:off x="7962441" y="609340"/>
            <a:ext cx="751291" cy="104727"/>
          </a:xfrm>
          <a:prstGeom prst="rect">
            <a:avLst/>
          </a:prstGeom>
          <a:noFill/>
          <a:ln/>
        </p:spPr>
        <p:txBody>
          <a:bodyPr wrap="none" lIns="0" tIns="0" rIns="0" bIns="0" rtlCol="0" anchor="t">
            <a:normAutofit/>
          </a:bodyPr>
          <a:lstStyle/>
          <a:p>
            <a:pPr marL="0" indent="0" algn="r">
              <a:lnSpc>
                <a:spcPts val="928"/>
              </a:lnSpc>
              <a:buNone/>
            </a:pPr>
            <a:r>
              <a:rPr lang="en-US" sz="800" kern="0" spc="93" dirty="0">
                <a:solidFill>
                  <a:srgbClr val="6B7280"/>
                </a:solidFill>
                <a:latin typeface="Liberation Sans Narrow" pitchFamily="34" charset="0"/>
                <a:ea typeface="Liberation Sans Narrow" pitchFamily="34" charset="-122"/>
                <a:cs typeface="Liberation Sans Narrow" pitchFamily="34" charset="-120"/>
              </a:rPr>
              <a:t>DECK · 2026</a:t>
            </a:r>
            <a:endParaRPr lang="en-US" sz="800" dirty="0"/>
          </a:p>
        </p:txBody>
      </p:sp>
      <p:sp>
        <p:nvSpPr>
          <p:cNvPr id="8" name="Text 5"/>
          <p:cNvSpPr/>
          <p:nvPr/>
        </p:nvSpPr>
        <p:spPr>
          <a:xfrm>
            <a:off x="7820442" y="741499"/>
            <a:ext cx="866358" cy="254603"/>
          </a:xfrm>
          <a:prstGeom prst="rect">
            <a:avLst/>
          </a:prstGeom>
          <a:noFill/>
          <a:ln/>
        </p:spPr>
        <p:txBody>
          <a:bodyPr wrap="none" lIns="0" tIns="0" rIns="0" bIns="0" rtlCol="0" anchor="t"/>
          <a:lstStyle/>
          <a:p>
            <a:pPr marL="0" indent="0" algn="r">
              <a:lnSpc>
                <a:spcPts val="1856"/>
              </a:lnSpc>
              <a:buNone/>
            </a:pPr>
            <a:r>
              <a:rPr lang="en-US" sz="1238" kern="0" spc="50" dirty="0">
                <a:solidFill>
                  <a:srgbClr val="C9A961"/>
                </a:solidFill>
                <a:latin typeface="Liberation Sans Narrow" pitchFamily="34" charset="0"/>
                <a:ea typeface="Liberation Sans Narrow" pitchFamily="34" charset="-122"/>
                <a:cs typeface="Liberation Sans Narrow" pitchFamily="34" charset="-120"/>
              </a:rPr>
              <a:t>9 / 9</a:t>
            </a:r>
            <a:endParaRPr lang="en-US" sz="1238" dirty="0"/>
          </a:p>
        </p:txBody>
      </p:sp>
      <p:sp>
        <p:nvSpPr>
          <p:cNvPr id="9" name="Text 6"/>
          <p:cNvSpPr/>
          <p:nvPr/>
        </p:nvSpPr>
        <p:spPr>
          <a:xfrm>
            <a:off x="457200" y="1134405"/>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10" name="Shape 7"/>
          <p:cNvSpPr/>
          <p:nvPr/>
        </p:nvSpPr>
        <p:spPr>
          <a:xfrm>
            <a:off x="457200" y="1137977"/>
            <a:ext cx="4050506" cy="0"/>
          </a:xfrm>
          <a:prstGeom prst="line">
            <a:avLst/>
          </a:prstGeom>
          <a:noFill/>
          <a:ln w="7144">
            <a:solidFill>
              <a:srgbClr val="D8DEE6"/>
            </a:solidFill>
            <a:prstDash val="solid"/>
          </a:ln>
        </p:spPr>
      </p:sp>
      <p:sp>
        <p:nvSpPr>
          <p:cNvPr id="11" name="Shape 8"/>
          <p:cNvSpPr/>
          <p:nvPr/>
        </p:nvSpPr>
        <p:spPr>
          <a:xfrm>
            <a:off x="4504134" y="1134405"/>
            <a:ext cx="0" cy="455749"/>
          </a:xfrm>
          <a:prstGeom prst="line">
            <a:avLst/>
          </a:prstGeom>
          <a:noFill/>
          <a:ln w="7144">
            <a:solidFill>
              <a:srgbClr val="D8DEE6"/>
            </a:solidFill>
            <a:prstDash val="solid"/>
          </a:ln>
        </p:spPr>
      </p:sp>
      <p:sp>
        <p:nvSpPr>
          <p:cNvPr id="12" name="Shape 9"/>
          <p:cNvSpPr/>
          <p:nvPr/>
        </p:nvSpPr>
        <p:spPr>
          <a:xfrm>
            <a:off x="457200" y="1586582"/>
            <a:ext cx="4050506" cy="0"/>
          </a:xfrm>
          <a:prstGeom prst="line">
            <a:avLst/>
          </a:prstGeom>
          <a:noFill/>
          <a:ln w="7144">
            <a:solidFill>
              <a:srgbClr val="D8DEE6"/>
            </a:solidFill>
            <a:prstDash val="solid"/>
          </a:ln>
        </p:spPr>
      </p:sp>
      <p:sp>
        <p:nvSpPr>
          <p:cNvPr id="13" name="Shape 10"/>
          <p:cNvSpPr/>
          <p:nvPr/>
        </p:nvSpPr>
        <p:spPr>
          <a:xfrm>
            <a:off x="467916" y="1134405"/>
            <a:ext cx="0" cy="455749"/>
          </a:xfrm>
          <a:prstGeom prst="line">
            <a:avLst/>
          </a:prstGeom>
          <a:noFill/>
          <a:ln w="21431">
            <a:solidFill>
              <a:srgbClr val="C9A961"/>
            </a:solidFill>
            <a:prstDash val="solid"/>
          </a:ln>
        </p:spPr>
      </p:sp>
      <p:sp>
        <p:nvSpPr>
          <p:cNvPr id="14" name="Text 11"/>
          <p:cNvSpPr/>
          <p:nvPr/>
        </p:nvSpPr>
        <p:spPr>
          <a:xfrm>
            <a:off x="607219" y="1227274"/>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01</a:t>
            </a:r>
            <a:endParaRPr lang="en-US" sz="800" dirty="0"/>
          </a:p>
        </p:txBody>
      </p:sp>
      <p:sp>
        <p:nvSpPr>
          <p:cNvPr id="15" name="Text 12"/>
          <p:cNvSpPr/>
          <p:nvPr/>
        </p:nvSpPr>
        <p:spPr>
          <a:xfrm>
            <a:off x="978694" y="1227274"/>
            <a:ext cx="3393281" cy="122587"/>
          </a:xfrm>
          <a:prstGeom prst="rect">
            <a:avLst/>
          </a:prstGeom>
          <a:noFill/>
          <a:ln/>
        </p:spPr>
        <p:txBody>
          <a:bodyPr wrap="non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Introduction</a:t>
            </a:r>
            <a:endParaRPr lang="en-US" sz="844" dirty="0"/>
          </a:p>
        </p:txBody>
      </p:sp>
      <p:sp>
        <p:nvSpPr>
          <p:cNvPr id="16" name="Text 13"/>
          <p:cNvSpPr/>
          <p:nvPr/>
        </p:nvSpPr>
        <p:spPr>
          <a:xfrm>
            <a:off x="978694" y="1377293"/>
            <a:ext cx="3393281"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Why IoT security matters: scale, threats, layered defense</a:t>
            </a:r>
            <a:endParaRPr lang="en-US" sz="800" dirty="0"/>
          </a:p>
        </p:txBody>
      </p:sp>
      <p:sp>
        <p:nvSpPr>
          <p:cNvPr id="17" name="Text 14"/>
          <p:cNvSpPr/>
          <p:nvPr/>
        </p:nvSpPr>
        <p:spPr>
          <a:xfrm>
            <a:off x="4636294" y="1134405"/>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18" name="Shape 15"/>
          <p:cNvSpPr/>
          <p:nvPr/>
        </p:nvSpPr>
        <p:spPr>
          <a:xfrm>
            <a:off x="4636294" y="1137977"/>
            <a:ext cx="4050506" cy="0"/>
          </a:xfrm>
          <a:prstGeom prst="line">
            <a:avLst/>
          </a:prstGeom>
          <a:noFill/>
          <a:ln w="7144">
            <a:solidFill>
              <a:srgbClr val="D8DEE6"/>
            </a:solidFill>
            <a:prstDash val="solid"/>
          </a:ln>
        </p:spPr>
      </p:sp>
      <p:sp>
        <p:nvSpPr>
          <p:cNvPr id="19" name="Shape 16"/>
          <p:cNvSpPr/>
          <p:nvPr/>
        </p:nvSpPr>
        <p:spPr>
          <a:xfrm>
            <a:off x="8683228" y="1134405"/>
            <a:ext cx="0" cy="455749"/>
          </a:xfrm>
          <a:prstGeom prst="line">
            <a:avLst/>
          </a:prstGeom>
          <a:noFill/>
          <a:ln w="7144">
            <a:solidFill>
              <a:srgbClr val="D8DEE6"/>
            </a:solidFill>
            <a:prstDash val="solid"/>
          </a:ln>
        </p:spPr>
      </p:sp>
      <p:sp>
        <p:nvSpPr>
          <p:cNvPr id="20" name="Shape 17"/>
          <p:cNvSpPr/>
          <p:nvPr/>
        </p:nvSpPr>
        <p:spPr>
          <a:xfrm>
            <a:off x="4636294" y="1586582"/>
            <a:ext cx="4050506" cy="0"/>
          </a:xfrm>
          <a:prstGeom prst="line">
            <a:avLst/>
          </a:prstGeom>
          <a:noFill/>
          <a:ln w="7144">
            <a:solidFill>
              <a:srgbClr val="D8DEE6"/>
            </a:solidFill>
            <a:prstDash val="solid"/>
          </a:ln>
        </p:spPr>
      </p:sp>
      <p:sp>
        <p:nvSpPr>
          <p:cNvPr id="21" name="Shape 18"/>
          <p:cNvSpPr/>
          <p:nvPr/>
        </p:nvSpPr>
        <p:spPr>
          <a:xfrm>
            <a:off x="4647009" y="1134405"/>
            <a:ext cx="0" cy="455749"/>
          </a:xfrm>
          <a:prstGeom prst="line">
            <a:avLst/>
          </a:prstGeom>
          <a:noFill/>
          <a:ln w="21431">
            <a:solidFill>
              <a:srgbClr val="C9A961"/>
            </a:solidFill>
            <a:prstDash val="solid"/>
          </a:ln>
        </p:spPr>
      </p:sp>
      <p:sp>
        <p:nvSpPr>
          <p:cNvPr id="22" name="Text 19"/>
          <p:cNvSpPr/>
          <p:nvPr/>
        </p:nvSpPr>
        <p:spPr>
          <a:xfrm>
            <a:off x="4786313" y="1227274"/>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02</a:t>
            </a:r>
            <a:endParaRPr lang="en-US" sz="800" dirty="0"/>
          </a:p>
        </p:txBody>
      </p:sp>
      <p:sp>
        <p:nvSpPr>
          <p:cNvPr id="23" name="Text 20"/>
          <p:cNvSpPr/>
          <p:nvPr/>
        </p:nvSpPr>
        <p:spPr>
          <a:xfrm>
            <a:off x="5157788" y="1227274"/>
            <a:ext cx="3393281" cy="122587"/>
          </a:xfrm>
          <a:prstGeom prst="rect">
            <a:avLst/>
          </a:prstGeom>
          <a:noFill/>
          <a:ln/>
        </p:spPr>
        <p:txBody>
          <a:bodyPr wrap="non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Systems Security</a:t>
            </a:r>
            <a:endParaRPr lang="en-US" sz="844" dirty="0"/>
          </a:p>
        </p:txBody>
      </p:sp>
      <p:sp>
        <p:nvSpPr>
          <p:cNvPr id="24" name="Text 21"/>
          <p:cNvSpPr/>
          <p:nvPr/>
        </p:nvSpPr>
        <p:spPr>
          <a:xfrm>
            <a:off x="5157788" y="1377293"/>
            <a:ext cx="3503009"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Hardware roots of trust, secure boot, TEEs</a:t>
            </a:r>
            <a:endParaRPr lang="en-US" sz="800" dirty="0"/>
          </a:p>
        </p:txBody>
      </p:sp>
      <p:sp>
        <p:nvSpPr>
          <p:cNvPr id="25" name="Text 22"/>
          <p:cNvSpPr/>
          <p:nvPr/>
        </p:nvSpPr>
        <p:spPr>
          <a:xfrm>
            <a:off x="457200" y="1690167"/>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26" name="Shape 23"/>
          <p:cNvSpPr/>
          <p:nvPr/>
        </p:nvSpPr>
        <p:spPr>
          <a:xfrm>
            <a:off x="457200" y="1693738"/>
            <a:ext cx="4050506" cy="0"/>
          </a:xfrm>
          <a:prstGeom prst="line">
            <a:avLst/>
          </a:prstGeom>
          <a:noFill/>
          <a:ln w="7144">
            <a:solidFill>
              <a:srgbClr val="D8DEE6"/>
            </a:solidFill>
            <a:prstDash val="solid"/>
          </a:ln>
        </p:spPr>
      </p:sp>
      <p:sp>
        <p:nvSpPr>
          <p:cNvPr id="27" name="Shape 24"/>
          <p:cNvSpPr/>
          <p:nvPr/>
        </p:nvSpPr>
        <p:spPr>
          <a:xfrm>
            <a:off x="4504134" y="1690167"/>
            <a:ext cx="0" cy="455749"/>
          </a:xfrm>
          <a:prstGeom prst="line">
            <a:avLst/>
          </a:prstGeom>
          <a:noFill/>
          <a:ln w="7144">
            <a:solidFill>
              <a:srgbClr val="D8DEE6"/>
            </a:solidFill>
            <a:prstDash val="solid"/>
          </a:ln>
        </p:spPr>
      </p:sp>
      <p:sp>
        <p:nvSpPr>
          <p:cNvPr id="28" name="Shape 25"/>
          <p:cNvSpPr/>
          <p:nvPr/>
        </p:nvSpPr>
        <p:spPr>
          <a:xfrm>
            <a:off x="457200" y="2142344"/>
            <a:ext cx="4050506" cy="0"/>
          </a:xfrm>
          <a:prstGeom prst="line">
            <a:avLst/>
          </a:prstGeom>
          <a:noFill/>
          <a:ln w="7144">
            <a:solidFill>
              <a:srgbClr val="D8DEE6"/>
            </a:solidFill>
            <a:prstDash val="solid"/>
          </a:ln>
        </p:spPr>
      </p:sp>
      <p:sp>
        <p:nvSpPr>
          <p:cNvPr id="29" name="Shape 26"/>
          <p:cNvSpPr/>
          <p:nvPr/>
        </p:nvSpPr>
        <p:spPr>
          <a:xfrm>
            <a:off x="467916" y="1690167"/>
            <a:ext cx="0" cy="455749"/>
          </a:xfrm>
          <a:prstGeom prst="line">
            <a:avLst/>
          </a:prstGeom>
          <a:noFill/>
          <a:ln w="21431">
            <a:solidFill>
              <a:srgbClr val="C9A961"/>
            </a:solidFill>
            <a:prstDash val="solid"/>
          </a:ln>
        </p:spPr>
      </p:sp>
      <p:sp>
        <p:nvSpPr>
          <p:cNvPr id="30" name="Text 27"/>
          <p:cNvSpPr/>
          <p:nvPr/>
        </p:nvSpPr>
        <p:spPr>
          <a:xfrm>
            <a:off x="607219" y="1783035"/>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03</a:t>
            </a:r>
            <a:endParaRPr lang="en-US" sz="800" dirty="0"/>
          </a:p>
        </p:txBody>
      </p:sp>
      <p:sp>
        <p:nvSpPr>
          <p:cNvPr id="31" name="Text 28"/>
          <p:cNvSpPr/>
          <p:nvPr/>
        </p:nvSpPr>
        <p:spPr>
          <a:xfrm>
            <a:off x="978694" y="1783035"/>
            <a:ext cx="3393281" cy="122587"/>
          </a:xfrm>
          <a:prstGeom prst="rect">
            <a:avLst/>
          </a:prstGeom>
          <a:noFill/>
          <a:ln/>
        </p:spPr>
        <p:txBody>
          <a:bodyPr wrap="non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Network Security</a:t>
            </a:r>
            <a:endParaRPr lang="en-US" sz="844" dirty="0"/>
          </a:p>
        </p:txBody>
      </p:sp>
      <p:sp>
        <p:nvSpPr>
          <p:cNvPr id="32" name="Text 29"/>
          <p:cNvSpPr/>
          <p:nvPr/>
        </p:nvSpPr>
        <p:spPr>
          <a:xfrm>
            <a:off x="978694" y="1933054"/>
            <a:ext cx="3393281"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Confidentiality, integrity, and authenticity in transit</a:t>
            </a:r>
            <a:endParaRPr lang="en-US" sz="800" dirty="0"/>
          </a:p>
        </p:txBody>
      </p:sp>
      <p:sp>
        <p:nvSpPr>
          <p:cNvPr id="33" name="Text 30"/>
          <p:cNvSpPr/>
          <p:nvPr/>
        </p:nvSpPr>
        <p:spPr>
          <a:xfrm>
            <a:off x="4636294" y="1690167"/>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34" name="Shape 31"/>
          <p:cNvSpPr/>
          <p:nvPr/>
        </p:nvSpPr>
        <p:spPr>
          <a:xfrm>
            <a:off x="4636294" y="1693738"/>
            <a:ext cx="4050506" cy="0"/>
          </a:xfrm>
          <a:prstGeom prst="line">
            <a:avLst/>
          </a:prstGeom>
          <a:noFill/>
          <a:ln w="7144">
            <a:solidFill>
              <a:srgbClr val="D8DEE6"/>
            </a:solidFill>
            <a:prstDash val="solid"/>
          </a:ln>
        </p:spPr>
      </p:sp>
      <p:sp>
        <p:nvSpPr>
          <p:cNvPr id="35" name="Shape 32"/>
          <p:cNvSpPr/>
          <p:nvPr/>
        </p:nvSpPr>
        <p:spPr>
          <a:xfrm>
            <a:off x="8683228" y="1690167"/>
            <a:ext cx="0" cy="455749"/>
          </a:xfrm>
          <a:prstGeom prst="line">
            <a:avLst/>
          </a:prstGeom>
          <a:noFill/>
          <a:ln w="7144">
            <a:solidFill>
              <a:srgbClr val="D8DEE6"/>
            </a:solidFill>
            <a:prstDash val="solid"/>
          </a:ln>
        </p:spPr>
      </p:sp>
      <p:sp>
        <p:nvSpPr>
          <p:cNvPr id="36" name="Shape 33"/>
          <p:cNvSpPr/>
          <p:nvPr/>
        </p:nvSpPr>
        <p:spPr>
          <a:xfrm>
            <a:off x="4636294" y="2142344"/>
            <a:ext cx="4050506" cy="0"/>
          </a:xfrm>
          <a:prstGeom prst="line">
            <a:avLst/>
          </a:prstGeom>
          <a:noFill/>
          <a:ln w="7144">
            <a:solidFill>
              <a:srgbClr val="D8DEE6"/>
            </a:solidFill>
            <a:prstDash val="solid"/>
          </a:ln>
        </p:spPr>
      </p:sp>
      <p:sp>
        <p:nvSpPr>
          <p:cNvPr id="37" name="Shape 34"/>
          <p:cNvSpPr/>
          <p:nvPr/>
        </p:nvSpPr>
        <p:spPr>
          <a:xfrm>
            <a:off x="4647009" y="1690167"/>
            <a:ext cx="0" cy="455749"/>
          </a:xfrm>
          <a:prstGeom prst="line">
            <a:avLst/>
          </a:prstGeom>
          <a:noFill/>
          <a:ln w="21431">
            <a:solidFill>
              <a:srgbClr val="C9A961"/>
            </a:solidFill>
            <a:prstDash val="solid"/>
          </a:ln>
        </p:spPr>
      </p:sp>
      <p:sp>
        <p:nvSpPr>
          <p:cNvPr id="38" name="Text 35"/>
          <p:cNvSpPr/>
          <p:nvPr/>
        </p:nvSpPr>
        <p:spPr>
          <a:xfrm>
            <a:off x="4786313" y="1783035"/>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04</a:t>
            </a:r>
            <a:endParaRPr lang="en-US" sz="800" dirty="0"/>
          </a:p>
        </p:txBody>
      </p:sp>
      <p:sp>
        <p:nvSpPr>
          <p:cNvPr id="39" name="Text 36"/>
          <p:cNvSpPr/>
          <p:nvPr/>
        </p:nvSpPr>
        <p:spPr>
          <a:xfrm>
            <a:off x="5157788" y="1783035"/>
            <a:ext cx="3503009" cy="122587"/>
          </a:xfrm>
          <a:prstGeom prst="rect">
            <a:avLst/>
          </a:prstGeom>
          <a:noFill/>
          <a:ln/>
        </p:spPr>
        <p:txBody>
          <a:bodyPr wrap="squar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Generic Application Security</a:t>
            </a:r>
            <a:endParaRPr lang="en-US" sz="844" dirty="0"/>
          </a:p>
        </p:txBody>
      </p:sp>
      <p:sp>
        <p:nvSpPr>
          <p:cNvPr id="40" name="Text 37"/>
          <p:cNvSpPr/>
          <p:nvPr/>
        </p:nvSpPr>
        <p:spPr>
          <a:xfrm>
            <a:off x="5157788" y="1933054"/>
            <a:ext cx="3503009"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AuthN, AuthZ, crypto, secure update</a:t>
            </a:r>
            <a:endParaRPr lang="en-US" sz="800" dirty="0"/>
          </a:p>
        </p:txBody>
      </p:sp>
      <p:sp>
        <p:nvSpPr>
          <p:cNvPr id="41" name="Text 38"/>
          <p:cNvSpPr/>
          <p:nvPr/>
        </p:nvSpPr>
        <p:spPr>
          <a:xfrm>
            <a:off x="457200" y="2245928"/>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42" name="Shape 39"/>
          <p:cNvSpPr/>
          <p:nvPr/>
        </p:nvSpPr>
        <p:spPr>
          <a:xfrm>
            <a:off x="457200" y="2249500"/>
            <a:ext cx="4050506" cy="0"/>
          </a:xfrm>
          <a:prstGeom prst="line">
            <a:avLst/>
          </a:prstGeom>
          <a:noFill/>
          <a:ln w="7144">
            <a:solidFill>
              <a:srgbClr val="D8DEE6"/>
            </a:solidFill>
            <a:prstDash val="solid"/>
          </a:ln>
        </p:spPr>
      </p:sp>
      <p:sp>
        <p:nvSpPr>
          <p:cNvPr id="43" name="Shape 40"/>
          <p:cNvSpPr/>
          <p:nvPr/>
        </p:nvSpPr>
        <p:spPr>
          <a:xfrm>
            <a:off x="4504134" y="2245928"/>
            <a:ext cx="0" cy="455749"/>
          </a:xfrm>
          <a:prstGeom prst="line">
            <a:avLst/>
          </a:prstGeom>
          <a:noFill/>
          <a:ln w="7144">
            <a:solidFill>
              <a:srgbClr val="D8DEE6"/>
            </a:solidFill>
            <a:prstDash val="solid"/>
          </a:ln>
        </p:spPr>
      </p:sp>
      <p:sp>
        <p:nvSpPr>
          <p:cNvPr id="44" name="Shape 41"/>
          <p:cNvSpPr/>
          <p:nvPr/>
        </p:nvSpPr>
        <p:spPr>
          <a:xfrm>
            <a:off x="457200" y="2698105"/>
            <a:ext cx="4050506" cy="0"/>
          </a:xfrm>
          <a:prstGeom prst="line">
            <a:avLst/>
          </a:prstGeom>
          <a:noFill/>
          <a:ln w="7144">
            <a:solidFill>
              <a:srgbClr val="D8DEE6"/>
            </a:solidFill>
            <a:prstDash val="solid"/>
          </a:ln>
        </p:spPr>
      </p:sp>
      <p:sp>
        <p:nvSpPr>
          <p:cNvPr id="45" name="Shape 42"/>
          <p:cNvSpPr/>
          <p:nvPr/>
        </p:nvSpPr>
        <p:spPr>
          <a:xfrm>
            <a:off x="467916" y="2245928"/>
            <a:ext cx="0" cy="455749"/>
          </a:xfrm>
          <a:prstGeom prst="line">
            <a:avLst/>
          </a:prstGeom>
          <a:noFill/>
          <a:ln w="21431">
            <a:solidFill>
              <a:srgbClr val="C9A961"/>
            </a:solidFill>
            <a:prstDash val="solid"/>
          </a:ln>
        </p:spPr>
      </p:sp>
      <p:sp>
        <p:nvSpPr>
          <p:cNvPr id="46" name="Text 43"/>
          <p:cNvSpPr/>
          <p:nvPr/>
        </p:nvSpPr>
        <p:spPr>
          <a:xfrm>
            <a:off x="607219" y="2338797"/>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05</a:t>
            </a:r>
            <a:endParaRPr lang="en-US" sz="800" dirty="0"/>
          </a:p>
        </p:txBody>
      </p:sp>
      <p:sp>
        <p:nvSpPr>
          <p:cNvPr id="47" name="Text 44"/>
          <p:cNvSpPr/>
          <p:nvPr/>
        </p:nvSpPr>
        <p:spPr>
          <a:xfrm>
            <a:off x="978694" y="2338797"/>
            <a:ext cx="3503009" cy="122587"/>
          </a:xfrm>
          <a:prstGeom prst="rect">
            <a:avLst/>
          </a:prstGeom>
          <a:noFill/>
          <a:ln/>
        </p:spPr>
        <p:txBody>
          <a:bodyPr wrap="squar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Application Process Security &amp; Safety</a:t>
            </a:r>
            <a:endParaRPr lang="en-US" sz="844" dirty="0"/>
          </a:p>
        </p:txBody>
      </p:sp>
      <p:sp>
        <p:nvSpPr>
          <p:cNvPr id="48" name="Text 45"/>
          <p:cNvSpPr/>
          <p:nvPr/>
        </p:nvSpPr>
        <p:spPr>
          <a:xfrm>
            <a:off x="978694" y="2488816"/>
            <a:ext cx="3503009"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Functional safety, SIL, SIF, hazard analysis</a:t>
            </a:r>
            <a:endParaRPr lang="en-US" sz="800" dirty="0"/>
          </a:p>
        </p:txBody>
      </p:sp>
      <p:sp>
        <p:nvSpPr>
          <p:cNvPr id="49" name="Text 46"/>
          <p:cNvSpPr/>
          <p:nvPr/>
        </p:nvSpPr>
        <p:spPr>
          <a:xfrm>
            <a:off x="4636294" y="2245928"/>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50" name="Shape 47"/>
          <p:cNvSpPr/>
          <p:nvPr/>
        </p:nvSpPr>
        <p:spPr>
          <a:xfrm>
            <a:off x="4636294" y="2249500"/>
            <a:ext cx="4050506" cy="0"/>
          </a:xfrm>
          <a:prstGeom prst="line">
            <a:avLst/>
          </a:prstGeom>
          <a:noFill/>
          <a:ln w="7144">
            <a:solidFill>
              <a:srgbClr val="D8DEE6"/>
            </a:solidFill>
            <a:prstDash val="solid"/>
          </a:ln>
        </p:spPr>
      </p:sp>
      <p:sp>
        <p:nvSpPr>
          <p:cNvPr id="51" name="Shape 48"/>
          <p:cNvSpPr/>
          <p:nvPr/>
        </p:nvSpPr>
        <p:spPr>
          <a:xfrm>
            <a:off x="8683228" y="2245928"/>
            <a:ext cx="0" cy="455749"/>
          </a:xfrm>
          <a:prstGeom prst="line">
            <a:avLst/>
          </a:prstGeom>
          <a:noFill/>
          <a:ln w="7144">
            <a:solidFill>
              <a:srgbClr val="D8DEE6"/>
            </a:solidFill>
            <a:prstDash val="solid"/>
          </a:ln>
        </p:spPr>
      </p:sp>
      <p:sp>
        <p:nvSpPr>
          <p:cNvPr id="52" name="Shape 49"/>
          <p:cNvSpPr/>
          <p:nvPr/>
        </p:nvSpPr>
        <p:spPr>
          <a:xfrm>
            <a:off x="4636294" y="2698105"/>
            <a:ext cx="4050506" cy="0"/>
          </a:xfrm>
          <a:prstGeom prst="line">
            <a:avLst/>
          </a:prstGeom>
          <a:noFill/>
          <a:ln w="7144">
            <a:solidFill>
              <a:srgbClr val="D8DEE6"/>
            </a:solidFill>
            <a:prstDash val="solid"/>
          </a:ln>
        </p:spPr>
      </p:sp>
      <p:sp>
        <p:nvSpPr>
          <p:cNvPr id="53" name="Shape 50"/>
          <p:cNvSpPr/>
          <p:nvPr/>
        </p:nvSpPr>
        <p:spPr>
          <a:xfrm>
            <a:off x="4647009" y="2245928"/>
            <a:ext cx="0" cy="455749"/>
          </a:xfrm>
          <a:prstGeom prst="line">
            <a:avLst/>
          </a:prstGeom>
          <a:noFill/>
          <a:ln w="21431">
            <a:solidFill>
              <a:srgbClr val="C9A961"/>
            </a:solidFill>
            <a:prstDash val="solid"/>
          </a:ln>
        </p:spPr>
      </p:sp>
      <p:sp>
        <p:nvSpPr>
          <p:cNvPr id="54" name="Text 51"/>
          <p:cNvSpPr/>
          <p:nvPr/>
        </p:nvSpPr>
        <p:spPr>
          <a:xfrm>
            <a:off x="4786313" y="2338797"/>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06</a:t>
            </a:r>
            <a:endParaRPr lang="en-US" sz="800" dirty="0"/>
          </a:p>
        </p:txBody>
      </p:sp>
      <p:sp>
        <p:nvSpPr>
          <p:cNvPr id="55" name="Text 52"/>
          <p:cNvSpPr/>
          <p:nvPr/>
        </p:nvSpPr>
        <p:spPr>
          <a:xfrm>
            <a:off x="5157788" y="2338797"/>
            <a:ext cx="3503009" cy="122587"/>
          </a:xfrm>
          <a:prstGeom prst="rect">
            <a:avLst/>
          </a:prstGeom>
          <a:noFill/>
          <a:ln/>
        </p:spPr>
        <p:txBody>
          <a:bodyPr wrap="squar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Reliable &amp; Secure by Design</a:t>
            </a:r>
            <a:endParaRPr lang="en-US" sz="844" dirty="0"/>
          </a:p>
        </p:txBody>
      </p:sp>
      <p:sp>
        <p:nvSpPr>
          <p:cNvPr id="56" name="Text 53"/>
          <p:cNvSpPr/>
          <p:nvPr/>
        </p:nvSpPr>
        <p:spPr>
          <a:xfrm>
            <a:off x="5157788" y="2488816"/>
            <a:ext cx="3503009"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Shift-left, threat modeling, defense in depth</a:t>
            </a:r>
            <a:endParaRPr lang="en-US" sz="800" dirty="0"/>
          </a:p>
        </p:txBody>
      </p:sp>
      <p:sp>
        <p:nvSpPr>
          <p:cNvPr id="57" name="Text 54"/>
          <p:cNvSpPr/>
          <p:nvPr/>
        </p:nvSpPr>
        <p:spPr>
          <a:xfrm>
            <a:off x="457200" y="2801689"/>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58" name="Shape 55"/>
          <p:cNvSpPr/>
          <p:nvPr/>
        </p:nvSpPr>
        <p:spPr>
          <a:xfrm>
            <a:off x="457200" y="2805261"/>
            <a:ext cx="4050506" cy="0"/>
          </a:xfrm>
          <a:prstGeom prst="line">
            <a:avLst/>
          </a:prstGeom>
          <a:noFill/>
          <a:ln w="7144">
            <a:solidFill>
              <a:srgbClr val="D8DEE6"/>
            </a:solidFill>
            <a:prstDash val="solid"/>
          </a:ln>
        </p:spPr>
      </p:sp>
      <p:sp>
        <p:nvSpPr>
          <p:cNvPr id="59" name="Shape 56"/>
          <p:cNvSpPr/>
          <p:nvPr/>
        </p:nvSpPr>
        <p:spPr>
          <a:xfrm>
            <a:off x="4504134" y="2801689"/>
            <a:ext cx="0" cy="455749"/>
          </a:xfrm>
          <a:prstGeom prst="line">
            <a:avLst/>
          </a:prstGeom>
          <a:noFill/>
          <a:ln w="7144">
            <a:solidFill>
              <a:srgbClr val="D8DEE6"/>
            </a:solidFill>
            <a:prstDash val="solid"/>
          </a:ln>
        </p:spPr>
      </p:sp>
      <p:sp>
        <p:nvSpPr>
          <p:cNvPr id="60" name="Shape 57"/>
          <p:cNvSpPr/>
          <p:nvPr/>
        </p:nvSpPr>
        <p:spPr>
          <a:xfrm>
            <a:off x="457200" y="3253867"/>
            <a:ext cx="4050506" cy="0"/>
          </a:xfrm>
          <a:prstGeom prst="line">
            <a:avLst/>
          </a:prstGeom>
          <a:noFill/>
          <a:ln w="7144">
            <a:solidFill>
              <a:srgbClr val="D8DEE6"/>
            </a:solidFill>
            <a:prstDash val="solid"/>
          </a:ln>
        </p:spPr>
      </p:sp>
      <p:sp>
        <p:nvSpPr>
          <p:cNvPr id="61" name="Shape 58"/>
          <p:cNvSpPr/>
          <p:nvPr/>
        </p:nvSpPr>
        <p:spPr>
          <a:xfrm>
            <a:off x="467916" y="2801689"/>
            <a:ext cx="0" cy="455749"/>
          </a:xfrm>
          <a:prstGeom prst="line">
            <a:avLst/>
          </a:prstGeom>
          <a:noFill/>
          <a:ln w="21431">
            <a:solidFill>
              <a:srgbClr val="C9A961"/>
            </a:solidFill>
            <a:prstDash val="solid"/>
          </a:ln>
        </p:spPr>
      </p:sp>
      <p:sp>
        <p:nvSpPr>
          <p:cNvPr id="62" name="Text 59"/>
          <p:cNvSpPr/>
          <p:nvPr/>
        </p:nvSpPr>
        <p:spPr>
          <a:xfrm>
            <a:off x="607219" y="2894558"/>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07</a:t>
            </a:r>
            <a:endParaRPr lang="en-US" sz="800" dirty="0"/>
          </a:p>
        </p:txBody>
      </p:sp>
      <p:sp>
        <p:nvSpPr>
          <p:cNvPr id="63" name="Text 60"/>
          <p:cNvSpPr/>
          <p:nvPr/>
        </p:nvSpPr>
        <p:spPr>
          <a:xfrm>
            <a:off x="978694" y="2894558"/>
            <a:ext cx="3393281" cy="122587"/>
          </a:xfrm>
          <a:prstGeom prst="rect">
            <a:avLst/>
          </a:prstGeom>
          <a:noFill/>
          <a:ln/>
        </p:spPr>
        <p:txBody>
          <a:bodyPr wrap="non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Run-Time Monitoring</a:t>
            </a:r>
            <a:endParaRPr lang="en-US" sz="844" dirty="0"/>
          </a:p>
        </p:txBody>
      </p:sp>
      <p:sp>
        <p:nvSpPr>
          <p:cNvPr id="64" name="Text 61"/>
          <p:cNvSpPr/>
          <p:nvPr/>
        </p:nvSpPr>
        <p:spPr>
          <a:xfrm>
            <a:off x="978694" y="3044577"/>
            <a:ext cx="3503009"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IDS, anomaly detection, live response</a:t>
            </a:r>
            <a:endParaRPr lang="en-US" sz="800" dirty="0"/>
          </a:p>
        </p:txBody>
      </p:sp>
      <p:sp>
        <p:nvSpPr>
          <p:cNvPr id="65" name="Text 62"/>
          <p:cNvSpPr/>
          <p:nvPr/>
        </p:nvSpPr>
        <p:spPr>
          <a:xfrm>
            <a:off x="4636294" y="2801689"/>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66" name="Shape 63"/>
          <p:cNvSpPr/>
          <p:nvPr/>
        </p:nvSpPr>
        <p:spPr>
          <a:xfrm>
            <a:off x="4636294" y="2805261"/>
            <a:ext cx="4050506" cy="0"/>
          </a:xfrm>
          <a:prstGeom prst="line">
            <a:avLst/>
          </a:prstGeom>
          <a:noFill/>
          <a:ln w="7144">
            <a:solidFill>
              <a:srgbClr val="D8DEE6"/>
            </a:solidFill>
            <a:prstDash val="solid"/>
          </a:ln>
        </p:spPr>
      </p:sp>
      <p:sp>
        <p:nvSpPr>
          <p:cNvPr id="67" name="Shape 64"/>
          <p:cNvSpPr/>
          <p:nvPr/>
        </p:nvSpPr>
        <p:spPr>
          <a:xfrm>
            <a:off x="8683228" y="2801689"/>
            <a:ext cx="0" cy="455749"/>
          </a:xfrm>
          <a:prstGeom prst="line">
            <a:avLst/>
          </a:prstGeom>
          <a:noFill/>
          <a:ln w="7144">
            <a:solidFill>
              <a:srgbClr val="D8DEE6"/>
            </a:solidFill>
            <a:prstDash val="solid"/>
          </a:ln>
        </p:spPr>
      </p:sp>
      <p:sp>
        <p:nvSpPr>
          <p:cNvPr id="68" name="Shape 65"/>
          <p:cNvSpPr/>
          <p:nvPr/>
        </p:nvSpPr>
        <p:spPr>
          <a:xfrm>
            <a:off x="4636294" y="3253867"/>
            <a:ext cx="4050506" cy="0"/>
          </a:xfrm>
          <a:prstGeom prst="line">
            <a:avLst/>
          </a:prstGeom>
          <a:noFill/>
          <a:ln w="7144">
            <a:solidFill>
              <a:srgbClr val="D8DEE6"/>
            </a:solidFill>
            <a:prstDash val="solid"/>
          </a:ln>
        </p:spPr>
      </p:sp>
      <p:sp>
        <p:nvSpPr>
          <p:cNvPr id="69" name="Shape 66"/>
          <p:cNvSpPr/>
          <p:nvPr/>
        </p:nvSpPr>
        <p:spPr>
          <a:xfrm>
            <a:off x="4647009" y="2801689"/>
            <a:ext cx="0" cy="455749"/>
          </a:xfrm>
          <a:prstGeom prst="line">
            <a:avLst/>
          </a:prstGeom>
          <a:noFill/>
          <a:ln w="21431">
            <a:solidFill>
              <a:srgbClr val="C9A961"/>
            </a:solidFill>
            <a:prstDash val="solid"/>
          </a:ln>
        </p:spPr>
      </p:sp>
      <p:sp>
        <p:nvSpPr>
          <p:cNvPr id="70" name="Text 67"/>
          <p:cNvSpPr/>
          <p:nvPr/>
        </p:nvSpPr>
        <p:spPr>
          <a:xfrm>
            <a:off x="4786313" y="2894558"/>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08</a:t>
            </a:r>
            <a:endParaRPr lang="en-US" sz="800" dirty="0"/>
          </a:p>
        </p:txBody>
      </p:sp>
      <p:sp>
        <p:nvSpPr>
          <p:cNvPr id="71" name="Text 68"/>
          <p:cNvSpPr/>
          <p:nvPr/>
        </p:nvSpPr>
        <p:spPr>
          <a:xfrm>
            <a:off x="5157788" y="2894558"/>
            <a:ext cx="3393281" cy="122587"/>
          </a:xfrm>
          <a:prstGeom prst="rect">
            <a:avLst/>
          </a:prstGeom>
          <a:noFill/>
          <a:ln/>
        </p:spPr>
        <p:txBody>
          <a:bodyPr wrap="non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The ARMET Approach</a:t>
            </a:r>
            <a:endParaRPr lang="en-US" sz="844" dirty="0"/>
          </a:p>
        </p:txBody>
      </p:sp>
      <p:sp>
        <p:nvSpPr>
          <p:cNvPr id="72" name="Text 69"/>
          <p:cNvSpPr/>
          <p:nvPr/>
        </p:nvSpPr>
        <p:spPr>
          <a:xfrm>
            <a:off x="5157788" y="3044577"/>
            <a:ext cx="3393281"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A 7-step hardening methodology for microcontrollers</a:t>
            </a:r>
            <a:endParaRPr lang="en-US" sz="800" dirty="0"/>
          </a:p>
        </p:txBody>
      </p:sp>
      <p:sp>
        <p:nvSpPr>
          <p:cNvPr id="73" name="Text 70"/>
          <p:cNvSpPr/>
          <p:nvPr/>
        </p:nvSpPr>
        <p:spPr>
          <a:xfrm>
            <a:off x="457200" y="3357451"/>
            <a:ext cx="4050506" cy="455749"/>
          </a:xfrm>
          <a:prstGeom prst="roundRect">
            <a:avLst>
              <a:gd name="adj" fmla="val 16720"/>
            </a:avLst>
          </a:prstGeom>
          <a:solidFill>
            <a:srgbClr val="FFFFFF"/>
          </a:solidFill>
          <a:ln/>
        </p:spPr>
        <p:txBody>
          <a:bodyPr wrap="square" rtlCol="0" anchor="ctr"/>
          <a:lstStyle/>
          <a:p>
            <a:pPr marL="0" indent="0">
              <a:buNone/>
            </a:pPr>
            <a:endParaRPr lang="en-US" dirty="0"/>
          </a:p>
        </p:txBody>
      </p:sp>
      <p:sp>
        <p:nvSpPr>
          <p:cNvPr id="74" name="Shape 71"/>
          <p:cNvSpPr/>
          <p:nvPr/>
        </p:nvSpPr>
        <p:spPr>
          <a:xfrm>
            <a:off x="457200" y="3361023"/>
            <a:ext cx="4050506" cy="0"/>
          </a:xfrm>
          <a:prstGeom prst="line">
            <a:avLst/>
          </a:prstGeom>
          <a:noFill/>
          <a:ln w="7144">
            <a:solidFill>
              <a:srgbClr val="D8DEE6"/>
            </a:solidFill>
            <a:prstDash val="solid"/>
          </a:ln>
        </p:spPr>
      </p:sp>
      <p:sp>
        <p:nvSpPr>
          <p:cNvPr id="75" name="Shape 72"/>
          <p:cNvSpPr/>
          <p:nvPr/>
        </p:nvSpPr>
        <p:spPr>
          <a:xfrm>
            <a:off x="4504134" y="3357451"/>
            <a:ext cx="0" cy="455749"/>
          </a:xfrm>
          <a:prstGeom prst="line">
            <a:avLst/>
          </a:prstGeom>
          <a:noFill/>
          <a:ln w="7144">
            <a:solidFill>
              <a:srgbClr val="D8DEE6"/>
            </a:solidFill>
            <a:prstDash val="solid"/>
          </a:ln>
        </p:spPr>
      </p:sp>
      <p:sp>
        <p:nvSpPr>
          <p:cNvPr id="76" name="Shape 73"/>
          <p:cNvSpPr/>
          <p:nvPr/>
        </p:nvSpPr>
        <p:spPr>
          <a:xfrm>
            <a:off x="457200" y="3809628"/>
            <a:ext cx="4050506" cy="0"/>
          </a:xfrm>
          <a:prstGeom prst="line">
            <a:avLst/>
          </a:prstGeom>
          <a:noFill/>
          <a:ln w="7144">
            <a:solidFill>
              <a:srgbClr val="D8DEE6"/>
            </a:solidFill>
            <a:prstDash val="solid"/>
          </a:ln>
        </p:spPr>
      </p:sp>
      <p:sp>
        <p:nvSpPr>
          <p:cNvPr id="77" name="Shape 74"/>
          <p:cNvSpPr/>
          <p:nvPr/>
        </p:nvSpPr>
        <p:spPr>
          <a:xfrm>
            <a:off x="467916" y="3357451"/>
            <a:ext cx="0" cy="455749"/>
          </a:xfrm>
          <a:prstGeom prst="line">
            <a:avLst/>
          </a:prstGeom>
          <a:noFill/>
          <a:ln w="21431">
            <a:solidFill>
              <a:srgbClr val="C9A961"/>
            </a:solidFill>
            <a:prstDash val="solid"/>
          </a:ln>
        </p:spPr>
      </p:sp>
      <p:sp>
        <p:nvSpPr>
          <p:cNvPr id="78" name="Text 75"/>
          <p:cNvSpPr/>
          <p:nvPr/>
        </p:nvSpPr>
        <p:spPr>
          <a:xfrm>
            <a:off x="607219" y="3450320"/>
            <a:ext cx="434340" cy="173033"/>
          </a:xfrm>
          <a:prstGeom prst="rect">
            <a:avLst/>
          </a:prstGeom>
          <a:noFill/>
          <a:ln/>
        </p:spPr>
        <p:txBody>
          <a:bodyPr wrap="none" lIns="0" tIns="7144"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09</a:t>
            </a:r>
            <a:endParaRPr lang="en-US" sz="800" dirty="0"/>
          </a:p>
        </p:txBody>
      </p:sp>
      <p:sp>
        <p:nvSpPr>
          <p:cNvPr id="79" name="Text 76"/>
          <p:cNvSpPr/>
          <p:nvPr/>
        </p:nvSpPr>
        <p:spPr>
          <a:xfrm>
            <a:off x="978694" y="3450320"/>
            <a:ext cx="3393281" cy="122587"/>
          </a:xfrm>
          <a:prstGeom prst="rect">
            <a:avLst/>
          </a:prstGeom>
          <a:noFill/>
          <a:ln/>
        </p:spPr>
        <p:txBody>
          <a:bodyPr wrap="none" lIns="0" tIns="0" rIns="0" bIns="0" rtlCol="0" anchor="t">
            <a:normAutofit/>
          </a:bodyPr>
          <a:lstStyle/>
          <a:p>
            <a:pPr marL="0" indent="0" algn="l">
              <a:lnSpc>
                <a:spcPts val="1013"/>
              </a:lnSpc>
              <a:buNone/>
            </a:pPr>
            <a:r>
              <a:rPr lang="en-US" sz="844" dirty="0">
                <a:solidFill>
                  <a:srgbClr val="0F2A4A"/>
                </a:solidFill>
                <a:latin typeface="Carlito" pitchFamily="34" charset="0"/>
                <a:ea typeface="Carlito" pitchFamily="34" charset="-122"/>
                <a:cs typeface="Carlito" pitchFamily="34" charset="-120"/>
              </a:rPr>
              <a:t>Privacy &amp; Dependability</a:t>
            </a:r>
            <a:endParaRPr lang="en-US" sz="844" dirty="0"/>
          </a:p>
        </p:txBody>
      </p:sp>
      <p:sp>
        <p:nvSpPr>
          <p:cNvPr id="80" name="Text 77"/>
          <p:cNvSpPr/>
          <p:nvPr/>
        </p:nvSpPr>
        <p:spPr>
          <a:xfrm>
            <a:off x="978694" y="3600338"/>
            <a:ext cx="3503009"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RAS triad, GDPR, fault → failure chain</a:t>
            </a:r>
            <a:endParaRPr lang="en-US" sz="800" dirty="0"/>
          </a:p>
        </p:txBody>
      </p:sp>
      <p:sp>
        <p:nvSpPr>
          <p:cNvPr id="81" name="Shape 78"/>
          <p:cNvSpPr/>
          <p:nvPr/>
        </p:nvSpPr>
        <p:spPr>
          <a:xfrm>
            <a:off x="4636294" y="3361023"/>
            <a:ext cx="4050506" cy="0"/>
          </a:xfrm>
          <a:prstGeom prst="line">
            <a:avLst/>
          </a:prstGeom>
          <a:noFill/>
          <a:ln w="7144">
            <a:solidFill>
              <a:srgbClr val="D8DEE6"/>
            </a:solidFill>
            <a:prstDash val="dash"/>
          </a:ln>
        </p:spPr>
      </p:sp>
      <p:sp>
        <p:nvSpPr>
          <p:cNvPr id="82" name="Shape 79"/>
          <p:cNvSpPr/>
          <p:nvPr/>
        </p:nvSpPr>
        <p:spPr>
          <a:xfrm>
            <a:off x="8683228" y="3357451"/>
            <a:ext cx="0" cy="455749"/>
          </a:xfrm>
          <a:prstGeom prst="line">
            <a:avLst/>
          </a:prstGeom>
          <a:noFill/>
          <a:ln w="7144">
            <a:solidFill>
              <a:srgbClr val="D8DEE6"/>
            </a:solidFill>
            <a:prstDash val="dash"/>
          </a:ln>
        </p:spPr>
      </p:sp>
      <p:sp>
        <p:nvSpPr>
          <p:cNvPr id="83" name="Shape 80"/>
          <p:cNvSpPr/>
          <p:nvPr/>
        </p:nvSpPr>
        <p:spPr>
          <a:xfrm>
            <a:off x="4636294" y="3809628"/>
            <a:ext cx="4050506" cy="0"/>
          </a:xfrm>
          <a:prstGeom prst="line">
            <a:avLst/>
          </a:prstGeom>
          <a:noFill/>
          <a:ln w="7144">
            <a:solidFill>
              <a:srgbClr val="D8DEE6"/>
            </a:solidFill>
            <a:prstDash val="dash"/>
          </a:ln>
        </p:spPr>
      </p:sp>
      <p:sp>
        <p:nvSpPr>
          <p:cNvPr id="84" name="Shape 81"/>
          <p:cNvSpPr/>
          <p:nvPr/>
        </p:nvSpPr>
        <p:spPr>
          <a:xfrm>
            <a:off x="4647009" y="3357451"/>
            <a:ext cx="0" cy="455749"/>
          </a:xfrm>
          <a:prstGeom prst="line">
            <a:avLst/>
          </a:prstGeom>
          <a:noFill/>
          <a:ln w="21431">
            <a:solidFill>
              <a:srgbClr val="D8DEE6"/>
            </a:solidFill>
            <a:prstDash val="solid"/>
          </a:ln>
        </p:spPr>
      </p:sp>
      <p:sp>
        <p:nvSpPr>
          <p:cNvPr id="85" name="Text 82"/>
          <p:cNvSpPr/>
          <p:nvPr/>
        </p:nvSpPr>
        <p:spPr>
          <a:xfrm>
            <a:off x="4636294" y="3357451"/>
            <a:ext cx="4050506" cy="455749"/>
          </a:xfrm>
          <a:prstGeom prst="rect">
            <a:avLst/>
          </a:prstGeom>
          <a:noFill/>
          <a:ln/>
        </p:spPr>
        <p:txBody>
          <a:bodyPr wrap="none" lIns="128588" tIns="85725" rIns="128588" bIns="85725" rtlCol="0" anchor="ctr"/>
          <a:lstStyle/>
          <a:p>
            <a:pPr marL="0" indent="0" algn="ctr">
              <a:lnSpc>
                <a:spcPts val="928"/>
              </a:lnSpc>
              <a:buNone/>
            </a:pPr>
            <a:r>
              <a:rPr lang="en-US" sz="800" kern="0" spc="93" dirty="0">
                <a:solidFill>
                  <a:srgbClr val="6B7280"/>
                </a:solidFill>
                <a:latin typeface="Carlito" pitchFamily="34" charset="0"/>
                <a:ea typeface="Carlito" pitchFamily="34" charset="-122"/>
                <a:cs typeface="Carlito" pitchFamily="34" charset="-120"/>
              </a:rPr>
              <a:t>CAPSTONE · ARMET</a:t>
            </a:r>
            <a:endParaRPr lang="en-US" sz="800" dirty="0"/>
          </a:p>
        </p:txBody>
      </p:sp>
      <p:sp>
        <p:nvSpPr>
          <p:cNvPr id="86" name="Text 83"/>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87" name="Text 84"/>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02 / 21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33970"/>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85750"/>
            <a:ext cx="7060927" cy="164592"/>
          </a:xfrm>
          <a:prstGeom prst="rect">
            <a:avLst/>
          </a:prstGeom>
          <a:noFill/>
          <a:ln/>
        </p:spPr>
        <p:txBody>
          <a:bodyPr wrap="none" lIns="0" tIns="0" rIns="0" bIns="0" rtlCol="0" anchor="t"/>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01 · INTRODUCTION</a:t>
            </a:r>
            <a:endParaRPr lang="en-US" sz="800" dirty="0"/>
          </a:p>
        </p:txBody>
      </p:sp>
      <p:sp>
        <p:nvSpPr>
          <p:cNvPr id="5" name="Text 2"/>
          <p:cNvSpPr/>
          <p:nvPr/>
        </p:nvSpPr>
        <p:spPr>
          <a:xfrm>
            <a:off x="7532415" y="296466"/>
            <a:ext cx="1403751" cy="164592"/>
          </a:xfrm>
          <a:prstGeom prst="rect">
            <a:avLst/>
          </a:prstGeom>
          <a:noFill/>
          <a:ln/>
        </p:spPr>
        <p:txBody>
          <a:bodyPr wrap="none" lIns="0" tIns="0" rIns="0" bIns="0" rtlCol="0" anchor="t"/>
          <a:lstStyle/>
          <a:p>
            <a:pPr marL="0" indent="0" algn="l">
              <a:lnSpc>
                <a:spcPts val="928"/>
              </a:lnSpc>
              <a:buNone/>
            </a:pPr>
            <a:r>
              <a:rPr lang="en-US" sz="800" kern="0" spc="93" dirty="0">
                <a:solidFill>
                  <a:srgbClr val="6B7280"/>
                </a:solidFill>
                <a:latin typeface="Liberation Sans Narrow" pitchFamily="34" charset="0"/>
                <a:ea typeface="Liberation Sans Narrow" pitchFamily="34" charset="-122"/>
                <a:cs typeface="Liberation Sans Narrow" pitchFamily="34" charset="-120"/>
              </a:rPr>
              <a:t>CONCEPT · LECTURE 1 / 9</a:t>
            </a:r>
            <a:endParaRPr lang="en-US" sz="800" dirty="0"/>
          </a:p>
        </p:txBody>
      </p:sp>
      <p:sp>
        <p:nvSpPr>
          <p:cNvPr id="6" name="Text 3"/>
          <p:cNvSpPr/>
          <p:nvPr/>
        </p:nvSpPr>
        <p:spPr>
          <a:xfrm>
            <a:off x="457200" y="553641"/>
            <a:ext cx="4752547" cy="283897"/>
          </a:xfrm>
          <a:prstGeom prst="rect">
            <a:avLst/>
          </a:prstGeom>
          <a:noFill/>
          <a:ln/>
        </p:spPr>
        <p:txBody>
          <a:bodyPr wrap="none" lIns="0" tIns="0" rIns="0" bIns="0" rtlCol="0" anchor="t"/>
          <a:lstStyle/>
          <a:p>
            <a:pPr marL="0" indent="0" algn="l">
              <a:lnSpc>
                <a:spcPts val="2070"/>
              </a:lnSpc>
              <a:buNone/>
            </a:pPr>
            <a:r>
              <a:rPr lang="en-US" sz="1800" b="1" kern="0" spc="-27" dirty="0">
                <a:solidFill>
                  <a:srgbClr val="0F2A4A"/>
                </a:solidFill>
                <a:latin typeface="Tinos" pitchFamily="34" charset="0"/>
                <a:ea typeface="Tinos" pitchFamily="34" charset="-122"/>
                <a:cs typeface="Tinos" pitchFamily="34" charset="-120"/>
              </a:rPr>
              <a:t>What is IoT Security?</a:t>
            </a:r>
            <a:endParaRPr lang="en-US" sz="1800" dirty="0"/>
          </a:p>
        </p:txBody>
      </p:sp>
      <p:sp>
        <p:nvSpPr>
          <p:cNvPr id="7" name="Text 4"/>
          <p:cNvSpPr/>
          <p:nvPr/>
        </p:nvSpPr>
        <p:spPr>
          <a:xfrm>
            <a:off x="457200" y="916521"/>
            <a:ext cx="4526235" cy="717518"/>
          </a:xfrm>
          <a:prstGeom prst="rect">
            <a:avLst/>
          </a:prstGeom>
          <a:noFill/>
          <a:ln/>
        </p:spPr>
        <p:txBody>
          <a:bodyPr wrap="square" lIns="0" tIns="0" rIns="0" bIns="0" rtlCol="0" anchor="t"/>
          <a:lstStyle/>
          <a:p>
            <a:pPr marL="0" indent="0" algn="l">
              <a:lnSpc>
                <a:spcPts val="1308"/>
              </a:lnSpc>
              <a:buNone/>
            </a:pPr>
            <a:r>
              <a:rPr lang="en-US" sz="844" dirty="0">
                <a:solidFill>
                  <a:srgbClr val="4A5568"/>
                </a:solidFill>
                <a:latin typeface="Carlito" pitchFamily="34" charset="0"/>
                <a:ea typeface="Carlito" pitchFamily="34" charset="-122"/>
                <a:cs typeface="Carlito" pitchFamily="34" charset="-120"/>
              </a:rPr>
              <a:t>IoT Security is the practice of protecting Internet-of-Things devices, their data, and the networks they connect to, from confidentiality, integrity, and availability attacks. Unlike traditional IT, IoT adds constrained devices, physical exposure, long lifecycles, and heterogeneous protocols — making security a multi-layer problem rather than a single firewall.</a:t>
            </a:r>
            <a:endParaRPr lang="en-US" sz="844" dirty="0"/>
          </a:p>
        </p:txBody>
      </p:sp>
      <p:sp>
        <p:nvSpPr>
          <p:cNvPr id="8" name="Shape 5"/>
          <p:cNvSpPr/>
          <p:nvPr/>
        </p:nvSpPr>
        <p:spPr>
          <a:xfrm>
            <a:off x="457200" y="1977368"/>
            <a:ext cx="4526235" cy="0"/>
          </a:xfrm>
          <a:prstGeom prst="line">
            <a:avLst/>
          </a:prstGeom>
          <a:noFill/>
          <a:ln w="7144">
            <a:solidFill>
              <a:srgbClr val="E5E9EE"/>
            </a:solidFill>
            <a:prstDash val="solid"/>
          </a:ln>
        </p:spPr>
      </p:sp>
      <p:sp>
        <p:nvSpPr>
          <p:cNvPr id="9" name="Text 6"/>
          <p:cNvSpPr/>
          <p:nvPr/>
        </p:nvSpPr>
        <p:spPr>
          <a:xfrm>
            <a:off x="457200" y="1823777"/>
            <a:ext cx="57150" cy="57150"/>
          </a:xfrm>
          <a:prstGeom prst="ellipse">
            <a:avLst/>
          </a:prstGeom>
          <a:solidFill>
            <a:srgbClr val="C9A961"/>
          </a:solidFill>
          <a:ln/>
        </p:spPr>
        <p:txBody>
          <a:bodyPr wrap="square" rtlCol="0" anchor="ctr"/>
          <a:lstStyle/>
          <a:p>
            <a:pPr marL="0" indent="0">
              <a:buNone/>
            </a:pPr>
            <a:endParaRPr lang="en-US" dirty="0"/>
          </a:p>
        </p:txBody>
      </p:sp>
      <p:sp>
        <p:nvSpPr>
          <p:cNvPr id="10" name="Text 7"/>
          <p:cNvSpPr/>
          <p:nvPr/>
        </p:nvSpPr>
        <p:spPr>
          <a:xfrm>
            <a:off x="642938" y="1766627"/>
            <a:ext cx="4340498" cy="150019"/>
          </a:xfrm>
          <a:prstGeom prst="rect">
            <a:avLst/>
          </a:prstGeom>
          <a:noFill/>
          <a:ln/>
        </p:spPr>
        <p:txBody>
          <a:bodyPr wrap="square" lIns="0" tIns="0" rIns="0" bIns="0" rtlCol="0" anchor="t"/>
          <a:lstStyle/>
          <a:p>
            <a:pPr marL="0" indent="0" algn="l">
              <a:lnSpc>
                <a:spcPts val="1181"/>
              </a:lnSpc>
              <a:buNone/>
            </a:pPr>
            <a:r>
              <a:rPr lang="en-US" sz="788" dirty="0">
                <a:solidFill>
                  <a:srgbClr val="0F2A4A"/>
                </a:solidFill>
                <a:latin typeface="Carlito" pitchFamily="34" charset="0"/>
                <a:ea typeface="Carlito" pitchFamily="34" charset="-122"/>
                <a:cs typeface="Carlito" pitchFamily="34" charset="-120"/>
              </a:rPr>
              <a:t>Scale</a:t>
            </a:r>
            <a:r>
              <a:rPr lang="en-US" sz="788" dirty="0">
                <a:solidFill>
                  <a:srgbClr val="1A2332"/>
                </a:solidFill>
                <a:latin typeface="Carlito" pitchFamily="34" charset="0"/>
                <a:ea typeface="Carlito" pitchFamily="34" charset="-122"/>
                <a:cs typeface="Carlito" pitchFamily="34" charset="-120"/>
              </a:rPr>
              <a:t> — 75+ billion connected devices by 2027, each a potential attack surface.</a:t>
            </a:r>
            <a:endParaRPr lang="en-US" sz="788" dirty="0"/>
          </a:p>
        </p:txBody>
      </p:sp>
      <p:sp>
        <p:nvSpPr>
          <p:cNvPr id="11" name="Shape 8"/>
          <p:cNvSpPr/>
          <p:nvPr/>
        </p:nvSpPr>
        <p:spPr>
          <a:xfrm>
            <a:off x="457200" y="2398849"/>
            <a:ext cx="4526235" cy="0"/>
          </a:xfrm>
          <a:prstGeom prst="line">
            <a:avLst/>
          </a:prstGeom>
          <a:noFill/>
          <a:ln w="7144">
            <a:solidFill>
              <a:srgbClr val="E5E9EE"/>
            </a:solidFill>
            <a:prstDash val="solid"/>
          </a:ln>
        </p:spPr>
      </p:sp>
      <p:sp>
        <p:nvSpPr>
          <p:cNvPr id="12" name="Text 9"/>
          <p:cNvSpPr/>
          <p:nvPr/>
        </p:nvSpPr>
        <p:spPr>
          <a:xfrm>
            <a:off x="457200" y="2095240"/>
            <a:ext cx="57150" cy="57150"/>
          </a:xfrm>
          <a:prstGeom prst="ellipse">
            <a:avLst/>
          </a:prstGeom>
          <a:solidFill>
            <a:srgbClr val="C9A961"/>
          </a:solidFill>
          <a:ln/>
        </p:spPr>
        <p:txBody>
          <a:bodyPr wrap="square" rtlCol="0" anchor="ctr"/>
          <a:lstStyle/>
          <a:p>
            <a:pPr marL="0" indent="0">
              <a:buNone/>
            </a:pPr>
            <a:endParaRPr lang="en-US" dirty="0"/>
          </a:p>
        </p:txBody>
      </p:sp>
      <p:sp>
        <p:nvSpPr>
          <p:cNvPr id="13" name="Text 10"/>
          <p:cNvSpPr/>
          <p:nvPr/>
        </p:nvSpPr>
        <p:spPr>
          <a:xfrm>
            <a:off x="642938" y="2038090"/>
            <a:ext cx="4340498" cy="300038"/>
          </a:xfrm>
          <a:prstGeom prst="rect">
            <a:avLst/>
          </a:prstGeom>
          <a:noFill/>
          <a:ln/>
        </p:spPr>
        <p:txBody>
          <a:bodyPr wrap="square" lIns="0" tIns="0" rIns="0" bIns="0" rtlCol="0" anchor="t"/>
          <a:lstStyle/>
          <a:p>
            <a:pPr marL="0" indent="0" algn="l">
              <a:lnSpc>
                <a:spcPts val="1181"/>
              </a:lnSpc>
              <a:buNone/>
            </a:pPr>
            <a:r>
              <a:rPr lang="en-US" sz="800" dirty="0">
                <a:solidFill>
                  <a:srgbClr val="0F2A4A"/>
                </a:solidFill>
                <a:latin typeface="Carlito" pitchFamily="34" charset="0"/>
                <a:ea typeface="Carlito" pitchFamily="34" charset="-122"/>
                <a:cs typeface="Carlito" pitchFamily="34" charset="-120"/>
              </a:rPr>
              <a:t>Risk</a:t>
            </a:r>
            <a:r>
              <a:rPr lang="en-US" sz="800" dirty="0">
                <a:solidFill>
                  <a:srgbClr val="1A2332"/>
                </a:solidFill>
                <a:latin typeface="Carlito" pitchFamily="34" charset="0"/>
                <a:ea typeface="Carlito" pitchFamily="34" charset="-122"/>
                <a:cs typeface="Carlito" pitchFamily="34" charset="-120"/>
              </a:rPr>
              <a:t> — Average IoT breach cost reaches $5.4M, with 57% of devices vulnerable to medium/high-severity attacks.</a:t>
            </a:r>
            <a:endParaRPr lang="en-US" sz="800" dirty="0"/>
          </a:p>
        </p:txBody>
      </p:sp>
      <p:sp>
        <p:nvSpPr>
          <p:cNvPr id="14" name="Text 11"/>
          <p:cNvSpPr/>
          <p:nvPr/>
        </p:nvSpPr>
        <p:spPr>
          <a:xfrm>
            <a:off x="457200" y="2516721"/>
            <a:ext cx="57150" cy="57150"/>
          </a:xfrm>
          <a:prstGeom prst="ellipse">
            <a:avLst/>
          </a:prstGeom>
          <a:solidFill>
            <a:srgbClr val="C9A961"/>
          </a:solidFill>
          <a:ln/>
        </p:spPr>
        <p:txBody>
          <a:bodyPr wrap="square" rtlCol="0" anchor="ctr"/>
          <a:lstStyle/>
          <a:p>
            <a:pPr marL="0" indent="0">
              <a:buNone/>
            </a:pPr>
            <a:endParaRPr lang="en-US" dirty="0"/>
          </a:p>
        </p:txBody>
      </p:sp>
      <p:sp>
        <p:nvSpPr>
          <p:cNvPr id="15" name="Text 12"/>
          <p:cNvSpPr/>
          <p:nvPr/>
        </p:nvSpPr>
        <p:spPr>
          <a:xfrm>
            <a:off x="642938" y="2459571"/>
            <a:ext cx="4340498" cy="329184"/>
          </a:xfrm>
          <a:prstGeom prst="rect">
            <a:avLst/>
          </a:prstGeom>
          <a:noFill/>
          <a:ln/>
        </p:spPr>
        <p:txBody>
          <a:bodyPr wrap="square" lIns="0" tIns="0" rIns="0" bIns="0" rtlCol="0" anchor="t"/>
          <a:lstStyle/>
          <a:p>
            <a:pPr marL="0" indent="0" algn="l">
              <a:lnSpc>
                <a:spcPts val="1181"/>
              </a:lnSpc>
              <a:buNone/>
            </a:pPr>
            <a:r>
              <a:rPr lang="en-US" sz="800" dirty="0">
                <a:solidFill>
                  <a:srgbClr val="0F2A4A"/>
                </a:solidFill>
                <a:latin typeface="Carlito" pitchFamily="34" charset="0"/>
                <a:ea typeface="Carlito" pitchFamily="34" charset="-122"/>
                <a:cs typeface="Carlito" pitchFamily="34" charset="-120"/>
              </a:rPr>
              <a:t>Layered defense</a:t>
            </a:r>
            <a:r>
              <a:rPr lang="en-US" sz="800" dirty="0">
                <a:solidFill>
                  <a:srgbClr val="1A2332"/>
                </a:solidFill>
                <a:latin typeface="Carlito" pitchFamily="34" charset="0"/>
                <a:ea typeface="Carlito" pitchFamily="34" charset="-122"/>
                <a:cs typeface="Carlito" pitchFamily="34" charset="-120"/>
              </a:rPr>
              <a:t> — Security must span perception (sensors), network (transit), and application (logic) layers.</a:t>
            </a:r>
            <a:endParaRPr lang="en-US" sz="800" dirty="0"/>
          </a:p>
        </p:txBody>
      </p:sp>
      <p:sp>
        <p:nvSpPr>
          <p:cNvPr id="16" name="Text 13"/>
          <p:cNvSpPr/>
          <p:nvPr/>
        </p:nvSpPr>
        <p:spPr>
          <a:xfrm>
            <a:off x="5215607" y="557213"/>
            <a:ext cx="1794421" cy="2066330"/>
          </a:xfrm>
          <a:prstGeom prst="roundRect">
            <a:avLst>
              <a:gd name="adj" fmla="val 4246"/>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17" name="Text 14"/>
          <p:cNvSpPr/>
          <p:nvPr/>
        </p:nvSpPr>
        <p:spPr>
          <a:xfrm>
            <a:off x="5347767" y="689372"/>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18" name="Text 15"/>
          <p:cNvSpPr/>
          <p:nvPr/>
        </p:nvSpPr>
        <p:spPr>
          <a:xfrm>
            <a:off x="5347767" y="2057065"/>
            <a:ext cx="1530102" cy="277749"/>
          </a:xfrm>
          <a:prstGeom prst="rect">
            <a:avLst/>
          </a:prstGeom>
          <a:noFill/>
          <a:ln/>
        </p:spPr>
        <p:txBody>
          <a:bodyPr wrap="none" lIns="0" tIns="0" rIns="0" bIns="0" rtlCol="0" anchor="t"/>
          <a:lstStyle/>
          <a:p>
            <a:pPr marL="0" indent="0" algn="l">
              <a:lnSpc>
                <a:spcPts val="2025"/>
              </a:lnSpc>
              <a:buNone/>
            </a:pPr>
            <a:r>
              <a:rPr lang="en-US" sz="2025" kern="0" spc="-20" dirty="0">
                <a:solidFill>
                  <a:srgbClr val="0F2A4A"/>
                </a:solidFill>
                <a:latin typeface="Liberation Sans Narrow" pitchFamily="34" charset="0"/>
                <a:ea typeface="Liberation Sans Narrow" pitchFamily="34" charset="-122"/>
                <a:cs typeface="Liberation Sans Narrow" pitchFamily="34" charset="-120"/>
              </a:rPr>
              <a:t>75B</a:t>
            </a:r>
            <a:endParaRPr lang="en-US" sz="2025" dirty="0"/>
          </a:p>
        </p:txBody>
      </p:sp>
      <p:sp>
        <p:nvSpPr>
          <p:cNvPr id="19" name="Text 16"/>
          <p:cNvSpPr/>
          <p:nvPr/>
        </p:nvSpPr>
        <p:spPr>
          <a:xfrm>
            <a:off x="5347767" y="2371390"/>
            <a:ext cx="1530102" cy="119993"/>
          </a:xfrm>
          <a:prstGeom prst="rect">
            <a:avLst/>
          </a:prstGeom>
          <a:noFill/>
          <a:ln/>
        </p:spPr>
        <p:txBody>
          <a:bodyPr wrap="none" lIns="0" tIns="0" rIns="0" bIns="0" rtlCol="0" anchor="t"/>
          <a:lstStyle/>
          <a:p>
            <a:pPr marL="0" indent="0" algn="l">
              <a:lnSpc>
                <a:spcPts val="945"/>
              </a:lnSpc>
              <a:buNone/>
            </a:pPr>
            <a:r>
              <a:rPr lang="en-US" sz="800" dirty="0">
                <a:solidFill>
                  <a:srgbClr val="4A5568"/>
                </a:solidFill>
                <a:latin typeface="Liberation Sans Narrow" pitchFamily="34" charset="0"/>
                <a:ea typeface="Liberation Sans Narrow" pitchFamily="34" charset="-122"/>
                <a:cs typeface="Liberation Sans Narrow" pitchFamily="34" charset="-120"/>
              </a:rPr>
              <a:t>Connected devices by 2027</a:t>
            </a:r>
            <a:endParaRPr lang="en-US" sz="800" dirty="0"/>
          </a:p>
        </p:txBody>
      </p:sp>
      <p:sp>
        <p:nvSpPr>
          <p:cNvPr id="20" name="Text 17"/>
          <p:cNvSpPr/>
          <p:nvPr/>
        </p:nvSpPr>
        <p:spPr>
          <a:xfrm>
            <a:off x="7117184" y="557213"/>
            <a:ext cx="1794532" cy="2066330"/>
          </a:xfrm>
          <a:prstGeom prst="roundRect">
            <a:avLst>
              <a:gd name="adj" fmla="val 4246"/>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21" name="Text 18"/>
          <p:cNvSpPr/>
          <p:nvPr/>
        </p:nvSpPr>
        <p:spPr>
          <a:xfrm>
            <a:off x="7249344" y="689372"/>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22" name="Text 19"/>
          <p:cNvSpPr/>
          <p:nvPr/>
        </p:nvSpPr>
        <p:spPr>
          <a:xfrm>
            <a:off x="7249344" y="2057065"/>
            <a:ext cx="1530214" cy="277749"/>
          </a:xfrm>
          <a:prstGeom prst="rect">
            <a:avLst/>
          </a:prstGeom>
          <a:noFill/>
          <a:ln/>
        </p:spPr>
        <p:txBody>
          <a:bodyPr wrap="none" lIns="0" tIns="0" rIns="0" bIns="0" rtlCol="0" anchor="t"/>
          <a:lstStyle/>
          <a:p>
            <a:pPr marL="0" indent="0" algn="l">
              <a:lnSpc>
                <a:spcPts val="2025"/>
              </a:lnSpc>
              <a:buNone/>
            </a:pPr>
            <a:r>
              <a:rPr lang="en-US" sz="2025" kern="0" spc="-20" dirty="0">
                <a:solidFill>
                  <a:srgbClr val="0F2A4A"/>
                </a:solidFill>
                <a:latin typeface="Liberation Sans Narrow" pitchFamily="34" charset="0"/>
                <a:ea typeface="Liberation Sans Narrow" pitchFamily="34" charset="-122"/>
                <a:cs typeface="Liberation Sans Narrow" pitchFamily="34" charset="-120"/>
              </a:rPr>
              <a:t>57%</a:t>
            </a:r>
            <a:endParaRPr lang="en-US" sz="2025" dirty="0"/>
          </a:p>
        </p:txBody>
      </p:sp>
      <p:sp>
        <p:nvSpPr>
          <p:cNvPr id="23" name="Text 20"/>
          <p:cNvSpPr/>
          <p:nvPr/>
        </p:nvSpPr>
        <p:spPr>
          <a:xfrm>
            <a:off x="7249344" y="2371390"/>
            <a:ext cx="1622026" cy="119993"/>
          </a:xfrm>
          <a:prstGeom prst="rect">
            <a:avLst/>
          </a:prstGeom>
          <a:noFill/>
          <a:ln/>
        </p:spPr>
        <p:txBody>
          <a:bodyPr wrap="square" lIns="0" tIns="0" rIns="0" bIns="0" rtlCol="0" anchor="t"/>
          <a:lstStyle/>
          <a:p>
            <a:pPr marL="0" indent="0" algn="l">
              <a:lnSpc>
                <a:spcPts val="945"/>
              </a:lnSpc>
              <a:buNone/>
            </a:pPr>
            <a:r>
              <a:rPr lang="en-US" sz="675" dirty="0">
                <a:solidFill>
                  <a:srgbClr val="4A5568"/>
                </a:solidFill>
                <a:latin typeface="Carlito" pitchFamily="34" charset="0"/>
                <a:ea typeface="Carlito" pitchFamily="34" charset="-122"/>
                <a:cs typeface="Carlito" pitchFamily="34" charset="-120"/>
              </a:rPr>
              <a:t>IoT devices vulnerable to attacks</a:t>
            </a:r>
            <a:endParaRPr lang="en-US" sz="675" dirty="0"/>
          </a:p>
        </p:txBody>
      </p:sp>
      <p:sp>
        <p:nvSpPr>
          <p:cNvPr id="24" name="Text 21"/>
          <p:cNvSpPr/>
          <p:nvPr/>
        </p:nvSpPr>
        <p:spPr>
          <a:xfrm>
            <a:off x="5215607" y="2730698"/>
            <a:ext cx="1794421" cy="2066330"/>
          </a:xfrm>
          <a:prstGeom prst="roundRect">
            <a:avLst>
              <a:gd name="adj" fmla="val 4246"/>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25" name="Text 22"/>
          <p:cNvSpPr/>
          <p:nvPr/>
        </p:nvSpPr>
        <p:spPr>
          <a:xfrm>
            <a:off x="5347767" y="2862858"/>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26" name="Text 23"/>
          <p:cNvSpPr/>
          <p:nvPr/>
        </p:nvSpPr>
        <p:spPr>
          <a:xfrm>
            <a:off x="5347767" y="4230551"/>
            <a:ext cx="1530102" cy="277749"/>
          </a:xfrm>
          <a:prstGeom prst="rect">
            <a:avLst/>
          </a:prstGeom>
          <a:noFill/>
          <a:ln/>
        </p:spPr>
        <p:txBody>
          <a:bodyPr wrap="none" lIns="0" tIns="0" rIns="0" bIns="0" rtlCol="0" anchor="t"/>
          <a:lstStyle/>
          <a:p>
            <a:pPr marL="0" indent="0" algn="l">
              <a:lnSpc>
                <a:spcPts val="2025"/>
              </a:lnSpc>
              <a:buNone/>
            </a:pPr>
            <a:r>
              <a:rPr lang="en-US" sz="2025" kern="0" spc="-20" dirty="0">
                <a:solidFill>
                  <a:srgbClr val="0F2A4A"/>
                </a:solidFill>
                <a:latin typeface="Liberation Sans Narrow" pitchFamily="34" charset="0"/>
                <a:ea typeface="Liberation Sans Narrow" pitchFamily="34" charset="-122"/>
                <a:cs typeface="Liberation Sans Narrow" pitchFamily="34" charset="-120"/>
              </a:rPr>
              <a:t>$5.4M</a:t>
            </a:r>
            <a:endParaRPr lang="en-US" sz="2025" dirty="0"/>
          </a:p>
        </p:txBody>
      </p:sp>
      <p:sp>
        <p:nvSpPr>
          <p:cNvPr id="27" name="Text 24"/>
          <p:cNvSpPr/>
          <p:nvPr/>
        </p:nvSpPr>
        <p:spPr>
          <a:xfrm>
            <a:off x="5347767" y="4544876"/>
            <a:ext cx="1621908" cy="119993"/>
          </a:xfrm>
          <a:prstGeom prst="rect">
            <a:avLst/>
          </a:prstGeom>
          <a:noFill/>
          <a:ln/>
        </p:spPr>
        <p:txBody>
          <a:bodyPr wrap="square" lIns="0" tIns="0" rIns="0" bIns="0" rtlCol="0" anchor="t"/>
          <a:lstStyle/>
          <a:p>
            <a:pPr marL="0" indent="0" algn="l">
              <a:lnSpc>
                <a:spcPts val="945"/>
              </a:lnSpc>
              <a:buNone/>
            </a:pPr>
            <a:r>
              <a:rPr lang="en-US" sz="675" dirty="0">
                <a:solidFill>
                  <a:srgbClr val="4A5568"/>
                </a:solidFill>
                <a:latin typeface="Carlito" pitchFamily="34" charset="0"/>
                <a:ea typeface="Carlito" pitchFamily="34" charset="-122"/>
                <a:cs typeface="Carlito" pitchFamily="34" charset="-120"/>
              </a:rPr>
              <a:t>Avg cost of an IoT-related breach</a:t>
            </a:r>
            <a:endParaRPr lang="en-US" sz="675" dirty="0"/>
          </a:p>
        </p:txBody>
      </p:sp>
      <p:sp>
        <p:nvSpPr>
          <p:cNvPr id="28" name="Text 25"/>
          <p:cNvSpPr/>
          <p:nvPr/>
        </p:nvSpPr>
        <p:spPr>
          <a:xfrm>
            <a:off x="7117184" y="2730698"/>
            <a:ext cx="1794532" cy="2066330"/>
          </a:xfrm>
          <a:prstGeom prst="roundRect">
            <a:avLst>
              <a:gd name="adj" fmla="val 4246"/>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29" name="Text 26"/>
          <p:cNvSpPr/>
          <p:nvPr/>
        </p:nvSpPr>
        <p:spPr>
          <a:xfrm>
            <a:off x="7249344" y="2862858"/>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30" name="Text 27"/>
          <p:cNvSpPr/>
          <p:nvPr/>
        </p:nvSpPr>
        <p:spPr>
          <a:xfrm>
            <a:off x="7249344" y="4230551"/>
            <a:ext cx="1530214" cy="277749"/>
          </a:xfrm>
          <a:prstGeom prst="rect">
            <a:avLst/>
          </a:prstGeom>
          <a:noFill/>
          <a:ln/>
        </p:spPr>
        <p:txBody>
          <a:bodyPr wrap="none" lIns="0" tIns="0" rIns="0" bIns="0" rtlCol="0" anchor="t"/>
          <a:lstStyle/>
          <a:p>
            <a:pPr marL="0" indent="0" algn="l">
              <a:lnSpc>
                <a:spcPts val="2025"/>
              </a:lnSpc>
              <a:buNone/>
            </a:pPr>
            <a:r>
              <a:rPr lang="en-US" sz="2025" kern="0" spc="-20" dirty="0">
                <a:solidFill>
                  <a:srgbClr val="0F2A4A"/>
                </a:solidFill>
                <a:latin typeface="Liberation Sans Narrow" pitchFamily="34" charset="0"/>
                <a:ea typeface="Liberation Sans Narrow" pitchFamily="34" charset="-122"/>
                <a:cs typeface="Liberation Sans Narrow" pitchFamily="34" charset="-120"/>
              </a:rPr>
              <a:t>24K</a:t>
            </a:r>
            <a:endParaRPr lang="en-US" sz="2025" dirty="0"/>
          </a:p>
        </p:txBody>
      </p:sp>
      <p:sp>
        <p:nvSpPr>
          <p:cNvPr id="31" name="Text 28"/>
          <p:cNvSpPr/>
          <p:nvPr/>
        </p:nvSpPr>
        <p:spPr>
          <a:xfrm>
            <a:off x="7249344" y="4544876"/>
            <a:ext cx="1652631" cy="119993"/>
          </a:xfrm>
          <a:prstGeom prst="rect">
            <a:avLst/>
          </a:prstGeom>
          <a:noFill/>
          <a:ln/>
        </p:spPr>
        <p:txBody>
          <a:bodyPr wrap="square" lIns="0" tIns="0" rIns="0" bIns="0" rtlCol="0" anchor="t"/>
          <a:lstStyle/>
          <a:p>
            <a:pPr marL="0" indent="0" algn="l">
              <a:lnSpc>
                <a:spcPts val="945"/>
              </a:lnSpc>
              <a:buNone/>
            </a:pPr>
            <a:r>
              <a:rPr lang="en-US" sz="675" dirty="0">
                <a:solidFill>
                  <a:srgbClr val="4A5568"/>
                </a:solidFill>
                <a:latin typeface="Carlito" pitchFamily="34" charset="0"/>
                <a:ea typeface="Carlito" pitchFamily="34" charset="-122"/>
                <a:cs typeface="Carlito" pitchFamily="34" charset="-120"/>
              </a:rPr>
              <a:t>Unique malware samples seen per day</a:t>
            </a:r>
            <a:endParaRPr lang="en-US" sz="675" dirty="0"/>
          </a:p>
        </p:txBody>
      </p:sp>
      <p:sp>
        <p:nvSpPr>
          <p:cNvPr id="32" name="Text 29"/>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33" name="Text 30"/>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03 / 21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357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87536"/>
            <a:ext cx="1725278" cy="156520"/>
          </a:xfrm>
          <a:prstGeom prst="rect">
            <a:avLst/>
          </a:prstGeom>
          <a:noFill/>
          <a:ln/>
        </p:spPr>
        <p:txBody>
          <a:bodyPr wrap="non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01 · INTRODUCTION</a:t>
            </a:r>
            <a:endParaRPr lang="en-US" sz="800" dirty="0"/>
          </a:p>
        </p:txBody>
      </p:sp>
      <p:sp>
        <p:nvSpPr>
          <p:cNvPr id="5" name="Text 2"/>
          <p:cNvSpPr/>
          <p:nvPr/>
        </p:nvSpPr>
        <p:spPr>
          <a:xfrm>
            <a:off x="457200" y="471488"/>
            <a:ext cx="2914750" cy="198266"/>
          </a:xfrm>
          <a:prstGeom prst="rect">
            <a:avLst/>
          </a:prstGeom>
          <a:noFill/>
          <a:ln/>
        </p:spPr>
        <p:txBody>
          <a:bodyPr wrap="square" lIns="0" tIns="0" rIns="0" bIns="0" rtlCol="0" anchor="t">
            <a:normAutofit/>
          </a:bodyPr>
          <a:lstStyle/>
          <a:p>
            <a:pPr marL="0" indent="0" algn="l">
              <a:lnSpc>
                <a:spcPts val="1553"/>
              </a:lnSpc>
              <a:buNone/>
            </a:pPr>
            <a:r>
              <a:rPr lang="en-US" sz="1350" b="1" kern="0" spc="-20" dirty="0">
                <a:solidFill>
                  <a:srgbClr val="0F2A4A"/>
                </a:solidFill>
                <a:latin typeface="Tinos" pitchFamily="34" charset="0"/>
                <a:ea typeface="Tinos" pitchFamily="34" charset="-122"/>
                <a:cs typeface="Tinos" pitchFamily="34" charset="-120"/>
              </a:rPr>
              <a:t>IoT Security — Layered Architecture</a:t>
            </a:r>
            <a:endParaRPr lang="en-US" sz="1350" dirty="0"/>
          </a:p>
        </p:txBody>
      </p:sp>
      <p:sp>
        <p:nvSpPr>
          <p:cNvPr id="6" name="Text 3"/>
          <p:cNvSpPr/>
          <p:nvPr/>
        </p:nvSpPr>
        <p:spPr>
          <a:xfrm>
            <a:off x="457200" y="697185"/>
            <a:ext cx="2649773" cy="164592"/>
          </a:xfrm>
          <a:prstGeom prst="rect">
            <a:avLst/>
          </a:prstGeom>
          <a:noFill/>
          <a:ln/>
        </p:spPr>
        <p:txBody>
          <a:bodyPr wrap="square" lIns="0" tIns="0" rIns="0" bIns="0" rtlCol="0" anchor="t"/>
          <a:lstStyle/>
          <a:p>
            <a:pPr marL="0" indent="0" algn="l">
              <a:lnSpc>
                <a:spcPts val="1097"/>
              </a:lnSpc>
              <a:buNone/>
            </a:pPr>
            <a:r>
              <a:rPr lang="en-US" sz="731" dirty="0">
                <a:solidFill>
                  <a:srgbClr val="6B7280"/>
                </a:solidFill>
                <a:latin typeface="Carlito" pitchFamily="34" charset="0"/>
                <a:ea typeface="Carlito" pitchFamily="34" charset="-122"/>
                <a:cs typeface="Carlito" pitchFamily="34" charset="-120"/>
              </a:rPr>
              <a:t>Three layers, three threat surfaces, three sets of controls.</a:t>
            </a:r>
            <a:endParaRPr lang="en-US" sz="731" dirty="0"/>
          </a:p>
        </p:txBody>
      </p:sp>
      <p:sp>
        <p:nvSpPr>
          <p:cNvPr id="7" name="Text 4"/>
          <p:cNvSpPr/>
          <p:nvPr/>
        </p:nvSpPr>
        <p:spPr>
          <a:xfrm>
            <a:off x="8022766" y="718617"/>
            <a:ext cx="855286" cy="164592"/>
          </a:xfrm>
          <a:prstGeom prst="rect">
            <a:avLst/>
          </a:prstGeom>
          <a:noFill/>
          <a:ln/>
        </p:spPr>
        <p:txBody>
          <a:bodyPr wrap="none" lIns="0" tIns="0" rIns="0" bIns="0" rtlCol="0" anchor="t"/>
          <a:lstStyle/>
          <a:p>
            <a:pPr marL="0" indent="0" algn="l">
              <a:lnSpc>
                <a:spcPts val="928"/>
              </a:lnSpc>
              <a:buNone/>
            </a:pPr>
            <a:r>
              <a:rPr lang="en-US" sz="619" kern="0" spc="93" dirty="0">
                <a:solidFill>
                  <a:srgbClr val="6B7280"/>
                </a:solidFill>
                <a:latin typeface="Courier New" pitchFamily="34" charset="0"/>
                <a:ea typeface="Courier New" pitchFamily="34" charset="-122"/>
                <a:cs typeface="Courier New" pitchFamily="34" charset="-120"/>
              </a:rPr>
              <a:t>BLOCK DIAGRAM</a:t>
            </a:r>
            <a:endParaRPr lang="en-US" sz="619" dirty="0"/>
          </a:p>
        </p:txBody>
      </p:sp>
      <p:sp>
        <p:nvSpPr>
          <p:cNvPr id="8" name="Text 5"/>
          <p:cNvSpPr/>
          <p:nvPr/>
        </p:nvSpPr>
        <p:spPr>
          <a:xfrm>
            <a:off x="460772" y="1785603"/>
            <a:ext cx="6493669" cy="407194"/>
          </a:xfrm>
          <a:prstGeom prst="roundRect">
            <a:avLst>
              <a:gd name="adj" fmla="val 18713"/>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9" name="Text 6"/>
          <p:cNvSpPr/>
          <p:nvPr/>
        </p:nvSpPr>
        <p:spPr>
          <a:xfrm>
            <a:off x="621506" y="1924906"/>
            <a:ext cx="1513189" cy="164306"/>
          </a:xfrm>
          <a:prstGeom prst="rect">
            <a:avLst/>
          </a:prstGeom>
          <a:noFill/>
          <a:ln/>
        </p:spPr>
        <p:txBody>
          <a:bodyPr wrap="none" lIns="0" tIns="0" rIns="0" bIns="0" rtlCol="0" anchor="t"/>
          <a:lstStyle/>
          <a:p>
            <a:pPr marL="0" indent="0" algn="l">
              <a:lnSpc>
                <a:spcPts val="1013"/>
              </a:lnSpc>
              <a:buNone/>
            </a:pPr>
            <a:r>
              <a:rPr lang="en-US" sz="800" b="1" kern="0" spc="122" dirty="0">
                <a:solidFill>
                  <a:srgbClr val="C9A961"/>
                </a:solidFill>
                <a:latin typeface="Liberation Sans Narrow" pitchFamily="34" charset="0"/>
                <a:ea typeface="Liberation Sans Narrow" pitchFamily="34" charset="-122"/>
                <a:cs typeface="Liberation Sans Narrow" pitchFamily="34" charset="-120"/>
              </a:rPr>
              <a:t>01 · PERCEPTION</a:t>
            </a:r>
            <a:endParaRPr lang="en-US" sz="800" dirty="0"/>
          </a:p>
        </p:txBody>
      </p:sp>
      <p:sp>
        <p:nvSpPr>
          <p:cNvPr id="10" name="Text 7"/>
          <p:cNvSpPr/>
          <p:nvPr/>
        </p:nvSpPr>
        <p:spPr>
          <a:xfrm>
            <a:off x="1893094" y="1877186"/>
            <a:ext cx="471711" cy="224028"/>
          </a:xfrm>
          <a:prstGeom prst="roundRect">
            <a:avLst>
              <a:gd name="adj" fmla="val 4247449"/>
            </a:avLst>
          </a:prstGeom>
          <a:solidFill>
            <a:srgbClr val="FFFFFF">
              <a:alpha val="12000"/>
            </a:srgbClr>
          </a:solidFill>
          <a:ln w="7144">
            <a:solidFill>
              <a:srgbClr val="FFFFFF"/>
            </a:solidFill>
            <a:prstDash val="solid"/>
          </a:ln>
        </p:spPr>
        <p:txBody>
          <a:bodyPr wrap="square" rtlCol="0" anchor="ctr"/>
          <a:lstStyle/>
          <a:p>
            <a:pPr marL="0" indent="0">
              <a:buNone/>
            </a:pPr>
            <a:endParaRPr lang="en-US" dirty="0"/>
          </a:p>
        </p:txBody>
      </p:sp>
      <p:sp>
        <p:nvSpPr>
          <p:cNvPr id="11" name="Text 8"/>
          <p:cNvSpPr/>
          <p:nvPr/>
        </p:nvSpPr>
        <p:spPr>
          <a:xfrm>
            <a:off x="1886979" y="1889187"/>
            <a:ext cx="483941" cy="200025"/>
          </a:xfrm>
          <a:prstGeom prst="rect">
            <a:avLst/>
          </a:prstGeom>
          <a:noFill/>
          <a:ln/>
        </p:spPr>
        <p:txBody>
          <a:bodyPr wrap="none" lIns="0" tIns="0" rIns="0" bIns="0" rtlCol="0" anchor="ctr"/>
          <a:lstStyle/>
          <a:p>
            <a:pPr marL="0" indent="0" algn="ctr">
              <a:lnSpc>
                <a:spcPts val="1013"/>
              </a:lnSpc>
              <a:buNone/>
            </a:pPr>
            <a:r>
              <a:rPr lang="en-US" sz="800" dirty="0">
                <a:solidFill>
                  <a:srgbClr val="FFFFFF"/>
                </a:solidFill>
                <a:latin typeface="Carlito" pitchFamily="34" charset="0"/>
                <a:ea typeface="Carlito" pitchFamily="34" charset="-122"/>
                <a:cs typeface="Carlito" pitchFamily="34" charset="-120"/>
              </a:rPr>
              <a:t>Sensors</a:t>
            </a:r>
            <a:endParaRPr lang="en-US" sz="800" dirty="0"/>
          </a:p>
        </p:txBody>
      </p:sp>
      <p:sp>
        <p:nvSpPr>
          <p:cNvPr id="12" name="Text 9"/>
          <p:cNvSpPr/>
          <p:nvPr/>
        </p:nvSpPr>
        <p:spPr>
          <a:xfrm>
            <a:off x="2421954" y="1877186"/>
            <a:ext cx="519373" cy="224028"/>
          </a:xfrm>
          <a:prstGeom prst="roundRect">
            <a:avLst>
              <a:gd name="adj" fmla="val 4247449"/>
            </a:avLst>
          </a:prstGeom>
          <a:solidFill>
            <a:srgbClr val="FFFFFF">
              <a:alpha val="12000"/>
            </a:srgbClr>
          </a:solidFill>
          <a:ln w="7144">
            <a:solidFill>
              <a:srgbClr val="FFFFFF"/>
            </a:solidFill>
            <a:prstDash val="solid"/>
          </a:ln>
        </p:spPr>
        <p:txBody>
          <a:bodyPr wrap="square" rtlCol="0" anchor="ctr"/>
          <a:lstStyle/>
          <a:p>
            <a:pPr marL="0" indent="0">
              <a:buNone/>
            </a:pPr>
            <a:endParaRPr lang="en-US" dirty="0"/>
          </a:p>
        </p:txBody>
      </p:sp>
      <p:sp>
        <p:nvSpPr>
          <p:cNvPr id="13" name="Text 10"/>
          <p:cNvSpPr/>
          <p:nvPr/>
        </p:nvSpPr>
        <p:spPr>
          <a:xfrm>
            <a:off x="2377329" y="1889187"/>
            <a:ext cx="608625" cy="200025"/>
          </a:xfrm>
          <a:prstGeom prst="rect">
            <a:avLst/>
          </a:prstGeom>
          <a:noFill/>
          <a:ln/>
        </p:spPr>
        <p:txBody>
          <a:bodyPr wrap="none" lIns="0" tIns="0" rIns="0" bIns="0" rtlCol="0" anchor="ctr"/>
          <a:lstStyle/>
          <a:p>
            <a:pPr marL="0" indent="0" algn="ctr">
              <a:lnSpc>
                <a:spcPts val="1013"/>
              </a:lnSpc>
              <a:buNone/>
            </a:pPr>
            <a:r>
              <a:rPr lang="en-US" sz="800" dirty="0">
                <a:solidFill>
                  <a:srgbClr val="FFFFFF"/>
                </a:solidFill>
                <a:latin typeface="Carlito" pitchFamily="34" charset="0"/>
                <a:ea typeface="Carlito" pitchFamily="34" charset="-122"/>
                <a:cs typeface="Carlito" pitchFamily="34" charset="-120"/>
              </a:rPr>
              <a:t>Actuators</a:t>
            </a:r>
            <a:endParaRPr lang="en-US" sz="800" dirty="0"/>
          </a:p>
        </p:txBody>
      </p:sp>
      <p:sp>
        <p:nvSpPr>
          <p:cNvPr id="14" name="Text 11"/>
          <p:cNvSpPr/>
          <p:nvPr/>
        </p:nvSpPr>
        <p:spPr>
          <a:xfrm>
            <a:off x="2998477" y="1877186"/>
            <a:ext cx="357188" cy="224028"/>
          </a:xfrm>
          <a:prstGeom prst="roundRect">
            <a:avLst>
              <a:gd name="adj" fmla="val 4247449"/>
            </a:avLst>
          </a:prstGeom>
          <a:solidFill>
            <a:srgbClr val="FFFFFF">
              <a:alpha val="12000"/>
            </a:srgbClr>
          </a:solidFill>
          <a:ln w="7144">
            <a:solidFill>
              <a:srgbClr val="FFFFFF"/>
            </a:solidFill>
            <a:prstDash val="solid"/>
          </a:ln>
        </p:spPr>
        <p:txBody>
          <a:bodyPr wrap="square" rtlCol="0" anchor="ctr"/>
          <a:lstStyle/>
          <a:p>
            <a:pPr marL="0" indent="0">
              <a:buNone/>
            </a:pPr>
            <a:endParaRPr lang="en-US" dirty="0"/>
          </a:p>
        </p:txBody>
      </p:sp>
      <p:sp>
        <p:nvSpPr>
          <p:cNvPr id="15" name="Text 12"/>
          <p:cNvSpPr/>
          <p:nvPr/>
        </p:nvSpPr>
        <p:spPr>
          <a:xfrm>
            <a:off x="2998477" y="1889187"/>
            <a:ext cx="357188" cy="200025"/>
          </a:xfrm>
          <a:prstGeom prst="rect">
            <a:avLst/>
          </a:prstGeom>
          <a:noFill/>
          <a:ln/>
        </p:spPr>
        <p:txBody>
          <a:bodyPr wrap="none" lIns="0" tIns="0" rIns="0" bIns="0" rtlCol="0" anchor="ctr"/>
          <a:lstStyle/>
          <a:p>
            <a:pPr marL="0" indent="0" algn="ctr">
              <a:lnSpc>
                <a:spcPts val="1013"/>
              </a:lnSpc>
              <a:buNone/>
            </a:pPr>
            <a:r>
              <a:rPr lang="en-US" sz="800" dirty="0">
                <a:solidFill>
                  <a:srgbClr val="FFFFFF"/>
                </a:solidFill>
                <a:latin typeface="Carlito" pitchFamily="34" charset="0"/>
                <a:ea typeface="Carlito" pitchFamily="34" charset="-122"/>
                <a:cs typeface="Carlito" pitchFamily="34" charset="-120"/>
              </a:rPr>
              <a:t>RFID</a:t>
            </a:r>
            <a:endParaRPr lang="en-US" sz="800" dirty="0"/>
          </a:p>
        </p:txBody>
      </p:sp>
      <p:sp>
        <p:nvSpPr>
          <p:cNvPr id="16" name="Text 13"/>
          <p:cNvSpPr/>
          <p:nvPr/>
        </p:nvSpPr>
        <p:spPr>
          <a:xfrm>
            <a:off x="3412815" y="1877186"/>
            <a:ext cx="504974" cy="224028"/>
          </a:xfrm>
          <a:prstGeom prst="roundRect">
            <a:avLst>
              <a:gd name="adj" fmla="val 4247449"/>
            </a:avLst>
          </a:prstGeom>
          <a:solidFill>
            <a:srgbClr val="FFFFFF">
              <a:alpha val="12000"/>
            </a:srgbClr>
          </a:solidFill>
          <a:ln w="7144">
            <a:solidFill>
              <a:srgbClr val="FFFFFF"/>
            </a:solidFill>
            <a:prstDash val="solid"/>
          </a:ln>
        </p:spPr>
        <p:txBody>
          <a:bodyPr wrap="square" rtlCol="0" anchor="ctr"/>
          <a:lstStyle/>
          <a:p>
            <a:pPr marL="0" indent="0">
              <a:buNone/>
            </a:pPr>
            <a:endParaRPr lang="en-US" dirty="0"/>
          </a:p>
        </p:txBody>
      </p:sp>
      <p:sp>
        <p:nvSpPr>
          <p:cNvPr id="17" name="Text 14"/>
          <p:cNvSpPr/>
          <p:nvPr/>
        </p:nvSpPr>
        <p:spPr>
          <a:xfrm>
            <a:off x="3412815" y="1889187"/>
            <a:ext cx="504974" cy="200025"/>
          </a:xfrm>
          <a:prstGeom prst="rect">
            <a:avLst/>
          </a:prstGeom>
          <a:noFill/>
          <a:ln/>
        </p:spPr>
        <p:txBody>
          <a:bodyPr wrap="none" lIns="0" tIns="0" rIns="0" bIns="0" rtlCol="0" anchor="ctr"/>
          <a:lstStyle/>
          <a:p>
            <a:pPr marL="0" indent="0" algn="ctr">
              <a:lnSpc>
                <a:spcPts val="1013"/>
              </a:lnSpc>
              <a:buNone/>
            </a:pPr>
            <a:r>
              <a:rPr lang="en-US" sz="800" dirty="0">
                <a:solidFill>
                  <a:srgbClr val="FFFFFF"/>
                </a:solidFill>
                <a:latin typeface="Carlito" pitchFamily="34" charset="0"/>
                <a:ea typeface="Carlito" pitchFamily="34" charset="-122"/>
                <a:cs typeface="Carlito" pitchFamily="34" charset="-120"/>
              </a:rPr>
              <a:t>Cameras</a:t>
            </a:r>
            <a:endParaRPr lang="en-US" sz="800" dirty="0"/>
          </a:p>
        </p:txBody>
      </p:sp>
      <p:sp>
        <p:nvSpPr>
          <p:cNvPr id="18" name="Text 15"/>
          <p:cNvSpPr/>
          <p:nvPr/>
        </p:nvSpPr>
        <p:spPr>
          <a:xfrm>
            <a:off x="457200" y="2196368"/>
            <a:ext cx="6500813" cy="193427"/>
          </a:xfrm>
          <a:prstGeom prst="rect">
            <a:avLst/>
          </a:prstGeom>
          <a:noFill/>
          <a:ln/>
        </p:spPr>
        <p:txBody>
          <a:bodyPr wrap="square" lIns="157163" tIns="28575" rIns="157163" bIns="0" rtlCol="0" anchor="t"/>
          <a:lstStyle/>
          <a:p>
            <a:pPr marL="0" indent="0" algn="l">
              <a:lnSpc>
                <a:spcPts val="866"/>
              </a:lnSpc>
              <a:buNone/>
            </a:pPr>
            <a:r>
              <a:rPr lang="en-US" sz="800" dirty="0">
                <a:solidFill>
                  <a:srgbClr val="6B7280"/>
                </a:solidFill>
                <a:latin typeface="Carlito" pitchFamily="34" charset="0"/>
                <a:ea typeface="Carlito" pitchFamily="34" charset="-122"/>
                <a:cs typeface="Carlito" pitchFamily="34" charset="-120"/>
              </a:rPr>
              <a:t>Examples: temperature sensor, smart-lock solenoid, RFID badge reader</a:t>
            </a:r>
            <a:endParaRPr lang="en-US" sz="800" dirty="0"/>
          </a:p>
        </p:txBody>
      </p:sp>
      <p:sp>
        <p:nvSpPr>
          <p:cNvPr id="19" name="Text 16"/>
          <p:cNvSpPr/>
          <p:nvPr/>
        </p:nvSpPr>
        <p:spPr>
          <a:xfrm>
            <a:off x="3702248" y="2377753"/>
            <a:ext cx="10716" cy="171450"/>
          </a:xfrm>
          <a:prstGeom prst="rect">
            <a:avLst/>
          </a:prstGeom>
          <a:solidFill>
            <a:srgbClr val="0F2A4A"/>
          </a:solidFill>
          <a:ln/>
        </p:spPr>
        <p:txBody>
          <a:bodyPr wrap="square" rtlCol="0" anchor="ctr"/>
          <a:lstStyle/>
          <a:p>
            <a:pPr marL="0" indent="0">
              <a:buNone/>
            </a:pPr>
            <a:endParaRPr lang="en-US" dirty="0"/>
          </a:p>
        </p:txBody>
      </p:sp>
      <p:sp>
        <p:nvSpPr>
          <p:cNvPr id="20" name="Text 17"/>
          <p:cNvSpPr/>
          <p:nvPr/>
        </p:nvSpPr>
        <p:spPr>
          <a:xfrm>
            <a:off x="460772" y="2595637"/>
            <a:ext cx="6493669" cy="407194"/>
          </a:xfrm>
          <a:prstGeom prst="roundRect">
            <a:avLst>
              <a:gd name="adj" fmla="val 18713"/>
            </a:avLst>
          </a:prstGeom>
          <a:solidFill>
            <a:srgbClr val="C9A961"/>
          </a:solidFill>
          <a:ln w="7144">
            <a:solidFill>
              <a:srgbClr val="C9A961"/>
            </a:solidFill>
            <a:prstDash val="solid"/>
          </a:ln>
        </p:spPr>
        <p:txBody>
          <a:bodyPr wrap="square" rtlCol="0" anchor="ctr"/>
          <a:lstStyle/>
          <a:p>
            <a:pPr marL="0" indent="0">
              <a:buNone/>
            </a:pPr>
            <a:endParaRPr lang="en-US" dirty="0"/>
          </a:p>
        </p:txBody>
      </p:sp>
      <p:sp>
        <p:nvSpPr>
          <p:cNvPr id="21" name="Text 18"/>
          <p:cNvSpPr/>
          <p:nvPr/>
        </p:nvSpPr>
        <p:spPr>
          <a:xfrm>
            <a:off x="621506" y="2734940"/>
            <a:ext cx="1513189" cy="164306"/>
          </a:xfrm>
          <a:prstGeom prst="rect">
            <a:avLst/>
          </a:prstGeom>
          <a:noFill/>
          <a:ln/>
        </p:spPr>
        <p:txBody>
          <a:bodyPr wrap="none" lIns="0" tIns="0" rIns="0" bIns="0" rtlCol="0" anchor="t"/>
          <a:lstStyle/>
          <a:p>
            <a:pPr marL="0" indent="0" algn="l">
              <a:lnSpc>
                <a:spcPts val="1013"/>
              </a:lnSpc>
              <a:buNone/>
            </a:pPr>
            <a:r>
              <a:rPr lang="en-US" sz="800" b="1" kern="0" spc="122" dirty="0">
                <a:solidFill>
                  <a:srgbClr val="0F2A4A"/>
                </a:solidFill>
                <a:latin typeface="Liberation Sans Narrow" pitchFamily="34" charset="0"/>
                <a:ea typeface="Liberation Sans Narrow" pitchFamily="34" charset="-122"/>
                <a:cs typeface="Liberation Sans Narrow" pitchFamily="34" charset="-120"/>
              </a:rPr>
              <a:t>02 · NETWORK</a:t>
            </a:r>
            <a:endParaRPr lang="en-US" sz="800" dirty="0"/>
          </a:p>
        </p:txBody>
      </p:sp>
      <p:sp>
        <p:nvSpPr>
          <p:cNvPr id="22" name="Text 19"/>
          <p:cNvSpPr/>
          <p:nvPr/>
        </p:nvSpPr>
        <p:spPr>
          <a:xfrm>
            <a:off x="1893094" y="2687220"/>
            <a:ext cx="357076" cy="224028"/>
          </a:xfrm>
          <a:prstGeom prst="roundRect">
            <a:avLst>
              <a:gd name="adj" fmla="val 4247449"/>
            </a:avLst>
          </a:prstGeom>
          <a:solidFill>
            <a:srgbClr val="0F2A4A">
              <a:alpha val="10000"/>
            </a:srgbClr>
          </a:solidFill>
          <a:ln w="7144">
            <a:solidFill>
              <a:srgbClr val="0F2A4A"/>
            </a:solidFill>
            <a:prstDash val="solid"/>
          </a:ln>
        </p:spPr>
        <p:txBody>
          <a:bodyPr wrap="square" rtlCol="0" anchor="ctr"/>
          <a:lstStyle/>
          <a:p>
            <a:pPr marL="0" indent="0">
              <a:buNone/>
            </a:pPr>
            <a:endParaRPr lang="en-US" dirty="0"/>
          </a:p>
        </p:txBody>
      </p:sp>
      <p:sp>
        <p:nvSpPr>
          <p:cNvPr id="23" name="Text 20"/>
          <p:cNvSpPr/>
          <p:nvPr/>
        </p:nvSpPr>
        <p:spPr>
          <a:xfrm>
            <a:off x="1890205" y="2699221"/>
            <a:ext cx="362854"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Wi-Fi</a:t>
            </a:r>
            <a:endParaRPr lang="en-US" sz="800" dirty="0"/>
          </a:p>
        </p:txBody>
      </p:sp>
      <p:sp>
        <p:nvSpPr>
          <p:cNvPr id="24" name="Text 21"/>
          <p:cNvSpPr/>
          <p:nvPr/>
        </p:nvSpPr>
        <p:spPr>
          <a:xfrm>
            <a:off x="2307320" y="2687220"/>
            <a:ext cx="319236" cy="224028"/>
          </a:xfrm>
          <a:prstGeom prst="roundRect">
            <a:avLst>
              <a:gd name="adj" fmla="val 4247449"/>
            </a:avLst>
          </a:prstGeom>
          <a:solidFill>
            <a:srgbClr val="0F2A4A">
              <a:alpha val="10000"/>
            </a:srgbClr>
          </a:solidFill>
          <a:ln w="7144">
            <a:solidFill>
              <a:srgbClr val="0F2A4A"/>
            </a:solidFill>
            <a:prstDash val="solid"/>
          </a:ln>
        </p:spPr>
        <p:txBody>
          <a:bodyPr wrap="square" rtlCol="0" anchor="ctr"/>
          <a:lstStyle/>
          <a:p>
            <a:pPr marL="0" indent="0">
              <a:buNone/>
            </a:pPr>
            <a:endParaRPr lang="en-US" dirty="0"/>
          </a:p>
        </p:txBody>
      </p:sp>
      <p:sp>
        <p:nvSpPr>
          <p:cNvPr id="25" name="Text 22"/>
          <p:cNvSpPr/>
          <p:nvPr/>
        </p:nvSpPr>
        <p:spPr>
          <a:xfrm>
            <a:off x="2307320" y="2699221"/>
            <a:ext cx="319236"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BLE</a:t>
            </a:r>
            <a:endParaRPr lang="en-US" sz="800" dirty="0"/>
          </a:p>
        </p:txBody>
      </p:sp>
      <p:sp>
        <p:nvSpPr>
          <p:cNvPr id="26" name="Text 23"/>
          <p:cNvSpPr/>
          <p:nvPr/>
        </p:nvSpPr>
        <p:spPr>
          <a:xfrm>
            <a:off x="2683706" y="2687220"/>
            <a:ext cx="419360" cy="224028"/>
          </a:xfrm>
          <a:prstGeom prst="roundRect">
            <a:avLst>
              <a:gd name="adj" fmla="val 4247449"/>
            </a:avLst>
          </a:prstGeom>
          <a:solidFill>
            <a:srgbClr val="0F2A4A">
              <a:alpha val="10000"/>
            </a:srgbClr>
          </a:solidFill>
          <a:ln w="7144">
            <a:solidFill>
              <a:srgbClr val="0F2A4A"/>
            </a:solidFill>
            <a:prstDash val="solid"/>
          </a:ln>
        </p:spPr>
        <p:txBody>
          <a:bodyPr wrap="square" rtlCol="0" anchor="ctr"/>
          <a:lstStyle/>
          <a:p>
            <a:pPr marL="0" indent="0">
              <a:buNone/>
            </a:pPr>
            <a:endParaRPr lang="en-US" dirty="0"/>
          </a:p>
        </p:txBody>
      </p:sp>
      <p:sp>
        <p:nvSpPr>
          <p:cNvPr id="27" name="Text 24"/>
          <p:cNvSpPr/>
          <p:nvPr/>
        </p:nvSpPr>
        <p:spPr>
          <a:xfrm>
            <a:off x="2682587" y="2699221"/>
            <a:ext cx="421599"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Zigbee</a:t>
            </a:r>
            <a:endParaRPr lang="en-US" sz="800" dirty="0"/>
          </a:p>
        </p:txBody>
      </p:sp>
      <p:sp>
        <p:nvSpPr>
          <p:cNvPr id="28" name="Text 25"/>
          <p:cNvSpPr/>
          <p:nvPr/>
        </p:nvSpPr>
        <p:spPr>
          <a:xfrm>
            <a:off x="3160216" y="2687220"/>
            <a:ext cx="362099" cy="224028"/>
          </a:xfrm>
          <a:prstGeom prst="roundRect">
            <a:avLst>
              <a:gd name="adj" fmla="val 4247449"/>
            </a:avLst>
          </a:prstGeom>
          <a:solidFill>
            <a:srgbClr val="0F2A4A">
              <a:alpha val="10000"/>
            </a:srgbClr>
          </a:solidFill>
          <a:ln w="7144">
            <a:solidFill>
              <a:srgbClr val="0F2A4A"/>
            </a:solidFill>
            <a:prstDash val="solid"/>
          </a:ln>
        </p:spPr>
        <p:txBody>
          <a:bodyPr wrap="square" rtlCol="0" anchor="ctr"/>
          <a:lstStyle/>
          <a:p>
            <a:pPr marL="0" indent="0">
              <a:buNone/>
            </a:pPr>
            <a:endParaRPr lang="en-US" dirty="0"/>
          </a:p>
        </p:txBody>
      </p:sp>
      <p:sp>
        <p:nvSpPr>
          <p:cNvPr id="29" name="Text 26"/>
          <p:cNvSpPr/>
          <p:nvPr/>
        </p:nvSpPr>
        <p:spPr>
          <a:xfrm>
            <a:off x="3160216" y="2699221"/>
            <a:ext cx="362099"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LoRa</a:t>
            </a:r>
            <a:endParaRPr lang="en-US" sz="800" dirty="0"/>
          </a:p>
        </p:txBody>
      </p:sp>
      <p:sp>
        <p:nvSpPr>
          <p:cNvPr id="30" name="Text 27"/>
          <p:cNvSpPr/>
          <p:nvPr/>
        </p:nvSpPr>
        <p:spPr>
          <a:xfrm>
            <a:off x="3579465" y="2687220"/>
            <a:ext cx="400050" cy="224028"/>
          </a:xfrm>
          <a:prstGeom prst="roundRect">
            <a:avLst>
              <a:gd name="adj" fmla="val 4247449"/>
            </a:avLst>
          </a:prstGeom>
          <a:solidFill>
            <a:srgbClr val="0F2A4A">
              <a:alpha val="10000"/>
            </a:srgbClr>
          </a:solidFill>
          <a:ln w="7144">
            <a:solidFill>
              <a:srgbClr val="0F2A4A"/>
            </a:solidFill>
            <a:prstDash val="solid"/>
          </a:ln>
        </p:spPr>
        <p:txBody>
          <a:bodyPr wrap="square" rtlCol="0" anchor="ctr"/>
          <a:lstStyle/>
          <a:p>
            <a:pPr marL="0" indent="0">
              <a:buNone/>
            </a:pPr>
            <a:endParaRPr lang="en-US" dirty="0"/>
          </a:p>
        </p:txBody>
      </p:sp>
      <p:sp>
        <p:nvSpPr>
          <p:cNvPr id="31" name="Text 28"/>
          <p:cNvSpPr/>
          <p:nvPr/>
        </p:nvSpPr>
        <p:spPr>
          <a:xfrm>
            <a:off x="3579465" y="2699221"/>
            <a:ext cx="400050"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MQTT</a:t>
            </a:r>
            <a:endParaRPr lang="en-US" sz="800" dirty="0"/>
          </a:p>
        </p:txBody>
      </p:sp>
      <p:sp>
        <p:nvSpPr>
          <p:cNvPr id="32" name="Text 29"/>
          <p:cNvSpPr/>
          <p:nvPr/>
        </p:nvSpPr>
        <p:spPr>
          <a:xfrm>
            <a:off x="4036665" y="2687220"/>
            <a:ext cx="551073" cy="224028"/>
          </a:xfrm>
          <a:prstGeom prst="roundRect">
            <a:avLst>
              <a:gd name="adj" fmla="val 4247449"/>
            </a:avLst>
          </a:prstGeom>
          <a:solidFill>
            <a:srgbClr val="0F2A4A">
              <a:alpha val="10000"/>
            </a:srgbClr>
          </a:solidFill>
          <a:ln w="7144">
            <a:solidFill>
              <a:srgbClr val="0F2A4A"/>
            </a:solidFill>
            <a:prstDash val="solid"/>
          </a:ln>
        </p:spPr>
        <p:txBody>
          <a:bodyPr wrap="square" rtlCol="0" anchor="ctr"/>
          <a:lstStyle/>
          <a:p>
            <a:pPr marL="0" indent="0">
              <a:buNone/>
            </a:pPr>
            <a:endParaRPr lang="en-US" dirty="0"/>
          </a:p>
        </p:txBody>
      </p:sp>
      <p:sp>
        <p:nvSpPr>
          <p:cNvPr id="33" name="Text 30"/>
          <p:cNvSpPr/>
          <p:nvPr/>
        </p:nvSpPr>
        <p:spPr>
          <a:xfrm>
            <a:off x="4036665" y="2699221"/>
            <a:ext cx="551073"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6LoWPAN</a:t>
            </a:r>
            <a:endParaRPr lang="en-US" sz="800" dirty="0"/>
          </a:p>
        </p:txBody>
      </p:sp>
      <p:sp>
        <p:nvSpPr>
          <p:cNvPr id="34" name="Text 31"/>
          <p:cNvSpPr/>
          <p:nvPr/>
        </p:nvSpPr>
        <p:spPr>
          <a:xfrm>
            <a:off x="457200" y="3006403"/>
            <a:ext cx="6500813" cy="193427"/>
          </a:xfrm>
          <a:prstGeom prst="rect">
            <a:avLst/>
          </a:prstGeom>
          <a:noFill/>
          <a:ln/>
        </p:spPr>
        <p:txBody>
          <a:bodyPr wrap="square" lIns="157163" tIns="28575" rIns="157163" bIns="0" rtlCol="0" anchor="t"/>
          <a:lstStyle/>
          <a:p>
            <a:pPr marL="0" indent="0" algn="l">
              <a:lnSpc>
                <a:spcPts val="866"/>
              </a:lnSpc>
              <a:buNone/>
            </a:pPr>
            <a:r>
              <a:rPr lang="en-US" sz="800" dirty="0">
                <a:solidFill>
                  <a:srgbClr val="6B7280"/>
                </a:solidFill>
                <a:latin typeface="Carlito" pitchFamily="34" charset="0"/>
                <a:ea typeface="Carlito" pitchFamily="34" charset="-122"/>
                <a:cs typeface="Carlito" pitchFamily="34" charset="-120"/>
              </a:rPr>
              <a:t>Examples: TLS 1.3 over Wi-Fi, DTLS for constrained BLE, IPSec tunnels to cloud</a:t>
            </a:r>
            <a:endParaRPr lang="en-US" sz="800" dirty="0"/>
          </a:p>
        </p:txBody>
      </p:sp>
      <p:sp>
        <p:nvSpPr>
          <p:cNvPr id="35" name="Text 32"/>
          <p:cNvSpPr/>
          <p:nvPr/>
        </p:nvSpPr>
        <p:spPr>
          <a:xfrm>
            <a:off x="3702248" y="3187787"/>
            <a:ext cx="10716" cy="171450"/>
          </a:xfrm>
          <a:prstGeom prst="rect">
            <a:avLst/>
          </a:prstGeom>
          <a:solidFill>
            <a:srgbClr val="0F2A4A"/>
          </a:solidFill>
          <a:ln/>
        </p:spPr>
        <p:txBody>
          <a:bodyPr wrap="square" rtlCol="0" anchor="ctr"/>
          <a:lstStyle/>
          <a:p>
            <a:pPr marL="0" indent="0">
              <a:buNone/>
            </a:pPr>
            <a:endParaRPr lang="en-US" dirty="0"/>
          </a:p>
        </p:txBody>
      </p:sp>
      <p:sp>
        <p:nvSpPr>
          <p:cNvPr id="36" name="Text 33"/>
          <p:cNvSpPr/>
          <p:nvPr/>
        </p:nvSpPr>
        <p:spPr>
          <a:xfrm>
            <a:off x="460772" y="3405671"/>
            <a:ext cx="6493669" cy="407194"/>
          </a:xfrm>
          <a:prstGeom prst="roundRect">
            <a:avLst>
              <a:gd name="adj" fmla="val 18713"/>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37" name="Text 34"/>
          <p:cNvSpPr/>
          <p:nvPr/>
        </p:nvSpPr>
        <p:spPr>
          <a:xfrm>
            <a:off x="621506" y="3544974"/>
            <a:ext cx="1513189" cy="164306"/>
          </a:xfrm>
          <a:prstGeom prst="rect">
            <a:avLst/>
          </a:prstGeom>
          <a:noFill/>
          <a:ln/>
        </p:spPr>
        <p:txBody>
          <a:bodyPr wrap="none" lIns="0" tIns="0" rIns="0" bIns="0" rtlCol="0" anchor="t"/>
          <a:lstStyle/>
          <a:p>
            <a:pPr marL="0" indent="0" algn="l">
              <a:lnSpc>
                <a:spcPts val="1013"/>
              </a:lnSpc>
              <a:buNone/>
            </a:pPr>
            <a:r>
              <a:rPr lang="en-US" sz="800" b="1" kern="0" spc="122" dirty="0">
                <a:solidFill>
                  <a:srgbClr val="C9A961"/>
                </a:solidFill>
                <a:latin typeface="Liberation Sans Narrow" pitchFamily="34" charset="0"/>
                <a:ea typeface="Liberation Sans Narrow" pitchFamily="34" charset="-122"/>
                <a:cs typeface="Liberation Sans Narrow" pitchFamily="34" charset="-120"/>
              </a:rPr>
              <a:t>03 · APPLICATION</a:t>
            </a:r>
            <a:endParaRPr lang="en-US" sz="800" dirty="0"/>
          </a:p>
        </p:txBody>
      </p:sp>
      <p:sp>
        <p:nvSpPr>
          <p:cNvPr id="38" name="Text 35"/>
          <p:cNvSpPr/>
          <p:nvPr/>
        </p:nvSpPr>
        <p:spPr>
          <a:xfrm>
            <a:off x="1893094" y="3497254"/>
            <a:ext cx="381186" cy="224028"/>
          </a:xfrm>
          <a:prstGeom prst="roundRect">
            <a:avLst>
              <a:gd name="adj" fmla="val 4247449"/>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39" name="Text 36"/>
          <p:cNvSpPr/>
          <p:nvPr/>
        </p:nvSpPr>
        <p:spPr>
          <a:xfrm>
            <a:off x="1893094" y="3509256"/>
            <a:ext cx="381186"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Cloud</a:t>
            </a:r>
            <a:endParaRPr lang="en-US" sz="800" dirty="0"/>
          </a:p>
        </p:txBody>
      </p:sp>
      <p:sp>
        <p:nvSpPr>
          <p:cNvPr id="40" name="Text 37"/>
          <p:cNvSpPr/>
          <p:nvPr/>
        </p:nvSpPr>
        <p:spPr>
          <a:xfrm>
            <a:off x="2331430" y="3497254"/>
            <a:ext cx="581323" cy="224028"/>
          </a:xfrm>
          <a:prstGeom prst="roundRect">
            <a:avLst>
              <a:gd name="adj" fmla="val 4247449"/>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41" name="Text 38"/>
          <p:cNvSpPr/>
          <p:nvPr/>
        </p:nvSpPr>
        <p:spPr>
          <a:xfrm>
            <a:off x="2295000" y="3509256"/>
            <a:ext cx="654182"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Mobile App</a:t>
            </a:r>
            <a:endParaRPr lang="en-US" sz="800" dirty="0"/>
          </a:p>
        </p:txBody>
      </p:sp>
      <p:sp>
        <p:nvSpPr>
          <p:cNvPr id="42" name="Text 39"/>
          <p:cNvSpPr/>
          <p:nvPr/>
        </p:nvSpPr>
        <p:spPr>
          <a:xfrm>
            <a:off x="2969902" y="3497254"/>
            <a:ext cx="500286" cy="224028"/>
          </a:xfrm>
          <a:prstGeom prst="roundRect">
            <a:avLst>
              <a:gd name="adj" fmla="val 4247449"/>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43" name="Text 40"/>
          <p:cNvSpPr/>
          <p:nvPr/>
        </p:nvSpPr>
        <p:spPr>
          <a:xfrm>
            <a:off x="2915733" y="3509256"/>
            <a:ext cx="608625"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Analytics</a:t>
            </a:r>
            <a:endParaRPr lang="en-US" sz="800" dirty="0"/>
          </a:p>
        </p:txBody>
      </p:sp>
      <p:sp>
        <p:nvSpPr>
          <p:cNvPr id="44" name="Text 41"/>
          <p:cNvSpPr/>
          <p:nvPr/>
        </p:nvSpPr>
        <p:spPr>
          <a:xfrm>
            <a:off x="3527338" y="3497254"/>
            <a:ext cx="708013" cy="224028"/>
          </a:xfrm>
          <a:prstGeom prst="roundRect">
            <a:avLst>
              <a:gd name="adj" fmla="val 4247449"/>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45" name="Text 42"/>
          <p:cNvSpPr/>
          <p:nvPr/>
        </p:nvSpPr>
        <p:spPr>
          <a:xfrm>
            <a:off x="3479923" y="3509256"/>
            <a:ext cx="802843" cy="200025"/>
          </a:xfrm>
          <a:prstGeom prst="rect">
            <a:avLst/>
          </a:prstGeom>
          <a:noFill/>
          <a:ln/>
        </p:spPr>
        <p:txBody>
          <a:bodyPr wrap="none" lIns="0" tIns="0" rIns="0" bIns="0" rtlCol="0" anchor="ctr"/>
          <a:lstStyle/>
          <a:p>
            <a:pPr marL="0" indent="0" algn="ctr">
              <a:lnSpc>
                <a:spcPts val="1013"/>
              </a:lnSpc>
              <a:buNone/>
            </a:pPr>
            <a:r>
              <a:rPr lang="en-US" sz="800" dirty="0">
                <a:solidFill>
                  <a:srgbClr val="0F2A4A"/>
                </a:solidFill>
                <a:latin typeface="Carlito" pitchFamily="34" charset="0"/>
                <a:ea typeface="Carlito" pitchFamily="34" charset="-122"/>
                <a:cs typeface="Carlito" pitchFamily="34" charset="-120"/>
              </a:rPr>
              <a:t>Firmware OTA</a:t>
            </a:r>
            <a:endParaRPr lang="en-US" sz="800" dirty="0"/>
          </a:p>
        </p:txBody>
      </p:sp>
      <p:sp>
        <p:nvSpPr>
          <p:cNvPr id="46" name="Text 43"/>
          <p:cNvSpPr/>
          <p:nvPr/>
        </p:nvSpPr>
        <p:spPr>
          <a:xfrm>
            <a:off x="457200" y="3816437"/>
            <a:ext cx="6500813" cy="193427"/>
          </a:xfrm>
          <a:prstGeom prst="rect">
            <a:avLst/>
          </a:prstGeom>
          <a:noFill/>
          <a:ln/>
        </p:spPr>
        <p:txBody>
          <a:bodyPr wrap="square" lIns="157163" tIns="28575" rIns="157163" bIns="0" rtlCol="0" anchor="t"/>
          <a:lstStyle/>
          <a:p>
            <a:pPr marL="0" indent="0" algn="l">
              <a:lnSpc>
                <a:spcPts val="866"/>
              </a:lnSpc>
              <a:buNone/>
            </a:pPr>
            <a:r>
              <a:rPr lang="en-US" sz="800" dirty="0">
                <a:solidFill>
                  <a:srgbClr val="6B7280"/>
                </a:solidFill>
                <a:latin typeface="Carlito" pitchFamily="34" charset="0"/>
                <a:ea typeface="Carlito" pitchFamily="34" charset="-122"/>
                <a:cs typeface="Carlito" pitchFamily="34" charset="-120"/>
              </a:rPr>
              <a:t>Examples: AWS IoT Core, Google Cloud IoT, custom mobile companion app</a:t>
            </a:r>
            <a:endParaRPr lang="en-US" sz="800" dirty="0"/>
          </a:p>
        </p:txBody>
      </p:sp>
      <p:sp>
        <p:nvSpPr>
          <p:cNvPr id="47" name="Shape 44"/>
          <p:cNvSpPr/>
          <p:nvPr/>
        </p:nvSpPr>
        <p:spPr>
          <a:xfrm>
            <a:off x="7118747" y="936501"/>
            <a:ext cx="0" cy="3864099"/>
          </a:xfrm>
          <a:prstGeom prst="line">
            <a:avLst/>
          </a:prstGeom>
          <a:noFill/>
          <a:ln w="7144">
            <a:solidFill>
              <a:srgbClr val="D8DEE6"/>
            </a:solidFill>
            <a:prstDash val="solid"/>
          </a:ln>
        </p:spPr>
      </p:sp>
      <p:sp>
        <p:nvSpPr>
          <p:cNvPr id="48" name="Text 45"/>
          <p:cNvSpPr/>
          <p:nvPr/>
        </p:nvSpPr>
        <p:spPr>
          <a:xfrm>
            <a:off x="7279481" y="936501"/>
            <a:ext cx="1407319"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LIVE EXAMPLE</a:t>
            </a:r>
            <a:endParaRPr lang="en-US" sz="800" dirty="0"/>
          </a:p>
        </p:txBody>
      </p:sp>
      <p:sp>
        <p:nvSpPr>
          <p:cNvPr id="49" name="Text 46"/>
          <p:cNvSpPr/>
          <p:nvPr/>
        </p:nvSpPr>
        <p:spPr>
          <a:xfrm>
            <a:off x="7279481" y="1140098"/>
            <a:ext cx="1407319" cy="987552"/>
          </a:xfrm>
          <a:prstGeom prst="rect">
            <a:avLst/>
          </a:prstGeom>
          <a:noFill/>
          <a:ln/>
        </p:spPr>
        <p:txBody>
          <a:bodyPr wrap="square" lIns="0" tIns="0" rIns="0" bIns="0" rtlCol="0" anchor="t"/>
          <a:lstStyle/>
          <a:p>
            <a:pPr marL="0" indent="0" algn="l">
              <a:lnSpc>
                <a:spcPts val="1013"/>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Mirai botnet (2016)</a:t>
            </a:r>
            <a:r>
              <a:rPr lang="en-US" sz="800" dirty="0">
                <a:solidFill>
                  <a:srgbClr val="4A5568"/>
                </a:solidFill>
                <a:latin typeface="Carlito" pitchFamily="34" charset="0"/>
                <a:ea typeface="Carlito" pitchFamily="34" charset="-122"/>
                <a:cs typeface="Carlito" pitchFamily="34" charset="-120"/>
              </a:rPr>
              <a:t> compromised 600K+ IoT cameras at the perception layer using default Telnet credentials, then flooded Dyn DNS at the network layer — taking down Twitter, Netflix, and Reddit for hours.</a:t>
            </a:r>
            <a:endParaRPr lang="en-US" sz="800" dirty="0"/>
          </a:p>
        </p:txBody>
      </p:sp>
      <p:sp>
        <p:nvSpPr>
          <p:cNvPr id="50" name="Text 47"/>
          <p:cNvSpPr/>
          <p:nvPr/>
        </p:nvSpPr>
        <p:spPr>
          <a:xfrm>
            <a:off x="7283053" y="4454128"/>
            <a:ext cx="1400175" cy="342900"/>
          </a:xfrm>
          <a:prstGeom prst="roundRect">
            <a:avLst>
              <a:gd name="adj" fmla="val 2775000"/>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51" name="Text 48"/>
          <p:cNvSpPr/>
          <p:nvPr/>
        </p:nvSpPr>
        <p:spPr>
          <a:xfrm>
            <a:off x="7279481" y="4450556"/>
            <a:ext cx="1407319" cy="350044"/>
          </a:xfrm>
          <a:prstGeom prst="rect">
            <a:avLst/>
          </a:prstGeom>
          <a:noFill/>
          <a:ln/>
        </p:spPr>
        <p:txBody>
          <a:bodyPr wrap="square" lIns="85725" tIns="28575" rIns="85725" bIns="28575" rtlCol="0" anchor="t"/>
          <a:lstStyle/>
          <a:p>
            <a:pPr marL="0" indent="0" algn="l">
              <a:lnSpc>
                <a:spcPts val="1097"/>
              </a:lnSpc>
              <a:buNone/>
            </a:pPr>
            <a:r>
              <a:rPr lang="en-US" sz="800" dirty="0">
                <a:solidFill>
                  <a:srgbClr val="0F2A4A"/>
                </a:solidFill>
                <a:latin typeface="Carlito" pitchFamily="34" charset="0"/>
                <a:ea typeface="Carlito" pitchFamily="34" charset="-122"/>
                <a:cs typeface="Carlito" pitchFamily="34" charset="-120"/>
              </a:rPr>
              <a:t>Application — Smart City Surveillance</a:t>
            </a:r>
            <a:endParaRPr lang="en-US" sz="800" dirty="0"/>
          </a:p>
        </p:txBody>
      </p:sp>
      <p:sp>
        <p:nvSpPr>
          <p:cNvPr id="52" name="Text 49"/>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53" name="Text 50"/>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04 / 21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05395"/>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57175"/>
            <a:ext cx="7060927" cy="164592"/>
          </a:xfrm>
          <a:prstGeom prst="rect">
            <a:avLst/>
          </a:prstGeom>
          <a:noFill/>
          <a:ln/>
        </p:spPr>
        <p:txBody>
          <a:bodyPr wrap="none" lIns="0" tIns="0" rIns="0" bIns="0" rtlCol="0" anchor="t"/>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02 · SYSTEMS SECURITY</a:t>
            </a:r>
            <a:endParaRPr lang="en-US" sz="800" dirty="0"/>
          </a:p>
        </p:txBody>
      </p:sp>
      <p:sp>
        <p:nvSpPr>
          <p:cNvPr id="5" name="Text 2"/>
          <p:cNvSpPr/>
          <p:nvPr/>
        </p:nvSpPr>
        <p:spPr>
          <a:xfrm>
            <a:off x="7532415" y="267891"/>
            <a:ext cx="1403751" cy="164592"/>
          </a:xfrm>
          <a:prstGeom prst="rect">
            <a:avLst/>
          </a:prstGeom>
          <a:noFill/>
          <a:ln/>
        </p:spPr>
        <p:txBody>
          <a:bodyPr wrap="none" lIns="0" tIns="0" rIns="0" bIns="0" rtlCol="0" anchor="t"/>
          <a:lstStyle/>
          <a:p>
            <a:pPr marL="0" indent="0" algn="l">
              <a:lnSpc>
                <a:spcPts val="928"/>
              </a:lnSpc>
              <a:buNone/>
            </a:pPr>
            <a:r>
              <a:rPr lang="en-US" sz="800" kern="0" spc="93" dirty="0">
                <a:solidFill>
                  <a:srgbClr val="6B7280"/>
                </a:solidFill>
                <a:latin typeface="Liberation Sans Narrow" pitchFamily="34" charset="0"/>
                <a:ea typeface="Liberation Sans Narrow" pitchFamily="34" charset="-122"/>
                <a:cs typeface="Liberation Sans Narrow" pitchFamily="34" charset="-120"/>
              </a:rPr>
              <a:t>CONCEPT · LECTURE 2 / 9</a:t>
            </a:r>
            <a:endParaRPr lang="en-US" sz="800" dirty="0"/>
          </a:p>
        </p:txBody>
      </p:sp>
      <p:sp>
        <p:nvSpPr>
          <p:cNvPr id="6" name="Text 3"/>
          <p:cNvSpPr/>
          <p:nvPr/>
        </p:nvSpPr>
        <p:spPr>
          <a:xfrm>
            <a:off x="457200" y="496491"/>
            <a:ext cx="5184554" cy="283897"/>
          </a:xfrm>
          <a:prstGeom prst="rect">
            <a:avLst/>
          </a:prstGeom>
          <a:noFill/>
          <a:ln/>
        </p:spPr>
        <p:txBody>
          <a:bodyPr wrap="none" lIns="0" tIns="0" rIns="0" bIns="0" rtlCol="0" anchor="t"/>
          <a:lstStyle/>
          <a:p>
            <a:pPr marL="0" indent="0" algn="l">
              <a:lnSpc>
                <a:spcPts val="2070"/>
              </a:lnSpc>
              <a:buNone/>
            </a:pPr>
            <a:r>
              <a:rPr lang="en-US" sz="1800" b="1" kern="0" spc="-27" dirty="0">
                <a:solidFill>
                  <a:srgbClr val="0F2A4A"/>
                </a:solidFill>
                <a:latin typeface="Tinos" pitchFamily="34" charset="0"/>
                <a:ea typeface="Tinos" pitchFamily="34" charset="-122"/>
                <a:cs typeface="Tinos" pitchFamily="34" charset="-120"/>
              </a:rPr>
              <a:t>Hardware Roots of Trust</a:t>
            </a:r>
            <a:endParaRPr lang="en-US" sz="1800" dirty="0"/>
          </a:p>
        </p:txBody>
      </p:sp>
      <p:sp>
        <p:nvSpPr>
          <p:cNvPr id="7" name="Text 4"/>
          <p:cNvSpPr/>
          <p:nvPr/>
        </p:nvSpPr>
        <p:spPr>
          <a:xfrm>
            <a:off x="457200" y="845083"/>
            <a:ext cx="4937671" cy="538139"/>
          </a:xfrm>
          <a:prstGeom prst="rect">
            <a:avLst/>
          </a:prstGeom>
          <a:noFill/>
          <a:ln/>
        </p:spPr>
        <p:txBody>
          <a:bodyPr wrap="square" lIns="0" tIns="0" rIns="0" bIns="0" rtlCol="0" anchor="t"/>
          <a:lstStyle/>
          <a:p>
            <a:pPr marL="0" indent="0" algn="l">
              <a:lnSpc>
                <a:spcPts val="1308"/>
              </a:lnSpc>
              <a:buNone/>
            </a:pPr>
            <a:r>
              <a:rPr lang="en-US" sz="844" dirty="0">
                <a:solidFill>
                  <a:srgbClr val="4A5568"/>
                </a:solidFill>
                <a:latin typeface="Carlito" pitchFamily="34" charset="0"/>
                <a:ea typeface="Carlito" pitchFamily="34" charset="-122"/>
                <a:cs typeface="Carlito" pitchFamily="34" charset="-120"/>
              </a:rPr>
              <a:t>Systems security is the lowest layer of defense — the silicon, firmware, and operating-system primitives that establish trust before any application runs. Without a verifiable hardware root, every higher layer inherits an untrustworthy foundation.</a:t>
            </a:r>
            <a:endParaRPr lang="en-US" sz="844" dirty="0"/>
          </a:p>
        </p:txBody>
      </p:sp>
      <p:sp>
        <p:nvSpPr>
          <p:cNvPr id="8" name="Shape 5"/>
          <p:cNvSpPr/>
          <p:nvPr/>
        </p:nvSpPr>
        <p:spPr>
          <a:xfrm>
            <a:off x="457200" y="1691618"/>
            <a:ext cx="4937671" cy="0"/>
          </a:xfrm>
          <a:prstGeom prst="line">
            <a:avLst/>
          </a:prstGeom>
          <a:noFill/>
          <a:ln w="7144">
            <a:solidFill>
              <a:srgbClr val="E5E9EE"/>
            </a:solidFill>
            <a:prstDash val="solid"/>
          </a:ln>
        </p:spPr>
      </p:sp>
      <p:sp>
        <p:nvSpPr>
          <p:cNvPr id="9" name="Text 6"/>
          <p:cNvSpPr/>
          <p:nvPr/>
        </p:nvSpPr>
        <p:spPr>
          <a:xfrm>
            <a:off x="457200" y="1550529"/>
            <a:ext cx="57150" cy="57150"/>
          </a:xfrm>
          <a:prstGeom prst="ellipse">
            <a:avLst/>
          </a:prstGeom>
          <a:solidFill>
            <a:srgbClr val="C9A961"/>
          </a:solidFill>
          <a:ln/>
        </p:spPr>
        <p:txBody>
          <a:bodyPr wrap="square" rtlCol="0" anchor="ctr"/>
          <a:lstStyle/>
          <a:p>
            <a:pPr marL="0" indent="0">
              <a:buNone/>
            </a:pPr>
            <a:endParaRPr lang="en-US" dirty="0"/>
          </a:p>
        </p:txBody>
      </p:sp>
      <p:sp>
        <p:nvSpPr>
          <p:cNvPr id="10" name="Text 7"/>
          <p:cNvSpPr/>
          <p:nvPr/>
        </p:nvSpPr>
        <p:spPr>
          <a:xfrm>
            <a:off x="642938" y="1493379"/>
            <a:ext cx="4751933" cy="144661"/>
          </a:xfrm>
          <a:prstGeom prst="rect">
            <a:avLst/>
          </a:prstGeom>
          <a:noFill/>
          <a:ln/>
        </p:spPr>
        <p:txBody>
          <a:bodyPr wrap="square" lIns="0" tIns="0" rIns="0" bIns="0" rtlCol="0" anchor="t"/>
          <a:lstStyle/>
          <a:p>
            <a:pPr marL="0" indent="0" algn="l">
              <a:lnSpc>
                <a:spcPts val="1139"/>
              </a:lnSpc>
              <a:buNone/>
            </a:pPr>
            <a:r>
              <a:rPr lang="en-US" sz="759" dirty="0">
                <a:solidFill>
                  <a:srgbClr val="0F2A4A"/>
                </a:solidFill>
                <a:latin typeface="Carlito" pitchFamily="34" charset="0"/>
                <a:ea typeface="Carlito" pitchFamily="34" charset="-122"/>
                <a:cs typeface="Carlito" pitchFamily="34" charset="-120"/>
              </a:rPr>
              <a:t>Secure Boot</a:t>
            </a:r>
            <a:r>
              <a:rPr lang="en-US" sz="759" dirty="0">
                <a:solidFill>
                  <a:srgbClr val="1A2332"/>
                </a:solidFill>
                <a:latin typeface="Carlito" pitchFamily="34" charset="0"/>
                <a:ea typeface="Carlito" pitchFamily="34" charset="-122"/>
                <a:cs typeface="Carlito" pitchFamily="34" charset="-120"/>
              </a:rPr>
              <a:t> — verify cryptographic signatures at every stage from ROM to kernel, halting on mismatch.</a:t>
            </a:r>
            <a:endParaRPr lang="en-US" sz="759" dirty="0"/>
          </a:p>
        </p:txBody>
      </p:sp>
      <p:sp>
        <p:nvSpPr>
          <p:cNvPr id="11" name="Shape 8"/>
          <p:cNvSpPr/>
          <p:nvPr/>
        </p:nvSpPr>
        <p:spPr>
          <a:xfrm>
            <a:off x="457200" y="2088096"/>
            <a:ext cx="4937671" cy="0"/>
          </a:xfrm>
          <a:prstGeom prst="line">
            <a:avLst/>
          </a:prstGeom>
          <a:noFill/>
          <a:ln w="7144">
            <a:solidFill>
              <a:srgbClr val="E5E9EE"/>
            </a:solidFill>
            <a:prstDash val="solid"/>
          </a:ln>
        </p:spPr>
      </p:sp>
      <p:sp>
        <p:nvSpPr>
          <p:cNvPr id="12" name="Text 9"/>
          <p:cNvSpPr/>
          <p:nvPr/>
        </p:nvSpPr>
        <p:spPr>
          <a:xfrm>
            <a:off x="457200" y="1802346"/>
            <a:ext cx="57150" cy="57150"/>
          </a:xfrm>
          <a:prstGeom prst="ellipse">
            <a:avLst/>
          </a:prstGeom>
          <a:solidFill>
            <a:srgbClr val="C9A961"/>
          </a:solidFill>
          <a:ln/>
        </p:spPr>
        <p:txBody>
          <a:bodyPr wrap="square" rtlCol="0" anchor="ctr"/>
          <a:lstStyle/>
          <a:p>
            <a:pPr marL="0" indent="0">
              <a:buNone/>
            </a:pPr>
            <a:endParaRPr lang="en-US" dirty="0"/>
          </a:p>
        </p:txBody>
      </p:sp>
      <p:sp>
        <p:nvSpPr>
          <p:cNvPr id="13" name="Text 10"/>
          <p:cNvSpPr/>
          <p:nvPr/>
        </p:nvSpPr>
        <p:spPr>
          <a:xfrm>
            <a:off x="642938" y="1745196"/>
            <a:ext cx="4751933" cy="289322"/>
          </a:xfrm>
          <a:prstGeom prst="rect">
            <a:avLst/>
          </a:prstGeom>
          <a:noFill/>
          <a:ln/>
        </p:spPr>
        <p:txBody>
          <a:bodyPr wrap="square" lIns="0" tIns="0" rIns="0" bIns="0" rtlCol="0" anchor="t"/>
          <a:lstStyle/>
          <a:p>
            <a:pPr marL="0" indent="0" algn="l">
              <a:lnSpc>
                <a:spcPts val="1139"/>
              </a:lnSpc>
              <a:buNone/>
            </a:pPr>
            <a:r>
              <a:rPr lang="en-US" sz="800" dirty="0">
                <a:solidFill>
                  <a:srgbClr val="0F2A4A"/>
                </a:solidFill>
                <a:latin typeface="Carlito" pitchFamily="34" charset="0"/>
                <a:ea typeface="Carlito" pitchFamily="34" charset="-122"/>
                <a:cs typeface="Carlito" pitchFamily="34" charset="-120"/>
              </a:rPr>
              <a:t>Trusted Execution Environment (TEE)</a:t>
            </a:r>
            <a:r>
              <a:rPr lang="en-US" sz="800" dirty="0">
                <a:solidFill>
                  <a:srgbClr val="1A2332"/>
                </a:solidFill>
                <a:latin typeface="Carlito" pitchFamily="34" charset="0"/>
                <a:ea typeface="Carlito" pitchFamily="34" charset="-122"/>
                <a:cs typeface="Carlito" pitchFamily="34" charset="-120"/>
              </a:rPr>
              <a:t> — isolated enclave (e.g. ARM TrustZone) for keys, biometrics, and DRM.</a:t>
            </a:r>
            <a:endParaRPr lang="en-US" sz="800" dirty="0"/>
          </a:p>
        </p:txBody>
      </p:sp>
      <p:sp>
        <p:nvSpPr>
          <p:cNvPr id="14" name="Text 11"/>
          <p:cNvSpPr/>
          <p:nvPr/>
        </p:nvSpPr>
        <p:spPr>
          <a:xfrm>
            <a:off x="457200" y="2198824"/>
            <a:ext cx="57150" cy="57150"/>
          </a:xfrm>
          <a:prstGeom prst="ellipse">
            <a:avLst/>
          </a:prstGeom>
          <a:solidFill>
            <a:srgbClr val="C9A961"/>
          </a:solidFill>
          <a:ln/>
        </p:spPr>
        <p:txBody>
          <a:bodyPr wrap="square" rtlCol="0" anchor="ctr"/>
          <a:lstStyle/>
          <a:p>
            <a:pPr marL="0" indent="0">
              <a:buNone/>
            </a:pPr>
            <a:endParaRPr lang="en-US" dirty="0"/>
          </a:p>
        </p:txBody>
      </p:sp>
      <p:sp>
        <p:nvSpPr>
          <p:cNvPr id="15" name="Text 12"/>
          <p:cNvSpPr/>
          <p:nvPr/>
        </p:nvSpPr>
        <p:spPr>
          <a:xfrm>
            <a:off x="642938" y="2141674"/>
            <a:ext cx="4751933" cy="164592"/>
          </a:xfrm>
          <a:prstGeom prst="rect">
            <a:avLst/>
          </a:prstGeom>
          <a:noFill/>
          <a:ln/>
        </p:spPr>
        <p:txBody>
          <a:bodyPr wrap="square" lIns="0" tIns="0" rIns="0" bIns="0" rtlCol="0" anchor="t"/>
          <a:lstStyle/>
          <a:p>
            <a:pPr marL="0" indent="0" algn="l">
              <a:lnSpc>
                <a:spcPts val="1139"/>
              </a:lnSpc>
              <a:buNone/>
            </a:pPr>
            <a:r>
              <a:rPr lang="en-US" sz="759" dirty="0">
                <a:solidFill>
                  <a:srgbClr val="0F2A4A"/>
                </a:solidFill>
                <a:latin typeface="Carlito" pitchFamily="34" charset="0"/>
                <a:ea typeface="Carlito" pitchFamily="34" charset="-122"/>
                <a:cs typeface="Carlito" pitchFamily="34" charset="-120"/>
              </a:rPr>
              <a:t>Hardware Crypto Engine</a:t>
            </a:r>
            <a:r>
              <a:rPr lang="en-US" sz="759" dirty="0">
                <a:solidFill>
                  <a:srgbClr val="1A2332"/>
                </a:solidFill>
                <a:latin typeface="Carlito" pitchFamily="34" charset="0"/>
                <a:ea typeface="Carlito" pitchFamily="34" charset="-122"/>
                <a:cs typeface="Carlito" pitchFamily="34" charset="-120"/>
              </a:rPr>
              <a:t> — on-chip AES, ECC, TRNG, and key storage in tamper-resistant secure elements.</a:t>
            </a:r>
            <a:endParaRPr lang="en-US" sz="759" dirty="0"/>
          </a:p>
        </p:txBody>
      </p:sp>
      <p:sp>
        <p:nvSpPr>
          <p:cNvPr id="16" name="Text 13"/>
          <p:cNvSpPr/>
          <p:nvPr/>
        </p:nvSpPr>
        <p:spPr>
          <a:xfrm>
            <a:off x="5580608" y="496491"/>
            <a:ext cx="3291818" cy="480752"/>
          </a:xfrm>
          <a:prstGeom prst="roundRect">
            <a:avLst>
              <a:gd name="adj" fmla="val 15850"/>
            </a:avLst>
          </a:prstGeom>
          <a:solidFill>
            <a:srgbClr val="FFFFFF"/>
          </a:solidFill>
          <a:ln/>
        </p:spPr>
        <p:txBody>
          <a:bodyPr wrap="square" rtlCol="0" anchor="ctr"/>
          <a:lstStyle/>
          <a:p>
            <a:pPr marL="0" indent="0">
              <a:buNone/>
            </a:pPr>
            <a:endParaRPr lang="en-US" dirty="0"/>
          </a:p>
        </p:txBody>
      </p:sp>
      <p:sp>
        <p:nvSpPr>
          <p:cNvPr id="17" name="Shape 14"/>
          <p:cNvSpPr/>
          <p:nvPr/>
        </p:nvSpPr>
        <p:spPr>
          <a:xfrm>
            <a:off x="5580608" y="500063"/>
            <a:ext cx="3291818" cy="0"/>
          </a:xfrm>
          <a:prstGeom prst="line">
            <a:avLst/>
          </a:prstGeom>
          <a:noFill/>
          <a:ln w="7144">
            <a:solidFill>
              <a:srgbClr val="D8DEE6"/>
            </a:solidFill>
            <a:prstDash val="solid"/>
          </a:ln>
        </p:spPr>
      </p:sp>
      <p:sp>
        <p:nvSpPr>
          <p:cNvPr id="18" name="Shape 15"/>
          <p:cNvSpPr/>
          <p:nvPr/>
        </p:nvSpPr>
        <p:spPr>
          <a:xfrm>
            <a:off x="8868854" y="496491"/>
            <a:ext cx="0" cy="480752"/>
          </a:xfrm>
          <a:prstGeom prst="line">
            <a:avLst/>
          </a:prstGeom>
          <a:noFill/>
          <a:ln w="7144">
            <a:solidFill>
              <a:srgbClr val="D8DEE6"/>
            </a:solidFill>
            <a:prstDash val="solid"/>
          </a:ln>
        </p:spPr>
      </p:sp>
      <p:sp>
        <p:nvSpPr>
          <p:cNvPr id="19" name="Shape 16"/>
          <p:cNvSpPr/>
          <p:nvPr/>
        </p:nvSpPr>
        <p:spPr>
          <a:xfrm>
            <a:off x="5580608" y="973671"/>
            <a:ext cx="3291818" cy="0"/>
          </a:xfrm>
          <a:prstGeom prst="line">
            <a:avLst/>
          </a:prstGeom>
          <a:noFill/>
          <a:ln w="7144">
            <a:solidFill>
              <a:srgbClr val="D8DEE6"/>
            </a:solidFill>
            <a:prstDash val="solid"/>
          </a:ln>
        </p:spPr>
      </p:sp>
      <p:sp>
        <p:nvSpPr>
          <p:cNvPr id="20" name="Shape 17"/>
          <p:cNvSpPr/>
          <p:nvPr/>
        </p:nvSpPr>
        <p:spPr>
          <a:xfrm>
            <a:off x="5591324" y="496491"/>
            <a:ext cx="0" cy="480752"/>
          </a:xfrm>
          <a:prstGeom prst="line">
            <a:avLst/>
          </a:prstGeom>
          <a:noFill/>
          <a:ln w="21431">
            <a:solidFill>
              <a:srgbClr val="C9A961"/>
            </a:solidFill>
            <a:prstDash val="solid"/>
          </a:ln>
        </p:spPr>
      </p:sp>
      <p:sp>
        <p:nvSpPr>
          <p:cNvPr id="21" name="Text 18"/>
          <p:cNvSpPr/>
          <p:nvPr/>
        </p:nvSpPr>
        <p:spPr>
          <a:xfrm>
            <a:off x="5716339" y="589359"/>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22" name="Text 19"/>
          <p:cNvSpPr/>
          <p:nvPr/>
        </p:nvSpPr>
        <p:spPr>
          <a:xfrm>
            <a:off x="5916364" y="596503"/>
            <a:ext cx="2834618" cy="164592"/>
          </a:xfrm>
          <a:prstGeom prst="rect">
            <a:avLst/>
          </a:prstGeom>
          <a:noFill/>
          <a:ln/>
        </p:spPr>
        <p:txBody>
          <a:bodyPr wrap="none" lIns="0" tIns="0" rIns="0" bIns="0" rtlCol="0" anchor="t"/>
          <a:lstStyle/>
          <a:p>
            <a:pPr marL="0" indent="0" algn="l">
              <a:lnSpc>
                <a:spcPts val="1097"/>
              </a:lnSpc>
              <a:buNone/>
            </a:pPr>
            <a:r>
              <a:rPr lang="en-US" sz="800" kern="0" spc="44" dirty="0">
                <a:solidFill>
                  <a:srgbClr val="C9A961"/>
                </a:solidFill>
                <a:latin typeface="Liberation Sans Narrow" pitchFamily="34" charset="0"/>
                <a:ea typeface="Liberation Sans Narrow" pitchFamily="34" charset="-122"/>
                <a:cs typeface="Liberation Sans Narrow" pitchFamily="34" charset="-120"/>
              </a:rPr>
              <a:t>TPM 2.0</a:t>
            </a:r>
            <a:endParaRPr lang="en-US" sz="800" dirty="0"/>
          </a:p>
        </p:txBody>
      </p:sp>
      <p:sp>
        <p:nvSpPr>
          <p:cNvPr id="23" name="Text 20"/>
          <p:cNvSpPr/>
          <p:nvPr/>
        </p:nvSpPr>
        <p:spPr>
          <a:xfrm>
            <a:off x="5716339" y="764381"/>
            <a:ext cx="3144371"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Trusted Platform Module, discrete crypto chip</a:t>
            </a:r>
            <a:endParaRPr lang="en-US" sz="800" dirty="0"/>
          </a:p>
        </p:txBody>
      </p:sp>
      <p:sp>
        <p:nvSpPr>
          <p:cNvPr id="24" name="Text 21"/>
          <p:cNvSpPr/>
          <p:nvPr/>
        </p:nvSpPr>
        <p:spPr>
          <a:xfrm>
            <a:off x="5580608" y="1048680"/>
            <a:ext cx="3291818" cy="480752"/>
          </a:xfrm>
          <a:prstGeom prst="roundRect">
            <a:avLst>
              <a:gd name="adj" fmla="val 15850"/>
            </a:avLst>
          </a:prstGeom>
          <a:solidFill>
            <a:srgbClr val="FFFFFF"/>
          </a:solidFill>
          <a:ln/>
        </p:spPr>
        <p:txBody>
          <a:bodyPr wrap="square" rtlCol="0" anchor="ctr"/>
          <a:lstStyle/>
          <a:p>
            <a:pPr marL="0" indent="0">
              <a:buNone/>
            </a:pPr>
            <a:endParaRPr lang="en-US" dirty="0"/>
          </a:p>
        </p:txBody>
      </p:sp>
      <p:sp>
        <p:nvSpPr>
          <p:cNvPr id="25" name="Shape 22"/>
          <p:cNvSpPr/>
          <p:nvPr/>
        </p:nvSpPr>
        <p:spPr>
          <a:xfrm>
            <a:off x="5580608" y="1052252"/>
            <a:ext cx="3291818" cy="0"/>
          </a:xfrm>
          <a:prstGeom prst="line">
            <a:avLst/>
          </a:prstGeom>
          <a:noFill/>
          <a:ln w="7144">
            <a:solidFill>
              <a:srgbClr val="D8DEE6"/>
            </a:solidFill>
            <a:prstDash val="solid"/>
          </a:ln>
        </p:spPr>
      </p:sp>
      <p:sp>
        <p:nvSpPr>
          <p:cNvPr id="26" name="Shape 23"/>
          <p:cNvSpPr/>
          <p:nvPr/>
        </p:nvSpPr>
        <p:spPr>
          <a:xfrm>
            <a:off x="8868854" y="1048680"/>
            <a:ext cx="0" cy="480752"/>
          </a:xfrm>
          <a:prstGeom prst="line">
            <a:avLst/>
          </a:prstGeom>
          <a:noFill/>
          <a:ln w="7144">
            <a:solidFill>
              <a:srgbClr val="D8DEE6"/>
            </a:solidFill>
            <a:prstDash val="solid"/>
          </a:ln>
        </p:spPr>
      </p:sp>
      <p:sp>
        <p:nvSpPr>
          <p:cNvPr id="27" name="Shape 24"/>
          <p:cNvSpPr/>
          <p:nvPr/>
        </p:nvSpPr>
        <p:spPr>
          <a:xfrm>
            <a:off x="5580608" y="1525860"/>
            <a:ext cx="3291818" cy="0"/>
          </a:xfrm>
          <a:prstGeom prst="line">
            <a:avLst/>
          </a:prstGeom>
          <a:noFill/>
          <a:ln w="7144">
            <a:solidFill>
              <a:srgbClr val="D8DEE6"/>
            </a:solidFill>
            <a:prstDash val="solid"/>
          </a:ln>
        </p:spPr>
      </p:sp>
      <p:sp>
        <p:nvSpPr>
          <p:cNvPr id="28" name="Shape 25"/>
          <p:cNvSpPr/>
          <p:nvPr/>
        </p:nvSpPr>
        <p:spPr>
          <a:xfrm>
            <a:off x="5591324" y="1048680"/>
            <a:ext cx="0" cy="480752"/>
          </a:xfrm>
          <a:prstGeom prst="line">
            <a:avLst/>
          </a:prstGeom>
          <a:noFill/>
          <a:ln w="21431">
            <a:solidFill>
              <a:srgbClr val="C9A961"/>
            </a:solidFill>
            <a:prstDash val="solid"/>
          </a:ln>
        </p:spPr>
      </p:sp>
      <p:sp>
        <p:nvSpPr>
          <p:cNvPr id="29" name="Text 26"/>
          <p:cNvSpPr/>
          <p:nvPr/>
        </p:nvSpPr>
        <p:spPr>
          <a:xfrm>
            <a:off x="5716339" y="1141549"/>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30" name="Text 27"/>
          <p:cNvSpPr/>
          <p:nvPr/>
        </p:nvSpPr>
        <p:spPr>
          <a:xfrm>
            <a:off x="5916364" y="1148693"/>
            <a:ext cx="2834618" cy="164592"/>
          </a:xfrm>
          <a:prstGeom prst="rect">
            <a:avLst/>
          </a:prstGeom>
          <a:noFill/>
          <a:ln/>
        </p:spPr>
        <p:txBody>
          <a:bodyPr wrap="none" lIns="0" tIns="0" rIns="0" bIns="0" rtlCol="0" anchor="t"/>
          <a:lstStyle/>
          <a:p>
            <a:pPr marL="0" indent="0" algn="l">
              <a:lnSpc>
                <a:spcPts val="1097"/>
              </a:lnSpc>
              <a:buNone/>
            </a:pPr>
            <a:r>
              <a:rPr lang="en-US" sz="800" kern="0" spc="44" dirty="0">
                <a:solidFill>
                  <a:srgbClr val="C9A961"/>
                </a:solidFill>
                <a:latin typeface="Courier New" pitchFamily="34" charset="0"/>
                <a:ea typeface="Courier New" pitchFamily="34" charset="-122"/>
                <a:cs typeface="Courier New" pitchFamily="34" charset="-120"/>
              </a:rPr>
              <a:t>ARM TrustZone</a:t>
            </a:r>
            <a:endParaRPr lang="en-US" sz="800" dirty="0"/>
          </a:p>
        </p:txBody>
      </p:sp>
      <p:sp>
        <p:nvSpPr>
          <p:cNvPr id="31" name="Text 28"/>
          <p:cNvSpPr/>
          <p:nvPr/>
        </p:nvSpPr>
        <p:spPr>
          <a:xfrm>
            <a:off x="5716339" y="1316571"/>
            <a:ext cx="3144371"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TEE isolating secure world from normal world</a:t>
            </a:r>
            <a:endParaRPr lang="en-US" sz="800" dirty="0"/>
          </a:p>
        </p:txBody>
      </p:sp>
      <p:sp>
        <p:nvSpPr>
          <p:cNvPr id="32" name="Text 29"/>
          <p:cNvSpPr/>
          <p:nvPr/>
        </p:nvSpPr>
        <p:spPr>
          <a:xfrm>
            <a:off x="5580608" y="1600870"/>
            <a:ext cx="3291818" cy="480752"/>
          </a:xfrm>
          <a:prstGeom prst="roundRect">
            <a:avLst>
              <a:gd name="adj" fmla="val 15850"/>
            </a:avLst>
          </a:prstGeom>
          <a:solidFill>
            <a:srgbClr val="FFFFFF"/>
          </a:solidFill>
          <a:ln/>
        </p:spPr>
        <p:txBody>
          <a:bodyPr wrap="square" rtlCol="0" anchor="ctr"/>
          <a:lstStyle/>
          <a:p>
            <a:pPr marL="0" indent="0">
              <a:buNone/>
            </a:pPr>
            <a:endParaRPr lang="en-US" dirty="0"/>
          </a:p>
        </p:txBody>
      </p:sp>
      <p:sp>
        <p:nvSpPr>
          <p:cNvPr id="33" name="Shape 30"/>
          <p:cNvSpPr/>
          <p:nvPr/>
        </p:nvSpPr>
        <p:spPr>
          <a:xfrm>
            <a:off x="5580608" y="1604442"/>
            <a:ext cx="3291818" cy="0"/>
          </a:xfrm>
          <a:prstGeom prst="line">
            <a:avLst/>
          </a:prstGeom>
          <a:noFill/>
          <a:ln w="7144">
            <a:solidFill>
              <a:srgbClr val="D8DEE6"/>
            </a:solidFill>
            <a:prstDash val="solid"/>
          </a:ln>
        </p:spPr>
      </p:sp>
      <p:sp>
        <p:nvSpPr>
          <p:cNvPr id="34" name="Shape 31"/>
          <p:cNvSpPr/>
          <p:nvPr/>
        </p:nvSpPr>
        <p:spPr>
          <a:xfrm>
            <a:off x="8868854" y="1600870"/>
            <a:ext cx="0" cy="480752"/>
          </a:xfrm>
          <a:prstGeom prst="line">
            <a:avLst/>
          </a:prstGeom>
          <a:noFill/>
          <a:ln w="7144">
            <a:solidFill>
              <a:srgbClr val="D8DEE6"/>
            </a:solidFill>
            <a:prstDash val="solid"/>
          </a:ln>
        </p:spPr>
      </p:sp>
      <p:sp>
        <p:nvSpPr>
          <p:cNvPr id="35" name="Shape 32"/>
          <p:cNvSpPr/>
          <p:nvPr/>
        </p:nvSpPr>
        <p:spPr>
          <a:xfrm>
            <a:off x="5580608" y="2078050"/>
            <a:ext cx="3291818" cy="0"/>
          </a:xfrm>
          <a:prstGeom prst="line">
            <a:avLst/>
          </a:prstGeom>
          <a:noFill/>
          <a:ln w="7144">
            <a:solidFill>
              <a:srgbClr val="D8DEE6"/>
            </a:solidFill>
            <a:prstDash val="solid"/>
          </a:ln>
        </p:spPr>
      </p:sp>
      <p:sp>
        <p:nvSpPr>
          <p:cNvPr id="36" name="Shape 33"/>
          <p:cNvSpPr/>
          <p:nvPr/>
        </p:nvSpPr>
        <p:spPr>
          <a:xfrm>
            <a:off x="5591324" y="1600870"/>
            <a:ext cx="0" cy="480752"/>
          </a:xfrm>
          <a:prstGeom prst="line">
            <a:avLst/>
          </a:prstGeom>
          <a:noFill/>
          <a:ln w="21431">
            <a:solidFill>
              <a:srgbClr val="C9A961"/>
            </a:solidFill>
            <a:prstDash val="solid"/>
          </a:ln>
        </p:spPr>
      </p:sp>
      <p:sp>
        <p:nvSpPr>
          <p:cNvPr id="37" name="Text 34"/>
          <p:cNvSpPr/>
          <p:nvPr/>
        </p:nvSpPr>
        <p:spPr>
          <a:xfrm>
            <a:off x="5716339" y="1693738"/>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38" name="Text 35"/>
          <p:cNvSpPr/>
          <p:nvPr/>
        </p:nvSpPr>
        <p:spPr>
          <a:xfrm>
            <a:off x="5916364" y="1700882"/>
            <a:ext cx="2834618" cy="164592"/>
          </a:xfrm>
          <a:prstGeom prst="rect">
            <a:avLst/>
          </a:prstGeom>
          <a:noFill/>
          <a:ln/>
        </p:spPr>
        <p:txBody>
          <a:bodyPr wrap="none" lIns="0" tIns="0" rIns="0" bIns="0" rtlCol="0" anchor="t"/>
          <a:lstStyle/>
          <a:p>
            <a:pPr marL="0" indent="0" algn="l">
              <a:lnSpc>
                <a:spcPts val="1097"/>
              </a:lnSpc>
              <a:buNone/>
            </a:pPr>
            <a:r>
              <a:rPr lang="en-US" sz="800" kern="0" spc="44" dirty="0">
                <a:solidFill>
                  <a:srgbClr val="C9A961"/>
                </a:solidFill>
                <a:latin typeface="Courier New" pitchFamily="34" charset="0"/>
                <a:ea typeface="Courier New" pitchFamily="34" charset="-122"/>
                <a:cs typeface="Courier New" pitchFamily="34" charset="-120"/>
              </a:rPr>
              <a:t>Secure Element</a:t>
            </a:r>
            <a:endParaRPr lang="en-US" sz="800" dirty="0"/>
          </a:p>
        </p:txBody>
      </p:sp>
      <p:sp>
        <p:nvSpPr>
          <p:cNvPr id="39" name="Text 36"/>
          <p:cNvSpPr/>
          <p:nvPr/>
        </p:nvSpPr>
        <p:spPr>
          <a:xfrm>
            <a:off x="5716339" y="1868760"/>
            <a:ext cx="3144371"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SE chip for key storage (e.g. NXP A71C)</a:t>
            </a:r>
            <a:endParaRPr lang="en-US" sz="800" dirty="0"/>
          </a:p>
        </p:txBody>
      </p:sp>
      <p:sp>
        <p:nvSpPr>
          <p:cNvPr id="40" name="Text 37"/>
          <p:cNvSpPr/>
          <p:nvPr/>
        </p:nvSpPr>
        <p:spPr>
          <a:xfrm>
            <a:off x="5580608" y="2153059"/>
            <a:ext cx="3291818" cy="480752"/>
          </a:xfrm>
          <a:prstGeom prst="roundRect">
            <a:avLst>
              <a:gd name="adj" fmla="val 15850"/>
            </a:avLst>
          </a:prstGeom>
          <a:solidFill>
            <a:srgbClr val="FFFFFF"/>
          </a:solidFill>
          <a:ln/>
        </p:spPr>
        <p:txBody>
          <a:bodyPr wrap="square" rtlCol="0" anchor="ctr"/>
          <a:lstStyle/>
          <a:p>
            <a:pPr marL="0" indent="0">
              <a:buNone/>
            </a:pPr>
            <a:endParaRPr lang="en-US" dirty="0"/>
          </a:p>
        </p:txBody>
      </p:sp>
      <p:sp>
        <p:nvSpPr>
          <p:cNvPr id="41" name="Shape 38"/>
          <p:cNvSpPr/>
          <p:nvPr/>
        </p:nvSpPr>
        <p:spPr>
          <a:xfrm>
            <a:off x="5580608" y="2156631"/>
            <a:ext cx="3291818" cy="0"/>
          </a:xfrm>
          <a:prstGeom prst="line">
            <a:avLst/>
          </a:prstGeom>
          <a:noFill/>
          <a:ln w="7144">
            <a:solidFill>
              <a:srgbClr val="D8DEE6"/>
            </a:solidFill>
            <a:prstDash val="solid"/>
          </a:ln>
        </p:spPr>
      </p:sp>
      <p:sp>
        <p:nvSpPr>
          <p:cNvPr id="42" name="Shape 39"/>
          <p:cNvSpPr/>
          <p:nvPr/>
        </p:nvSpPr>
        <p:spPr>
          <a:xfrm>
            <a:off x="8868854" y="2153059"/>
            <a:ext cx="0" cy="480752"/>
          </a:xfrm>
          <a:prstGeom prst="line">
            <a:avLst/>
          </a:prstGeom>
          <a:noFill/>
          <a:ln w="7144">
            <a:solidFill>
              <a:srgbClr val="D8DEE6"/>
            </a:solidFill>
            <a:prstDash val="solid"/>
          </a:ln>
        </p:spPr>
      </p:sp>
      <p:sp>
        <p:nvSpPr>
          <p:cNvPr id="43" name="Shape 40"/>
          <p:cNvSpPr/>
          <p:nvPr/>
        </p:nvSpPr>
        <p:spPr>
          <a:xfrm>
            <a:off x="5580608" y="2630239"/>
            <a:ext cx="3291818" cy="0"/>
          </a:xfrm>
          <a:prstGeom prst="line">
            <a:avLst/>
          </a:prstGeom>
          <a:noFill/>
          <a:ln w="7144">
            <a:solidFill>
              <a:srgbClr val="D8DEE6"/>
            </a:solidFill>
            <a:prstDash val="solid"/>
          </a:ln>
        </p:spPr>
      </p:sp>
      <p:sp>
        <p:nvSpPr>
          <p:cNvPr id="44" name="Shape 41"/>
          <p:cNvSpPr/>
          <p:nvPr/>
        </p:nvSpPr>
        <p:spPr>
          <a:xfrm>
            <a:off x="5591324" y="2153059"/>
            <a:ext cx="0" cy="480752"/>
          </a:xfrm>
          <a:prstGeom prst="line">
            <a:avLst/>
          </a:prstGeom>
          <a:noFill/>
          <a:ln w="21431">
            <a:solidFill>
              <a:srgbClr val="C9A961"/>
            </a:solidFill>
            <a:prstDash val="solid"/>
          </a:ln>
        </p:spPr>
      </p:sp>
      <p:sp>
        <p:nvSpPr>
          <p:cNvPr id="45" name="Text 42"/>
          <p:cNvSpPr/>
          <p:nvPr/>
        </p:nvSpPr>
        <p:spPr>
          <a:xfrm>
            <a:off x="5716339" y="2245928"/>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46" name="Text 43"/>
          <p:cNvSpPr/>
          <p:nvPr/>
        </p:nvSpPr>
        <p:spPr>
          <a:xfrm>
            <a:off x="5916364" y="2253072"/>
            <a:ext cx="2834618" cy="164592"/>
          </a:xfrm>
          <a:prstGeom prst="rect">
            <a:avLst/>
          </a:prstGeom>
          <a:noFill/>
          <a:ln/>
        </p:spPr>
        <p:txBody>
          <a:bodyPr wrap="none" lIns="0" tIns="0" rIns="0" bIns="0" rtlCol="0" anchor="t"/>
          <a:lstStyle/>
          <a:p>
            <a:pPr marL="0" indent="0" algn="l">
              <a:lnSpc>
                <a:spcPts val="1097"/>
              </a:lnSpc>
              <a:buNone/>
            </a:pPr>
            <a:r>
              <a:rPr lang="en-US" sz="800" kern="0" spc="44" dirty="0">
                <a:solidFill>
                  <a:srgbClr val="C9A961"/>
                </a:solidFill>
                <a:latin typeface="Courier New" pitchFamily="34" charset="0"/>
                <a:ea typeface="Courier New" pitchFamily="34" charset="-122"/>
                <a:cs typeface="Courier New" pitchFamily="34" charset="-120"/>
              </a:rPr>
              <a:t>HSM</a:t>
            </a:r>
            <a:endParaRPr lang="en-US" sz="800" dirty="0"/>
          </a:p>
        </p:txBody>
      </p:sp>
      <p:sp>
        <p:nvSpPr>
          <p:cNvPr id="47" name="Text 44"/>
          <p:cNvSpPr/>
          <p:nvPr/>
        </p:nvSpPr>
        <p:spPr>
          <a:xfrm>
            <a:off x="5716339" y="2420950"/>
            <a:ext cx="3144371" cy="119993"/>
          </a:xfrm>
          <a:prstGeom prst="rect">
            <a:avLst/>
          </a:prstGeom>
          <a:noFill/>
          <a:ln/>
        </p:spPr>
        <p:txBody>
          <a:bodyPr wrap="square" lIns="0" tIns="0" rIns="0" bIns="0" rtlCol="0" anchor="t"/>
          <a:lstStyle/>
          <a:p>
            <a:pPr marL="0" indent="0" algn="l">
              <a:lnSpc>
                <a:spcPts val="945"/>
              </a:lnSpc>
              <a:buNone/>
            </a:pPr>
            <a:r>
              <a:rPr lang="en-US" sz="800" dirty="0">
                <a:solidFill>
                  <a:srgbClr val="4A5568"/>
                </a:solidFill>
                <a:latin typeface="Carlito" pitchFamily="34" charset="0"/>
                <a:ea typeface="Carlito" pitchFamily="34" charset="-122"/>
                <a:cs typeface="Carlito" pitchFamily="34" charset="-120"/>
              </a:rPr>
              <a:t>Hardware Security Module for cloud-side CA</a:t>
            </a:r>
            <a:endParaRPr lang="en-US" sz="800" dirty="0"/>
          </a:p>
        </p:txBody>
      </p:sp>
      <p:sp>
        <p:nvSpPr>
          <p:cNvPr id="48" name="Text 45"/>
          <p:cNvSpPr/>
          <p:nvPr/>
        </p:nvSpPr>
        <p:spPr>
          <a:xfrm>
            <a:off x="457200" y="4336256"/>
            <a:ext cx="8229600" cy="464344"/>
          </a:xfrm>
          <a:prstGeom prst="roundRect">
            <a:avLst>
              <a:gd name="adj" fmla="val 16410"/>
            </a:avLst>
          </a:prstGeom>
          <a:solidFill>
            <a:srgbClr val="FFFFFF"/>
          </a:solidFill>
          <a:ln/>
        </p:spPr>
        <p:txBody>
          <a:bodyPr wrap="square" rtlCol="0" anchor="ctr"/>
          <a:lstStyle/>
          <a:p>
            <a:pPr marL="0" indent="0">
              <a:buNone/>
            </a:pPr>
            <a:endParaRPr lang="en-US" dirty="0"/>
          </a:p>
        </p:txBody>
      </p:sp>
      <p:sp>
        <p:nvSpPr>
          <p:cNvPr id="49" name="Shape 46"/>
          <p:cNvSpPr/>
          <p:nvPr/>
        </p:nvSpPr>
        <p:spPr>
          <a:xfrm>
            <a:off x="457200" y="4339828"/>
            <a:ext cx="8229600" cy="0"/>
          </a:xfrm>
          <a:prstGeom prst="line">
            <a:avLst/>
          </a:prstGeom>
          <a:noFill/>
          <a:ln w="7144">
            <a:solidFill>
              <a:srgbClr val="D8DEE6"/>
            </a:solidFill>
            <a:prstDash val="solid"/>
          </a:ln>
        </p:spPr>
      </p:sp>
      <p:sp>
        <p:nvSpPr>
          <p:cNvPr id="50" name="Shape 47"/>
          <p:cNvSpPr/>
          <p:nvPr/>
        </p:nvSpPr>
        <p:spPr>
          <a:xfrm>
            <a:off x="8683228" y="4336256"/>
            <a:ext cx="0" cy="464344"/>
          </a:xfrm>
          <a:prstGeom prst="line">
            <a:avLst/>
          </a:prstGeom>
          <a:noFill/>
          <a:ln w="7144">
            <a:solidFill>
              <a:srgbClr val="D8DEE6"/>
            </a:solidFill>
            <a:prstDash val="solid"/>
          </a:ln>
        </p:spPr>
      </p:sp>
      <p:sp>
        <p:nvSpPr>
          <p:cNvPr id="51" name="Shape 48"/>
          <p:cNvSpPr/>
          <p:nvPr/>
        </p:nvSpPr>
        <p:spPr>
          <a:xfrm>
            <a:off x="457200" y="4797028"/>
            <a:ext cx="8229600" cy="0"/>
          </a:xfrm>
          <a:prstGeom prst="line">
            <a:avLst/>
          </a:prstGeom>
          <a:noFill/>
          <a:ln w="7144">
            <a:solidFill>
              <a:srgbClr val="D8DEE6"/>
            </a:solidFill>
            <a:prstDash val="solid"/>
          </a:ln>
        </p:spPr>
      </p:sp>
      <p:sp>
        <p:nvSpPr>
          <p:cNvPr id="52" name="Shape 49"/>
          <p:cNvSpPr/>
          <p:nvPr/>
        </p:nvSpPr>
        <p:spPr>
          <a:xfrm>
            <a:off x="467916" y="4336256"/>
            <a:ext cx="0" cy="464344"/>
          </a:xfrm>
          <a:prstGeom prst="line">
            <a:avLst/>
          </a:prstGeom>
          <a:noFill/>
          <a:ln w="21431">
            <a:solidFill>
              <a:srgbClr val="C9A961"/>
            </a:solidFill>
            <a:prstDash val="solid"/>
          </a:ln>
        </p:spPr>
      </p:sp>
      <p:sp>
        <p:nvSpPr>
          <p:cNvPr id="53" name="Text 50"/>
          <p:cNvSpPr/>
          <p:nvPr/>
        </p:nvSpPr>
        <p:spPr>
          <a:xfrm>
            <a:off x="607219" y="4496991"/>
            <a:ext cx="142875" cy="142875"/>
          </a:xfrm>
          <a:prstGeom prst="rect">
            <a:avLst/>
          </a:prstGeom>
          <a:noFill/>
          <a:ln/>
        </p:spPr>
        <p:txBody>
          <a:bodyPr wrap="none" lIns="0" tIns="0" rIns="0" bIns="0" rtlCol="0" anchor="ctr"/>
          <a:lstStyle/>
          <a:p>
            <a:pPr marL="0" indent="0" algn="ctr">
              <a:buNone/>
            </a:pPr>
            <a:r>
              <a:rPr lang="en-US" sz="1406" dirty="0">
                <a:solidFill>
                  <a:srgbClr val="C9A961"/>
                </a:solidFill>
                <a:latin typeface="Segoe UI Symbol" pitchFamily="34" charset="0"/>
                <a:ea typeface="Segoe UI Symbol" pitchFamily="34" charset="-122"/>
                <a:cs typeface="Segoe UI Symbol" pitchFamily="34" charset="-120"/>
              </a:rPr>
              <a:t>⚡</a:t>
            </a:r>
            <a:endParaRPr lang="en-US" sz="1406" dirty="0"/>
          </a:p>
        </p:txBody>
      </p:sp>
      <p:sp>
        <p:nvSpPr>
          <p:cNvPr id="54" name="Text 51"/>
          <p:cNvSpPr/>
          <p:nvPr/>
        </p:nvSpPr>
        <p:spPr>
          <a:xfrm>
            <a:off x="878681" y="4429125"/>
            <a:ext cx="7672388" cy="278606"/>
          </a:xfrm>
          <a:prstGeom prst="rect">
            <a:avLst/>
          </a:prstGeom>
          <a:noFill/>
          <a:ln/>
        </p:spPr>
        <p:txBody>
          <a:bodyPr wrap="square" lIns="0" tIns="0" rIns="0" bIns="0" rtlCol="0" anchor="t"/>
          <a:lstStyle/>
          <a:p>
            <a:pPr marL="0" indent="0" algn="l">
              <a:lnSpc>
                <a:spcPts val="1097"/>
              </a:lnSpc>
              <a:buNone/>
            </a:pPr>
            <a:r>
              <a:rPr lang="en-US" sz="800" b="1" kern="0" spc="39" dirty="0">
                <a:solidFill>
                  <a:srgbClr val="0F2A4A"/>
                </a:solidFill>
                <a:latin typeface="Carlito" pitchFamily="34" charset="0"/>
                <a:ea typeface="Carlito" pitchFamily="34" charset="-122"/>
                <a:cs typeface="Carlito" pitchFamily="34" charset="-120"/>
              </a:rPr>
              <a:t>LIVE EXAMPLE —</a:t>
            </a:r>
            <a:r>
              <a:rPr lang="en-US" sz="800" dirty="0">
                <a:solidFill>
                  <a:srgbClr val="1A2332"/>
                </a:solidFill>
                <a:latin typeface="Carlito" pitchFamily="34" charset="0"/>
                <a:ea typeface="Carlito" pitchFamily="34" charset="-122"/>
                <a:cs typeface="Carlito" pitchFamily="34" charset="-120"/>
              </a:rPr>
              <a:t> In 2018, a hardware root-of-trust flaw in certain NVIDIA Tegra chipsets allowed the Nintendo Switch boot ROM to be bypassed, enabling arbitrary code execution at the earliest boot stage.</a:t>
            </a:r>
            <a:endParaRPr lang="en-US" sz="800" dirty="0"/>
          </a:p>
        </p:txBody>
      </p:sp>
      <p:sp>
        <p:nvSpPr>
          <p:cNvPr id="55" name="Text 52"/>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56" name="Text 53"/>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05 / 21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357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87536"/>
            <a:ext cx="2117774" cy="156520"/>
          </a:xfrm>
          <a:prstGeom prst="rect">
            <a:avLst/>
          </a:prstGeom>
          <a:noFill/>
          <a:ln/>
        </p:spPr>
        <p:txBody>
          <a:bodyPr wrap="non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02 · SYSTEMS SECURITY</a:t>
            </a:r>
            <a:endParaRPr lang="en-US" sz="800" dirty="0"/>
          </a:p>
        </p:txBody>
      </p:sp>
      <p:sp>
        <p:nvSpPr>
          <p:cNvPr id="5" name="Text 2"/>
          <p:cNvSpPr/>
          <p:nvPr/>
        </p:nvSpPr>
        <p:spPr>
          <a:xfrm>
            <a:off x="457200" y="471488"/>
            <a:ext cx="3696511" cy="198266"/>
          </a:xfrm>
          <a:prstGeom prst="rect">
            <a:avLst/>
          </a:prstGeom>
          <a:noFill/>
          <a:ln/>
        </p:spPr>
        <p:txBody>
          <a:bodyPr wrap="square" lIns="0" tIns="0" rIns="0" bIns="0" rtlCol="0" anchor="t">
            <a:normAutofit/>
          </a:bodyPr>
          <a:lstStyle/>
          <a:p>
            <a:pPr marL="0" indent="0" algn="l">
              <a:lnSpc>
                <a:spcPts val="1553"/>
              </a:lnSpc>
              <a:buNone/>
            </a:pPr>
            <a:r>
              <a:rPr lang="en-US" sz="1350" b="1" kern="0" spc="-20" dirty="0">
                <a:solidFill>
                  <a:srgbClr val="0F2A4A"/>
                </a:solidFill>
                <a:latin typeface="Tinos" pitchFamily="34" charset="0"/>
                <a:ea typeface="Tinos" pitchFamily="34" charset="-122"/>
                <a:cs typeface="Tinos" pitchFamily="34" charset="-120"/>
              </a:rPr>
              <a:t>Chain of Trust — From Silicon to Application</a:t>
            </a:r>
            <a:endParaRPr lang="en-US" sz="1350" dirty="0"/>
          </a:p>
        </p:txBody>
      </p:sp>
      <p:sp>
        <p:nvSpPr>
          <p:cNvPr id="6" name="Text 3"/>
          <p:cNvSpPr/>
          <p:nvPr/>
        </p:nvSpPr>
        <p:spPr>
          <a:xfrm>
            <a:off x="457200" y="697185"/>
            <a:ext cx="3360465" cy="164592"/>
          </a:xfrm>
          <a:prstGeom prst="rect">
            <a:avLst/>
          </a:prstGeom>
          <a:noFill/>
          <a:ln/>
        </p:spPr>
        <p:txBody>
          <a:bodyPr wrap="square" lIns="0" tIns="0" rIns="0" bIns="0" rtlCol="0" anchor="t"/>
          <a:lstStyle/>
          <a:p>
            <a:pPr marL="0" indent="0" algn="l">
              <a:lnSpc>
                <a:spcPts val="1097"/>
              </a:lnSpc>
              <a:buNone/>
            </a:pPr>
            <a:r>
              <a:rPr lang="en-US" sz="731" dirty="0">
                <a:solidFill>
                  <a:srgbClr val="6B7280"/>
                </a:solidFill>
                <a:latin typeface="Carlito" pitchFamily="34" charset="0"/>
                <a:ea typeface="Carlito" pitchFamily="34" charset="-122"/>
                <a:cs typeface="Carlito" pitchFamily="34" charset="-120"/>
              </a:rPr>
              <a:t>Each layer verifies the next; a single breakable link compromises the whole chain.</a:t>
            </a:r>
            <a:endParaRPr lang="en-US" sz="731" dirty="0"/>
          </a:p>
        </p:txBody>
      </p:sp>
      <p:sp>
        <p:nvSpPr>
          <p:cNvPr id="7" name="Text 4"/>
          <p:cNvSpPr/>
          <p:nvPr/>
        </p:nvSpPr>
        <p:spPr>
          <a:xfrm>
            <a:off x="8022766" y="718617"/>
            <a:ext cx="855286" cy="164592"/>
          </a:xfrm>
          <a:prstGeom prst="rect">
            <a:avLst/>
          </a:prstGeom>
          <a:noFill/>
          <a:ln/>
        </p:spPr>
        <p:txBody>
          <a:bodyPr wrap="none" lIns="0" tIns="0" rIns="0" bIns="0" rtlCol="0" anchor="t"/>
          <a:lstStyle/>
          <a:p>
            <a:pPr marL="0" indent="0" algn="l">
              <a:lnSpc>
                <a:spcPts val="928"/>
              </a:lnSpc>
              <a:buNone/>
            </a:pPr>
            <a:r>
              <a:rPr lang="en-US" sz="619" kern="0" spc="93" dirty="0">
                <a:solidFill>
                  <a:srgbClr val="6B7280"/>
                </a:solidFill>
                <a:latin typeface="Courier New" pitchFamily="34" charset="0"/>
                <a:ea typeface="Courier New" pitchFamily="34" charset="-122"/>
                <a:cs typeface="Courier New" pitchFamily="34" charset="-120"/>
              </a:rPr>
              <a:t>BLOCK DIAGRAM</a:t>
            </a:r>
            <a:endParaRPr lang="en-US" sz="619" dirty="0"/>
          </a:p>
        </p:txBody>
      </p:sp>
      <p:sp>
        <p:nvSpPr>
          <p:cNvPr id="8" name="Text 5"/>
          <p:cNvSpPr/>
          <p:nvPr/>
        </p:nvSpPr>
        <p:spPr>
          <a:xfrm>
            <a:off x="460772" y="1286210"/>
            <a:ext cx="6493669" cy="314325"/>
          </a:xfrm>
          <a:prstGeom prst="roundRect">
            <a:avLst>
              <a:gd name="adj" fmla="val 18182"/>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9" name="Text 6"/>
          <p:cNvSpPr/>
          <p:nvPr/>
        </p:nvSpPr>
        <p:spPr>
          <a:xfrm>
            <a:off x="764381" y="1398724"/>
            <a:ext cx="1254640" cy="119658"/>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Liberation Sans Narrow" pitchFamily="34" charset="0"/>
                <a:ea typeface="Liberation Sans Narrow" pitchFamily="34" charset="-122"/>
                <a:cs typeface="Liberation Sans Narrow" pitchFamily="34" charset="-120"/>
              </a:rPr>
              <a:t>06 · APPLICATION</a:t>
            </a:r>
            <a:endParaRPr lang="en-US" sz="800" dirty="0"/>
          </a:p>
        </p:txBody>
      </p:sp>
      <p:sp>
        <p:nvSpPr>
          <p:cNvPr id="10" name="Text 7"/>
          <p:cNvSpPr/>
          <p:nvPr/>
        </p:nvSpPr>
        <p:spPr>
          <a:xfrm>
            <a:off x="592931" y="1386222"/>
            <a:ext cx="114300" cy="114300"/>
          </a:xfrm>
          <a:prstGeom prst="rect">
            <a:avLst/>
          </a:prstGeom>
          <a:noFill/>
          <a:ln/>
        </p:spPr>
        <p:txBody>
          <a:bodyPr wrap="none" lIns="0" tIns="0" rIns="0" bIns="0" rtlCol="0" anchor="ctr"/>
          <a:lstStyle/>
          <a:p>
            <a:pPr marL="0" indent="0" algn="ctr">
              <a:buNone/>
            </a:pPr>
            <a:r>
              <a:rPr lang="en-US" sz="1125" dirty="0">
                <a:solidFill>
                  <a:srgbClr val="C9A961"/>
                </a:solidFill>
                <a:latin typeface="Segoe UI Symbol" pitchFamily="34" charset="0"/>
                <a:ea typeface="Segoe UI Symbol" pitchFamily="34" charset="-122"/>
                <a:cs typeface="Segoe UI Symbol" pitchFamily="34" charset="-120"/>
              </a:rPr>
              <a:t>▦</a:t>
            </a:r>
            <a:endParaRPr lang="en-US" sz="1125" dirty="0"/>
          </a:p>
        </p:txBody>
      </p:sp>
      <p:sp>
        <p:nvSpPr>
          <p:cNvPr id="11" name="Text 8"/>
          <p:cNvSpPr/>
          <p:nvPr/>
        </p:nvSpPr>
        <p:spPr>
          <a:xfrm>
            <a:off x="1907381" y="1368363"/>
            <a:ext cx="2527816" cy="150019"/>
          </a:xfrm>
          <a:prstGeom prst="rect">
            <a:avLst/>
          </a:prstGeom>
          <a:noFill/>
          <a:ln/>
        </p:spPr>
        <p:txBody>
          <a:bodyPr wrap="none" lIns="0" tIns="0" rIns="0" bIns="0" rtlCol="0" anchor="t"/>
          <a:lstStyle/>
          <a:p>
            <a:pPr marL="0" indent="0" algn="l">
              <a:lnSpc>
                <a:spcPts val="1181"/>
              </a:lnSpc>
              <a:buNone/>
            </a:pPr>
            <a:r>
              <a:rPr lang="en-US" sz="800" dirty="0">
                <a:solidFill>
                  <a:srgbClr val="FFFFFF"/>
                </a:solidFill>
                <a:latin typeface="Carlito" pitchFamily="34" charset="0"/>
                <a:ea typeface="Carlito" pitchFamily="34" charset="-122"/>
                <a:cs typeface="Carlito" pitchFamily="34" charset="-120"/>
              </a:rPr>
              <a:t>Weather App, Smart Lock UI</a:t>
            </a:r>
            <a:endParaRPr lang="en-US" sz="800" dirty="0"/>
          </a:p>
        </p:txBody>
      </p:sp>
      <p:sp>
        <p:nvSpPr>
          <p:cNvPr id="12" name="Text 9"/>
          <p:cNvSpPr/>
          <p:nvPr/>
        </p:nvSpPr>
        <p:spPr>
          <a:xfrm>
            <a:off x="4414838" y="1385888"/>
            <a:ext cx="2407444" cy="132494"/>
          </a:xfrm>
          <a:prstGeom prst="rect">
            <a:avLst/>
          </a:prstGeom>
          <a:noFill/>
          <a:ln/>
        </p:spPr>
        <p:txBody>
          <a:bodyPr wrap="none" lIns="0" tIns="0" rIns="0" bIns="0" rtlCol="0" anchor="t"/>
          <a:lstStyle/>
          <a:p>
            <a:pPr marL="0" indent="0" algn="l">
              <a:lnSpc>
                <a:spcPts val="906"/>
              </a:lnSpc>
              <a:buNone/>
            </a:pPr>
            <a:r>
              <a:rPr lang="en-US" sz="800" dirty="0">
                <a:solidFill>
                  <a:srgbClr val="FFFFFF">
                    <a:alpha val="85000"/>
                  </a:srgbClr>
                </a:solidFill>
                <a:latin typeface="Carlito" pitchFamily="34" charset="0"/>
                <a:ea typeface="Carlito" pitchFamily="34" charset="-122"/>
                <a:cs typeface="Carlito" pitchFamily="34" charset="-120"/>
              </a:rPr>
              <a:t>Verified at install time</a:t>
            </a:r>
            <a:endParaRPr lang="en-US" sz="800" dirty="0"/>
          </a:p>
        </p:txBody>
      </p:sp>
      <p:sp>
        <p:nvSpPr>
          <p:cNvPr id="13" name="Text 10"/>
          <p:cNvSpPr/>
          <p:nvPr/>
        </p:nvSpPr>
        <p:spPr>
          <a:xfrm>
            <a:off x="3702248" y="1625538"/>
            <a:ext cx="10716" cy="171450"/>
          </a:xfrm>
          <a:prstGeom prst="rect">
            <a:avLst/>
          </a:prstGeom>
          <a:solidFill>
            <a:srgbClr val="0F2A4A"/>
          </a:solidFill>
          <a:ln/>
        </p:spPr>
        <p:txBody>
          <a:bodyPr wrap="square" rtlCol="0" anchor="ctr"/>
          <a:lstStyle/>
          <a:p>
            <a:pPr marL="0" indent="0">
              <a:buNone/>
            </a:pPr>
            <a:endParaRPr lang="en-US" dirty="0"/>
          </a:p>
        </p:txBody>
      </p:sp>
      <p:sp>
        <p:nvSpPr>
          <p:cNvPr id="14" name="Text 11"/>
          <p:cNvSpPr/>
          <p:nvPr/>
        </p:nvSpPr>
        <p:spPr>
          <a:xfrm>
            <a:off x="460772" y="1821991"/>
            <a:ext cx="6493669" cy="314325"/>
          </a:xfrm>
          <a:prstGeom prst="roundRect">
            <a:avLst>
              <a:gd name="adj" fmla="val 18182"/>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5" name="Text 12"/>
          <p:cNvSpPr/>
          <p:nvPr/>
        </p:nvSpPr>
        <p:spPr>
          <a:xfrm>
            <a:off x="764381" y="1934505"/>
            <a:ext cx="1124539" cy="119658"/>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Liberation Sans Narrow" pitchFamily="34" charset="0"/>
                <a:ea typeface="Liberation Sans Narrow" pitchFamily="34" charset="-122"/>
                <a:cs typeface="Liberation Sans Narrow" pitchFamily="34" charset="-120"/>
              </a:rPr>
              <a:t>05 · OS KERNEL</a:t>
            </a:r>
            <a:endParaRPr lang="en-US" sz="800" dirty="0"/>
          </a:p>
        </p:txBody>
      </p:sp>
      <p:sp>
        <p:nvSpPr>
          <p:cNvPr id="16" name="Text 13"/>
          <p:cNvSpPr/>
          <p:nvPr/>
        </p:nvSpPr>
        <p:spPr>
          <a:xfrm>
            <a:off x="592931" y="1922004"/>
            <a:ext cx="114300" cy="114300"/>
          </a:xfrm>
          <a:prstGeom prst="rect">
            <a:avLst/>
          </a:prstGeom>
          <a:noFill/>
          <a:ln/>
        </p:spPr>
        <p:txBody>
          <a:bodyPr wrap="none" lIns="0" tIns="0" rIns="0" bIns="0" rtlCol="0" anchor="ctr"/>
          <a:lstStyle/>
          <a:p>
            <a:pPr marL="0" indent="0" algn="ctr">
              <a:buNone/>
            </a:pPr>
            <a:r>
              <a:rPr lang="en-US" sz="1125" dirty="0">
                <a:solidFill>
                  <a:srgbClr val="C9A961"/>
                </a:solidFill>
                <a:latin typeface="Segoe UI Symbol" pitchFamily="34" charset="0"/>
                <a:ea typeface="Segoe UI Symbol" pitchFamily="34" charset="-122"/>
                <a:cs typeface="Segoe UI Symbol" pitchFamily="34" charset="-120"/>
              </a:rPr>
              <a:t>▦</a:t>
            </a:r>
            <a:endParaRPr lang="en-US" sz="1125" dirty="0"/>
          </a:p>
        </p:txBody>
      </p:sp>
      <p:sp>
        <p:nvSpPr>
          <p:cNvPr id="17" name="Text 14"/>
          <p:cNvSpPr/>
          <p:nvPr/>
        </p:nvSpPr>
        <p:spPr>
          <a:xfrm>
            <a:off x="1907381" y="1904144"/>
            <a:ext cx="2527816" cy="150019"/>
          </a:xfrm>
          <a:prstGeom prst="rect">
            <a:avLst/>
          </a:prstGeom>
          <a:noFill/>
          <a:ln/>
        </p:spPr>
        <p:txBody>
          <a:bodyPr wrap="none" lIns="0" tIns="0" rIns="0" bIns="0" rtlCol="0" anchor="t"/>
          <a:lstStyle/>
          <a:p>
            <a:pPr marL="0" indent="0" algn="l">
              <a:lnSpc>
                <a:spcPts val="1181"/>
              </a:lnSpc>
              <a:buNone/>
            </a:pPr>
            <a:r>
              <a:rPr lang="en-US" sz="800" dirty="0">
                <a:solidFill>
                  <a:srgbClr val="0F2A4A"/>
                </a:solidFill>
                <a:latin typeface="Carlito" pitchFamily="34" charset="0"/>
                <a:ea typeface="Carlito" pitchFamily="34" charset="-122"/>
                <a:cs typeface="Carlito" pitchFamily="34" charset="-120"/>
              </a:rPr>
              <a:t>Linux / FreeRTOS / Zephyr</a:t>
            </a:r>
            <a:endParaRPr lang="en-US" sz="800" dirty="0"/>
          </a:p>
        </p:txBody>
      </p:sp>
      <p:sp>
        <p:nvSpPr>
          <p:cNvPr id="18" name="Text 15"/>
          <p:cNvSpPr/>
          <p:nvPr/>
        </p:nvSpPr>
        <p:spPr>
          <a:xfrm>
            <a:off x="4414838" y="1921669"/>
            <a:ext cx="2407444" cy="132494"/>
          </a:xfrm>
          <a:prstGeom prst="rect">
            <a:avLst/>
          </a:prstGeom>
          <a:noFill/>
          <a:ln/>
        </p:spPr>
        <p:txBody>
          <a:bodyPr wrap="none" lIns="0" tIns="0" rIns="0" bIns="0" rtlCol="0" anchor="t"/>
          <a:lstStyle/>
          <a:p>
            <a:pPr marL="0" indent="0" algn="l">
              <a:lnSpc>
                <a:spcPts val="906"/>
              </a:lnSpc>
              <a:buNone/>
            </a:pPr>
            <a:r>
              <a:rPr lang="en-US" sz="800" dirty="0">
                <a:solidFill>
                  <a:srgbClr val="6B7280"/>
                </a:solidFill>
                <a:latin typeface="Carlito" pitchFamily="34" charset="0"/>
                <a:ea typeface="Carlito" pitchFamily="34" charset="-122"/>
                <a:cs typeface="Carlito" pitchFamily="34" charset="-120"/>
              </a:rPr>
              <a:t>Signed kernel image</a:t>
            </a:r>
            <a:endParaRPr lang="en-US" sz="800" dirty="0"/>
          </a:p>
        </p:txBody>
      </p:sp>
      <p:sp>
        <p:nvSpPr>
          <p:cNvPr id="19" name="Text 16"/>
          <p:cNvSpPr/>
          <p:nvPr/>
        </p:nvSpPr>
        <p:spPr>
          <a:xfrm>
            <a:off x="3702248" y="2161319"/>
            <a:ext cx="10716" cy="171450"/>
          </a:xfrm>
          <a:prstGeom prst="rect">
            <a:avLst/>
          </a:prstGeom>
          <a:solidFill>
            <a:srgbClr val="0F2A4A"/>
          </a:solidFill>
          <a:ln/>
        </p:spPr>
        <p:txBody>
          <a:bodyPr wrap="square" rtlCol="0" anchor="ctr"/>
          <a:lstStyle/>
          <a:p>
            <a:pPr marL="0" indent="0">
              <a:buNone/>
            </a:pPr>
            <a:endParaRPr lang="en-US" dirty="0"/>
          </a:p>
        </p:txBody>
      </p:sp>
      <p:sp>
        <p:nvSpPr>
          <p:cNvPr id="20" name="Text 17"/>
          <p:cNvSpPr/>
          <p:nvPr/>
        </p:nvSpPr>
        <p:spPr>
          <a:xfrm>
            <a:off x="460772" y="2357772"/>
            <a:ext cx="6493669" cy="314325"/>
          </a:xfrm>
          <a:prstGeom prst="roundRect">
            <a:avLst>
              <a:gd name="adj" fmla="val 18182"/>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1" name="Text 18"/>
          <p:cNvSpPr/>
          <p:nvPr/>
        </p:nvSpPr>
        <p:spPr>
          <a:xfrm>
            <a:off x="764381" y="2470286"/>
            <a:ext cx="1283482" cy="119658"/>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Liberation Sans Narrow" pitchFamily="34" charset="0"/>
                <a:ea typeface="Liberation Sans Narrow" pitchFamily="34" charset="-122"/>
                <a:cs typeface="Liberation Sans Narrow" pitchFamily="34" charset="-120"/>
              </a:rPr>
              <a:t>04 · BOOTLOADER</a:t>
            </a:r>
            <a:endParaRPr lang="en-US" sz="800" dirty="0"/>
          </a:p>
        </p:txBody>
      </p:sp>
      <p:sp>
        <p:nvSpPr>
          <p:cNvPr id="22" name="Text 19"/>
          <p:cNvSpPr/>
          <p:nvPr/>
        </p:nvSpPr>
        <p:spPr>
          <a:xfrm>
            <a:off x="592931" y="2457785"/>
            <a:ext cx="114300" cy="114300"/>
          </a:xfrm>
          <a:prstGeom prst="rect">
            <a:avLst/>
          </a:prstGeom>
          <a:noFill/>
          <a:ln/>
        </p:spPr>
        <p:txBody>
          <a:bodyPr wrap="none" lIns="0" tIns="0" rIns="0" bIns="0" rtlCol="0" anchor="ctr"/>
          <a:lstStyle/>
          <a:p>
            <a:pPr marL="0" indent="0" algn="ctr">
              <a:buNone/>
            </a:pPr>
            <a:r>
              <a:rPr lang="en-US" sz="1125" dirty="0">
                <a:solidFill>
                  <a:srgbClr val="C9A961"/>
                </a:solidFill>
                <a:latin typeface="Segoe UI Symbol" pitchFamily="34" charset="0"/>
                <a:ea typeface="Segoe UI Symbol" pitchFamily="34" charset="-122"/>
                <a:cs typeface="Segoe UI Symbol" pitchFamily="34" charset="-120"/>
              </a:rPr>
              <a:t>➤</a:t>
            </a:r>
            <a:endParaRPr lang="en-US" sz="1125" dirty="0"/>
          </a:p>
        </p:txBody>
      </p:sp>
      <p:sp>
        <p:nvSpPr>
          <p:cNvPr id="23" name="Text 20"/>
          <p:cNvSpPr/>
          <p:nvPr/>
        </p:nvSpPr>
        <p:spPr>
          <a:xfrm>
            <a:off x="1907381" y="2439925"/>
            <a:ext cx="2527816" cy="150019"/>
          </a:xfrm>
          <a:prstGeom prst="rect">
            <a:avLst/>
          </a:prstGeom>
          <a:noFill/>
          <a:ln/>
        </p:spPr>
        <p:txBody>
          <a:bodyPr wrap="none" lIns="0" tIns="0" rIns="0" bIns="0" rtlCol="0" anchor="t"/>
          <a:lstStyle/>
          <a:p>
            <a:pPr marL="0" indent="0" algn="l">
              <a:lnSpc>
                <a:spcPts val="1181"/>
              </a:lnSpc>
              <a:buNone/>
            </a:pPr>
            <a:r>
              <a:rPr lang="en-US" sz="800" dirty="0">
                <a:solidFill>
                  <a:srgbClr val="0F2A4A"/>
                </a:solidFill>
                <a:latin typeface="Carlito" pitchFamily="34" charset="0"/>
                <a:ea typeface="Carlito" pitchFamily="34" charset="-122"/>
                <a:cs typeface="Carlito" pitchFamily="34" charset="-120"/>
              </a:rPr>
              <a:t>U-Boot / Coreboot</a:t>
            </a:r>
            <a:endParaRPr lang="en-US" sz="800" dirty="0"/>
          </a:p>
        </p:txBody>
      </p:sp>
      <p:sp>
        <p:nvSpPr>
          <p:cNvPr id="24" name="Text 21"/>
          <p:cNvSpPr/>
          <p:nvPr/>
        </p:nvSpPr>
        <p:spPr>
          <a:xfrm>
            <a:off x="4414838" y="2457450"/>
            <a:ext cx="2407444" cy="132494"/>
          </a:xfrm>
          <a:prstGeom prst="rect">
            <a:avLst/>
          </a:prstGeom>
          <a:noFill/>
          <a:ln/>
        </p:spPr>
        <p:txBody>
          <a:bodyPr wrap="none" lIns="0" tIns="0" rIns="0" bIns="0" rtlCol="0" anchor="t"/>
          <a:lstStyle/>
          <a:p>
            <a:pPr marL="0" indent="0" algn="l">
              <a:lnSpc>
                <a:spcPts val="906"/>
              </a:lnSpc>
              <a:buNone/>
            </a:pPr>
            <a:r>
              <a:rPr lang="en-US" sz="800" dirty="0">
                <a:solidFill>
                  <a:srgbClr val="6B7280"/>
                </a:solidFill>
                <a:latin typeface="Carlito" pitchFamily="34" charset="0"/>
                <a:ea typeface="Carlito" pitchFamily="34" charset="-122"/>
                <a:cs typeface="Carlito" pitchFamily="34" charset="-120"/>
              </a:rPr>
              <a:t>Verified by ROM stage</a:t>
            </a:r>
            <a:endParaRPr lang="en-US" sz="800" dirty="0"/>
          </a:p>
        </p:txBody>
      </p:sp>
      <p:sp>
        <p:nvSpPr>
          <p:cNvPr id="25" name="Text 22"/>
          <p:cNvSpPr/>
          <p:nvPr/>
        </p:nvSpPr>
        <p:spPr>
          <a:xfrm>
            <a:off x="3702248" y="2697100"/>
            <a:ext cx="10716" cy="171450"/>
          </a:xfrm>
          <a:prstGeom prst="rect">
            <a:avLst/>
          </a:prstGeom>
          <a:solidFill>
            <a:srgbClr val="0F2A4A"/>
          </a:solidFill>
          <a:ln/>
        </p:spPr>
        <p:txBody>
          <a:bodyPr wrap="square" rtlCol="0" anchor="ctr"/>
          <a:lstStyle/>
          <a:p>
            <a:pPr marL="0" indent="0">
              <a:buNone/>
            </a:pPr>
            <a:endParaRPr lang="en-US" dirty="0"/>
          </a:p>
        </p:txBody>
      </p:sp>
      <p:sp>
        <p:nvSpPr>
          <p:cNvPr id="26" name="Text 23"/>
          <p:cNvSpPr/>
          <p:nvPr/>
        </p:nvSpPr>
        <p:spPr>
          <a:xfrm>
            <a:off x="460772" y="2893554"/>
            <a:ext cx="6493669" cy="400050"/>
          </a:xfrm>
          <a:prstGeom prst="roundRect">
            <a:avLst>
              <a:gd name="adj" fmla="val 14286"/>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7" name="Text 24"/>
          <p:cNvSpPr/>
          <p:nvPr/>
        </p:nvSpPr>
        <p:spPr>
          <a:xfrm>
            <a:off x="764381" y="2989994"/>
            <a:ext cx="1327521" cy="221456"/>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Liberation Sans Narrow" pitchFamily="34" charset="0"/>
                <a:ea typeface="Liberation Sans Narrow" pitchFamily="34" charset="-122"/>
                <a:cs typeface="Liberation Sans Narrow" pitchFamily="34" charset="-120"/>
              </a:rPr>
              <a:t>03 · SECURE BOOT ROM</a:t>
            </a:r>
            <a:endParaRPr lang="en-US" sz="800" dirty="0"/>
          </a:p>
        </p:txBody>
      </p:sp>
      <p:sp>
        <p:nvSpPr>
          <p:cNvPr id="28" name="Text 25"/>
          <p:cNvSpPr/>
          <p:nvPr/>
        </p:nvSpPr>
        <p:spPr>
          <a:xfrm>
            <a:off x="592931" y="3036429"/>
            <a:ext cx="114300" cy="114300"/>
          </a:xfrm>
          <a:prstGeom prst="rect">
            <a:avLst/>
          </a:prstGeom>
          <a:noFill/>
          <a:ln/>
        </p:spPr>
        <p:txBody>
          <a:bodyPr wrap="none" lIns="0" tIns="0" rIns="0" bIns="0" rtlCol="0" anchor="ctr"/>
          <a:lstStyle/>
          <a:p>
            <a:pPr marL="0" indent="0" algn="ctr">
              <a:buNone/>
            </a:pPr>
            <a:r>
              <a:rPr lang="en-US" sz="1125" dirty="0">
                <a:solidFill>
                  <a:srgbClr val="C9A961"/>
                </a:solidFill>
                <a:latin typeface="Segoe UI Symbol" pitchFamily="34" charset="0"/>
                <a:ea typeface="Segoe UI Symbol" pitchFamily="34" charset="-122"/>
                <a:cs typeface="Segoe UI Symbol" pitchFamily="34" charset="-120"/>
              </a:rPr>
              <a:t>⚿</a:t>
            </a:r>
            <a:endParaRPr lang="en-US" sz="1125" dirty="0"/>
          </a:p>
        </p:txBody>
      </p:sp>
      <p:sp>
        <p:nvSpPr>
          <p:cNvPr id="29" name="Text 26"/>
          <p:cNvSpPr/>
          <p:nvPr/>
        </p:nvSpPr>
        <p:spPr>
          <a:xfrm>
            <a:off x="1907381" y="3018569"/>
            <a:ext cx="2527816" cy="164592"/>
          </a:xfrm>
          <a:prstGeom prst="rect">
            <a:avLst/>
          </a:prstGeom>
          <a:noFill/>
          <a:ln/>
        </p:spPr>
        <p:txBody>
          <a:bodyPr wrap="none" lIns="0" tIns="0" rIns="0" bIns="0" rtlCol="0" anchor="t"/>
          <a:lstStyle/>
          <a:p>
            <a:pPr marL="0" indent="0" algn="l">
              <a:lnSpc>
                <a:spcPts val="1181"/>
              </a:lnSpc>
              <a:buNone/>
            </a:pPr>
            <a:r>
              <a:rPr lang="en-US" sz="800" dirty="0">
                <a:solidFill>
                  <a:srgbClr val="0F2A4A"/>
                </a:solidFill>
                <a:latin typeface="Carlito" pitchFamily="34" charset="0"/>
                <a:ea typeface="Carlito" pitchFamily="34" charset="-122"/>
                <a:cs typeface="Carlito" pitchFamily="34" charset="-120"/>
              </a:rPr>
              <a:t>Immutable mask ROM</a:t>
            </a:r>
            <a:endParaRPr lang="en-US" sz="800" dirty="0"/>
          </a:p>
        </p:txBody>
      </p:sp>
      <p:sp>
        <p:nvSpPr>
          <p:cNvPr id="30" name="Text 27"/>
          <p:cNvSpPr/>
          <p:nvPr/>
        </p:nvSpPr>
        <p:spPr>
          <a:xfrm>
            <a:off x="4414838" y="3036094"/>
            <a:ext cx="2407444" cy="153560"/>
          </a:xfrm>
          <a:prstGeom prst="rect">
            <a:avLst/>
          </a:prstGeom>
          <a:noFill/>
          <a:ln/>
        </p:spPr>
        <p:txBody>
          <a:bodyPr wrap="none" lIns="0" tIns="0" rIns="0" bIns="0" rtlCol="0" anchor="t"/>
          <a:lstStyle/>
          <a:p>
            <a:pPr marL="0" indent="0" algn="l">
              <a:lnSpc>
                <a:spcPts val="906"/>
              </a:lnSpc>
              <a:buNone/>
            </a:pPr>
            <a:r>
              <a:rPr lang="en-US" sz="800" dirty="0">
                <a:solidFill>
                  <a:srgbClr val="6B7280"/>
                </a:solidFill>
                <a:latin typeface="Carlito" pitchFamily="34" charset="0"/>
                <a:ea typeface="Carlito" pitchFamily="34" charset="-122"/>
                <a:cs typeface="Carlito" pitchFamily="34" charset="-120"/>
              </a:rPr>
              <a:t>Vendor burned at factory</a:t>
            </a:r>
            <a:endParaRPr lang="en-US" sz="800" dirty="0"/>
          </a:p>
        </p:txBody>
      </p:sp>
      <p:sp>
        <p:nvSpPr>
          <p:cNvPr id="31" name="Text 28"/>
          <p:cNvSpPr/>
          <p:nvPr/>
        </p:nvSpPr>
        <p:spPr>
          <a:xfrm>
            <a:off x="3702248" y="3318607"/>
            <a:ext cx="10716" cy="171450"/>
          </a:xfrm>
          <a:prstGeom prst="rect">
            <a:avLst/>
          </a:prstGeom>
          <a:solidFill>
            <a:srgbClr val="0F2A4A"/>
          </a:solidFill>
          <a:ln/>
        </p:spPr>
        <p:txBody>
          <a:bodyPr wrap="square" rtlCol="0" anchor="ctr"/>
          <a:lstStyle/>
          <a:p>
            <a:pPr marL="0" indent="0">
              <a:buNone/>
            </a:pPr>
            <a:endParaRPr lang="en-US" dirty="0"/>
          </a:p>
        </p:txBody>
      </p:sp>
      <p:sp>
        <p:nvSpPr>
          <p:cNvPr id="32" name="Text 29"/>
          <p:cNvSpPr/>
          <p:nvPr/>
        </p:nvSpPr>
        <p:spPr>
          <a:xfrm>
            <a:off x="460772" y="3515060"/>
            <a:ext cx="6493669" cy="400050"/>
          </a:xfrm>
          <a:prstGeom prst="roundRect">
            <a:avLst>
              <a:gd name="adj" fmla="val 14286"/>
            </a:avLst>
          </a:prstGeom>
          <a:solidFill>
            <a:srgbClr val="FBF7EB"/>
          </a:solidFill>
          <a:ln w="7144">
            <a:solidFill>
              <a:srgbClr val="C9A961"/>
            </a:solidFill>
            <a:prstDash val="solid"/>
          </a:ln>
        </p:spPr>
        <p:txBody>
          <a:bodyPr wrap="square" rtlCol="0" anchor="ctr"/>
          <a:lstStyle/>
          <a:p>
            <a:pPr marL="0" indent="0">
              <a:buNone/>
            </a:pPr>
            <a:endParaRPr lang="en-US" dirty="0"/>
          </a:p>
        </p:txBody>
      </p:sp>
      <p:sp>
        <p:nvSpPr>
          <p:cNvPr id="33" name="Text 30"/>
          <p:cNvSpPr/>
          <p:nvPr/>
        </p:nvSpPr>
        <p:spPr>
          <a:xfrm>
            <a:off x="764381" y="3611500"/>
            <a:ext cx="799542" cy="221456"/>
          </a:xfrm>
          <a:prstGeom prst="rect">
            <a:avLst/>
          </a:prstGeom>
          <a:noFill/>
          <a:ln/>
        </p:spPr>
        <p:txBody>
          <a:bodyPr wrap="none" lIns="0" tIns="0" rIns="0" bIns="0" rtlCol="0" anchor="t"/>
          <a:lstStyle/>
          <a:p>
            <a:pPr marL="0" indent="0" algn="l">
              <a:lnSpc>
                <a:spcPts val="928"/>
              </a:lnSpc>
              <a:buNone/>
            </a:pPr>
            <a:r>
              <a:rPr lang="en-US" sz="619" b="1" kern="0" spc="111" dirty="0">
                <a:solidFill>
                  <a:srgbClr val="C9A961"/>
                </a:solidFill>
                <a:latin typeface="Liberation Sans Narrow" pitchFamily="34" charset="0"/>
                <a:ea typeface="Liberation Sans Narrow" pitchFamily="34" charset="-122"/>
                <a:cs typeface="Liberation Sans Narrow" pitchFamily="34" charset="-120"/>
              </a:rPr>
              <a:t>02 · HARDWARE ROOT</a:t>
            </a:r>
            <a:endParaRPr lang="en-US" sz="619" dirty="0"/>
          </a:p>
        </p:txBody>
      </p:sp>
      <p:sp>
        <p:nvSpPr>
          <p:cNvPr id="34" name="Text 31"/>
          <p:cNvSpPr/>
          <p:nvPr/>
        </p:nvSpPr>
        <p:spPr>
          <a:xfrm>
            <a:off x="592931" y="3657935"/>
            <a:ext cx="114300" cy="114300"/>
          </a:xfrm>
          <a:prstGeom prst="rect">
            <a:avLst/>
          </a:prstGeom>
          <a:noFill/>
          <a:ln/>
        </p:spPr>
        <p:txBody>
          <a:bodyPr wrap="none" lIns="0" tIns="0" rIns="0" bIns="0" rtlCol="0" anchor="ctr"/>
          <a:lstStyle/>
          <a:p>
            <a:pPr marL="0" indent="0" algn="ctr">
              <a:buNone/>
            </a:pPr>
            <a:r>
              <a:rPr lang="en-US" sz="1125" dirty="0">
                <a:solidFill>
                  <a:srgbClr val="C9A961"/>
                </a:solidFill>
                <a:latin typeface="Segoe UI Symbol" pitchFamily="34" charset="0"/>
                <a:ea typeface="Segoe UI Symbol" pitchFamily="34" charset="-122"/>
                <a:cs typeface="Segoe UI Symbol" pitchFamily="34" charset="-120"/>
              </a:rPr>
              <a:t>⚿</a:t>
            </a:r>
            <a:endParaRPr lang="en-US" sz="1125" dirty="0"/>
          </a:p>
        </p:txBody>
      </p:sp>
      <p:sp>
        <p:nvSpPr>
          <p:cNvPr id="35" name="Text 32"/>
          <p:cNvSpPr/>
          <p:nvPr/>
        </p:nvSpPr>
        <p:spPr>
          <a:xfrm>
            <a:off x="1907381" y="3640075"/>
            <a:ext cx="2600039" cy="164592"/>
          </a:xfrm>
          <a:prstGeom prst="rect">
            <a:avLst/>
          </a:prstGeom>
          <a:noFill/>
          <a:ln/>
        </p:spPr>
        <p:txBody>
          <a:bodyPr wrap="square" lIns="0" tIns="0" rIns="0" bIns="0" rtlCol="0" anchor="t"/>
          <a:lstStyle/>
          <a:p>
            <a:pPr marL="0" indent="0" algn="l">
              <a:lnSpc>
                <a:spcPts val="1181"/>
              </a:lnSpc>
              <a:buNone/>
            </a:pPr>
            <a:r>
              <a:rPr lang="en-US" sz="800" dirty="0">
                <a:solidFill>
                  <a:srgbClr val="0F2A4A"/>
                </a:solidFill>
                <a:latin typeface="Carlito" pitchFamily="34" charset="0"/>
                <a:ea typeface="Carlito" pitchFamily="34" charset="-122"/>
                <a:cs typeface="Carlito" pitchFamily="34" charset="-120"/>
              </a:rPr>
              <a:t>eFUSE, OTP, Public-key hash</a:t>
            </a:r>
            <a:endParaRPr lang="en-US" sz="800" dirty="0"/>
          </a:p>
        </p:txBody>
      </p:sp>
      <p:sp>
        <p:nvSpPr>
          <p:cNvPr id="36" name="Text 33"/>
          <p:cNvSpPr/>
          <p:nvPr/>
        </p:nvSpPr>
        <p:spPr>
          <a:xfrm>
            <a:off x="4414838" y="3657600"/>
            <a:ext cx="2407444" cy="153560"/>
          </a:xfrm>
          <a:prstGeom prst="rect">
            <a:avLst/>
          </a:prstGeom>
          <a:noFill/>
          <a:ln/>
        </p:spPr>
        <p:txBody>
          <a:bodyPr wrap="none" lIns="0" tIns="0" rIns="0" bIns="0" rtlCol="0" anchor="t"/>
          <a:lstStyle/>
          <a:p>
            <a:pPr marL="0" indent="0" algn="l">
              <a:lnSpc>
                <a:spcPts val="906"/>
              </a:lnSpc>
              <a:buNone/>
            </a:pPr>
            <a:r>
              <a:rPr lang="en-US" sz="800" dirty="0">
                <a:solidFill>
                  <a:srgbClr val="6B7280"/>
                </a:solidFill>
                <a:latin typeface="Carlito" pitchFamily="34" charset="0"/>
                <a:ea typeface="Carlito" pitchFamily="34" charset="-122"/>
                <a:cs typeface="Carlito" pitchFamily="34" charset="-120"/>
              </a:rPr>
              <a:t>Anchored in silicon</a:t>
            </a:r>
            <a:endParaRPr lang="en-US" sz="800" dirty="0"/>
          </a:p>
        </p:txBody>
      </p:sp>
      <p:sp>
        <p:nvSpPr>
          <p:cNvPr id="37" name="Text 34"/>
          <p:cNvSpPr/>
          <p:nvPr/>
        </p:nvSpPr>
        <p:spPr>
          <a:xfrm>
            <a:off x="3702248" y="3940113"/>
            <a:ext cx="10716" cy="171450"/>
          </a:xfrm>
          <a:prstGeom prst="rect">
            <a:avLst/>
          </a:prstGeom>
          <a:solidFill>
            <a:srgbClr val="0F2A4A"/>
          </a:solidFill>
          <a:ln/>
        </p:spPr>
        <p:txBody>
          <a:bodyPr wrap="square" rtlCol="0" anchor="ctr"/>
          <a:lstStyle/>
          <a:p>
            <a:pPr marL="0" indent="0">
              <a:buNone/>
            </a:pPr>
            <a:endParaRPr lang="en-US" dirty="0"/>
          </a:p>
        </p:txBody>
      </p:sp>
      <p:sp>
        <p:nvSpPr>
          <p:cNvPr id="38" name="Text 35"/>
          <p:cNvSpPr/>
          <p:nvPr/>
        </p:nvSpPr>
        <p:spPr>
          <a:xfrm>
            <a:off x="460772" y="4136566"/>
            <a:ext cx="6493669" cy="314325"/>
          </a:xfrm>
          <a:prstGeom prst="roundRect">
            <a:avLst>
              <a:gd name="adj" fmla="val 18182"/>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39" name="Text 36"/>
          <p:cNvSpPr/>
          <p:nvPr/>
        </p:nvSpPr>
        <p:spPr>
          <a:xfrm>
            <a:off x="764381" y="4249080"/>
            <a:ext cx="1236497" cy="119658"/>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Liberation Sans Narrow" pitchFamily="34" charset="0"/>
                <a:ea typeface="Liberation Sans Narrow" pitchFamily="34" charset="-122"/>
                <a:cs typeface="Liberation Sans Narrow" pitchFamily="34" charset="-120"/>
              </a:rPr>
              <a:t>01 · SILICON SOC</a:t>
            </a:r>
            <a:endParaRPr lang="en-US" sz="800" dirty="0"/>
          </a:p>
        </p:txBody>
      </p:sp>
      <p:sp>
        <p:nvSpPr>
          <p:cNvPr id="40" name="Text 37"/>
          <p:cNvSpPr/>
          <p:nvPr/>
        </p:nvSpPr>
        <p:spPr>
          <a:xfrm>
            <a:off x="592931" y="4236579"/>
            <a:ext cx="114300" cy="114300"/>
          </a:xfrm>
          <a:prstGeom prst="rect">
            <a:avLst/>
          </a:prstGeom>
          <a:noFill/>
          <a:ln/>
        </p:spPr>
        <p:txBody>
          <a:bodyPr wrap="none" lIns="0" tIns="0" rIns="0" bIns="0" rtlCol="0" anchor="ctr"/>
          <a:lstStyle/>
          <a:p>
            <a:pPr marL="0" indent="0" algn="ctr">
              <a:buNone/>
            </a:pPr>
            <a:r>
              <a:rPr lang="en-US" sz="1125" dirty="0">
                <a:solidFill>
                  <a:srgbClr val="C9A961"/>
                </a:solidFill>
                <a:latin typeface="Segoe UI Symbol" pitchFamily="34" charset="0"/>
                <a:ea typeface="Segoe UI Symbol" pitchFamily="34" charset="-122"/>
                <a:cs typeface="Segoe UI Symbol" pitchFamily="34" charset="-120"/>
              </a:rPr>
              <a:t>✦</a:t>
            </a:r>
            <a:endParaRPr lang="en-US" sz="1125" dirty="0"/>
          </a:p>
        </p:txBody>
      </p:sp>
      <p:sp>
        <p:nvSpPr>
          <p:cNvPr id="41" name="Text 38"/>
          <p:cNvSpPr/>
          <p:nvPr/>
        </p:nvSpPr>
        <p:spPr>
          <a:xfrm>
            <a:off x="1907381" y="4218719"/>
            <a:ext cx="2527816" cy="150019"/>
          </a:xfrm>
          <a:prstGeom prst="rect">
            <a:avLst/>
          </a:prstGeom>
          <a:noFill/>
          <a:ln/>
        </p:spPr>
        <p:txBody>
          <a:bodyPr wrap="none" lIns="0" tIns="0" rIns="0" bIns="0" rtlCol="0" anchor="t"/>
          <a:lstStyle/>
          <a:p>
            <a:pPr marL="0" indent="0" algn="l">
              <a:lnSpc>
                <a:spcPts val="1181"/>
              </a:lnSpc>
              <a:buNone/>
            </a:pPr>
            <a:r>
              <a:rPr lang="en-US" sz="800" dirty="0">
                <a:solidFill>
                  <a:srgbClr val="0F2A4A"/>
                </a:solidFill>
                <a:latin typeface="Carlito" pitchFamily="34" charset="0"/>
                <a:ea typeface="Carlito" pitchFamily="34" charset="-122"/>
                <a:cs typeface="Carlito" pitchFamily="34" charset="-120"/>
              </a:rPr>
              <a:t>ARM Cortex-M / RISC-V</a:t>
            </a:r>
            <a:endParaRPr lang="en-US" sz="800" dirty="0"/>
          </a:p>
        </p:txBody>
      </p:sp>
      <p:sp>
        <p:nvSpPr>
          <p:cNvPr id="42" name="Text 39"/>
          <p:cNvSpPr/>
          <p:nvPr/>
        </p:nvSpPr>
        <p:spPr>
          <a:xfrm>
            <a:off x="4414838" y="4236244"/>
            <a:ext cx="2407444" cy="132494"/>
          </a:xfrm>
          <a:prstGeom prst="rect">
            <a:avLst/>
          </a:prstGeom>
          <a:noFill/>
          <a:ln/>
        </p:spPr>
        <p:txBody>
          <a:bodyPr wrap="none" lIns="0" tIns="0" rIns="0" bIns="0" rtlCol="0" anchor="t"/>
          <a:lstStyle/>
          <a:p>
            <a:pPr marL="0" indent="0" algn="l">
              <a:lnSpc>
                <a:spcPts val="906"/>
              </a:lnSpc>
              <a:buNone/>
            </a:pPr>
            <a:r>
              <a:rPr lang="en-US" sz="800" dirty="0">
                <a:solidFill>
                  <a:srgbClr val="6B7280"/>
                </a:solidFill>
                <a:latin typeface="Carlito" pitchFamily="34" charset="0"/>
                <a:ea typeface="Carlito" pitchFamily="34" charset="-122"/>
                <a:cs typeface="Carlito" pitchFamily="34" charset="-120"/>
              </a:rPr>
              <a:t>TrustZone-M / PMP</a:t>
            </a:r>
            <a:endParaRPr lang="en-US" sz="800" dirty="0"/>
          </a:p>
        </p:txBody>
      </p:sp>
      <p:sp>
        <p:nvSpPr>
          <p:cNvPr id="43" name="Shape 40"/>
          <p:cNvSpPr/>
          <p:nvPr/>
        </p:nvSpPr>
        <p:spPr>
          <a:xfrm>
            <a:off x="7118747" y="936501"/>
            <a:ext cx="0" cy="3864099"/>
          </a:xfrm>
          <a:prstGeom prst="line">
            <a:avLst/>
          </a:prstGeom>
          <a:noFill/>
          <a:ln w="7144">
            <a:solidFill>
              <a:srgbClr val="D8DEE6"/>
            </a:solidFill>
            <a:prstDash val="solid"/>
          </a:ln>
        </p:spPr>
      </p:sp>
      <p:sp>
        <p:nvSpPr>
          <p:cNvPr id="44" name="Text 41"/>
          <p:cNvSpPr/>
          <p:nvPr/>
        </p:nvSpPr>
        <p:spPr>
          <a:xfrm>
            <a:off x="7279481" y="936501"/>
            <a:ext cx="1407319" cy="161877"/>
          </a:xfrm>
          <a:prstGeom prst="rect">
            <a:avLst/>
          </a:prstGeom>
          <a:noFill/>
          <a:ln/>
        </p:spPr>
        <p:txBody>
          <a:bodyPr wrap="none" lIns="0" tIns="0" rIns="0" bIns="0" rtlCol="0" anchor="t">
            <a:normAutofit/>
          </a:bodyPr>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APPLICATIONS</a:t>
            </a:r>
            <a:endParaRPr lang="en-US" sz="800" dirty="0"/>
          </a:p>
        </p:txBody>
      </p:sp>
      <p:sp>
        <p:nvSpPr>
          <p:cNvPr id="45" name="Text 42"/>
          <p:cNvSpPr/>
          <p:nvPr/>
        </p:nvSpPr>
        <p:spPr>
          <a:xfrm>
            <a:off x="7379494" y="1125810"/>
            <a:ext cx="1385745" cy="477060"/>
          </a:xfrm>
          <a:prstGeom prst="rect">
            <a:avLst/>
          </a:prstGeom>
          <a:noFill/>
          <a:ln/>
        </p:spPr>
        <p:txBody>
          <a:bodyPr wrap="square" lIns="0" tIns="0" rIns="0" bIns="0" rtlCol="0" anchor="t"/>
          <a:lstStyle/>
          <a:p>
            <a:pPr marL="0" indent="0" algn="l">
              <a:lnSpc>
                <a:spcPts val="979"/>
              </a:lnSpc>
              <a:buNone/>
            </a:pPr>
            <a:r>
              <a:rPr lang="en-US" sz="800" dirty="0">
                <a:solidFill>
                  <a:srgbClr val="0F2A4A"/>
                </a:solidFill>
                <a:latin typeface="Carlito" pitchFamily="34" charset="0"/>
                <a:ea typeface="Carlito" pitchFamily="34" charset="-122"/>
                <a:cs typeface="Carlito" pitchFamily="34" charset="-120"/>
              </a:rPr>
              <a:t>Smart meters</a:t>
            </a:r>
            <a:r>
              <a:rPr lang="en-US" sz="800" dirty="0">
                <a:solidFill>
                  <a:srgbClr val="4A5568"/>
                </a:solidFill>
                <a:latin typeface="Carlito" pitchFamily="34" charset="0"/>
                <a:ea typeface="Carlito" pitchFamily="34" charset="-122"/>
                <a:cs typeface="Carlito" pitchFamily="34" charset="-120"/>
              </a:rPr>
              <a:t> verify firmware signatures before accepting OTA updates.</a:t>
            </a:r>
            <a:endParaRPr lang="en-US" sz="800" dirty="0"/>
          </a:p>
        </p:txBody>
      </p:sp>
      <p:sp>
        <p:nvSpPr>
          <p:cNvPr id="46" name="Text 43"/>
          <p:cNvSpPr/>
          <p:nvPr/>
        </p:nvSpPr>
        <p:spPr>
          <a:xfrm>
            <a:off x="7379494" y="1569951"/>
            <a:ext cx="1385745" cy="477060"/>
          </a:xfrm>
          <a:prstGeom prst="rect">
            <a:avLst/>
          </a:prstGeom>
          <a:noFill/>
          <a:ln/>
        </p:spPr>
        <p:txBody>
          <a:bodyPr wrap="square" lIns="0" tIns="0" rIns="0" bIns="0" rtlCol="0" anchor="t"/>
          <a:lstStyle/>
          <a:p>
            <a:pPr marL="0" indent="0" algn="l">
              <a:lnSpc>
                <a:spcPts val="979"/>
              </a:lnSpc>
              <a:buNone/>
            </a:pPr>
            <a:r>
              <a:rPr lang="en-US" sz="800" dirty="0">
                <a:solidFill>
                  <a:srgbClr val="0F2A4A"/>
                </a:solidFill>
                <a:latin typeface="Carlito" pitchFamily="34" charset="0"/>
                <a:ea typeface="Carlito" pitchFamily="34" charset="-122"/>
                <a:cs typeface="Carlito" pitchFamily="34" charset="-120"/>
              </a:rPr>
              <a:t>Medical insulin pumps</a:t>
            </a:r>
            <a:r>
              <a:rPr lang="en-US" sz="800" dirty="0">
                <a:solidFill>
                  <a:srgbClr val="4A5568"/>
                </a:solidFill>
                <a:latin typeface="Carlito" pitchFamily="34" charset="0"/>
                <a:ea typeface="Carlito" pitchFamily="34" charset="-122"/>
                <a:cs typeface="Carlito" pitchFamily="34" charset="-120"/>
              </a:rPr>
              <a:t> lock down actuator control to signed code only.</a:t>
            </a:r>
            <a:endParaRPr lang="en-US" sz="800" dirty="0"/>
          </a:p>
        </p:txBody>
      </p:sp>
      <p:sp>
        <p:nvSpPr>
          <p:cNvPr id="47" name="Text 44"/>
          <p:cNvSpPr/>
          <p:nvPr/>
        </p:nvSpPr>
        <p:spPr>
          <a:xfrm>
            <a:off x="7379494" y="2014091"/>
            <a:ext cx="1385745" cy="477060"/>
          </a:xfrm>
          <a:prstGeom prst="rect">
            <a:avLst/>
          </a:prstGeom>
          <a:noFill/>
          <a:ln/>
        </p:spPr>
        <p:txBody>
          <a:bodyPr wrap="square" lIns="0" tIns="0" rIns="0" bIns="0" rtlCol="0" anchor="t"/>
          <a:lstStyle/>
          <a:p>
            <a:pPr marL="0" indent="0" algn="l">
              <a:lnSpc>
                <a:spcPts val="979"/>
              </a:lnSpc>
              <a:buNone/>
            </a:pPr>
            <a:r>
              <a:rPr lang="en-US" sz="800" dirty="0">
                <a:solidFill>
                  <a:srgbClr val="0F2A4A"/>
                </a:solidFill>
                <a:latin typeface="Carlito" pitchFamily="34" charset="0"/>
                <a:ea typeface="Carlito" pitchFamily="34" charset="-122"/>
                <a:cs typeface="Carlito" pitchFamily="34" charset="-120"/>
              </a:rPr>
              <a:t>Automotive ECUs</a:t>
            </a:r>
            <a:r>
              <a:rPr lang="en-US" sz="800" dirty="0">
                <a:solidFill>
                  <a:srgbClr val="4A5568"/>
                </a:solidFill>
                <a:latin typeface="Carlito" pitchFamily="34" charset="0"/>
                <a:ea typeface="Carlito" pitchFamily="34" charset="-122"/>
                <a:cs typeface="Carlito" pitchFamily="34" charset="-120"/>
              </a:rPr>
              <a:t> enforce Secure Boot to prevent tuning/ECU mod attacks.</a:t>
            </a:r>
            <a:endParaRPr lang="en-US" sz="800" dirty="0"/>
          </a:p>
        </p:txBody>
      </p:sp>
      <p:sp>
        <p:nvSpPr>
          <p:cNvPr id="48" name="Text 45"/>
          <p:cNvSpPr/>
          <p:nvPr/>
        </p:nvSpPr>
        <p:spPr>
          <a:xfrm>
            <a:off x="7256621" y="4577215"/>
            <a:ext cx="1100316" cy="236030"/>
          </a:xfrm>
          <a:prstGeom prst="roundRect">
            <a:avLst>
              <a:gd name="adj" fmla="val 4031468"/>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49" name="Text 46"/>
          <p:cNvSpPr/>
          <p:nvPr/>
        </p:nvSpPr>
        <p:spPr>
          <a:xfrm>
            <a:off x="7279481" y="4589859"/>
            <a:ext cx="1054596" cy="210741"/>
          </a:xfrm>
          <a:prstGeom prst="rect">
            <a:avLst/>
          </a:prstGeom>
          <a:noFill/>
          <a:ln/>
        </p:spPr>
        <p:txBody>
          <a:bodyPr wrap="none" lIns="0" tIns="0" rIns="0" bIns="0" rtlCol="0" anchor="ctr"/>
          <a:lstStyle/>
          <a:p>
            <a:pPr marL="0" indent="0" algn="ctr">
              <a:lnSpc>
                <a:spcPts val="1097"/>
              </a:lnSpc>
              <a:buNone/>
            </a:pPr>
            <a:r>
              <a:rPr lang="en-US" sz="800" dirty="0">
                <a:solidFill>
                  <a:srgbClr val="0F2A4A"/>
                </a:solidFill>
                <a:latin typeface="Carlito" pitchFamily="34" charset="0"/>
                <a:ea typeface="Carlito" pitchFamily="34" charset="-122"/>
                <a:cs typeface="Carlito" pitchFamily="34" charset="-120"/>
              </a:rPr>
              <a:t>Chain-of-Trust model</a:t>
            </a:r>
            <a:endParaRPr lang="en-US" sz="800" dirty="0"/>
          </a:p>
        </p:txBody>
      </p:sp>
      <p:sp>
        <p:nvSpPr>
          <p:cNvPr id="50" name="Text 47"/>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51" name="Text 48"/>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06 / 21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05395"/>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57175"/>
            <a:ext cx="7060927" cy="164592"/>
          </a:xfrm>
          <a:prstGeom prst="rect">
            <a:avLst/>
          </a:prstGeom>
          <a:noFill/>
          <a:ln/>
        </p:spPr>
        <p:txBody>
          <a:bodyPr wrap="none" lIns="0" tIns="0" rIns="0" bIns="0" rtlCol="0" anchor="t"/>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03 · NETWORK SECURITY</a:t>
            </a:r>
            <a:endParaRPr lang="en-US" sz="800" dirty="0"/>
          </a:p>
        </p:txBody>
      </p:sp>
      <p:sp>
        <p:nvSpPr>
          <p:cNvPr id="5" name="Text 2"/>
          <p:cNvSpPr/>
          <p:nvPr/>
        </p:nvSpPr>
        <p:spPr>
          <a:xfrm>
            <a:off x="7532415" y="267891"/>
            <a:ext cx="1403751" cy="164592"/>
          </a:xfrm>
          <a:prstGeom prst="rect">
            <a:avLst/>
          </a:prstGeom>
          <a:noFill/>
          <a:ln/>
        </p:spPr>
        <p:txBody>
          <a:bodyPr wrap="none" lIns="0" tIns="0" rIns="0" bIns="0" rtlCol="0" anchor="t"/>
          <a:lstStyle/>
          <a:p>
            <a:pPr marL="0" indent="0" algn="l">
              <a:lnSpc>
                <a:spcPts val="928"/>
              </a:lnSpc>
              <a:buNone/>
            </a:pPr>
            <a:r>
              <a:rPr lang="en-US" sz="800" kern="0" spc="93" dirty="0">
                <a:solidFill>
                  <a:srgbClr val="6B7280"/>
                </a:solidFill>
                <a:latin typeface="Liberation Sans Narrow" pitchFamily="34" charset="0"/>
                <a:ea typeface="Liberation Sans Narrow" pitchFamily="34" charset="-122"/>
                <a:cs typeface="Liberation Sans Narrow" pitchFamily="34" charset="-120"/>
              </a:rPr>
              <a:t>CONCEPT · LECTURE 3 / 9</a:t>
            </a:r>
            <a:endParaRPr lang="en-US" sz="800" dirty="0"/>
          </a:p>
        </p:txBody>
      </p:sp>
      <p:sp>
        <p:nvSpPr>
          <p:cNvPr id="6" name="Text 3"/>
          <p:cNvSpPr/>
          <p:nvPr/>
        </p:nvSpPr>
        <p:spPr>
          <a:xfrm>
            <a:off x="457200" y="496491"/>
            <a:ext cx="4978859" cy="266176"/>
          </a:xfrm>
          <a:prstGeom prst="rect">
            <a:avLst/>
          </a:prstGeom>
          <a:noFill/>
          <a:ln/>
        </p:spPr>
        <p:txBody>
          <a:bodyPr wrap="square" lIns="0" tIns="0" rIns="0" bIns="0" rtlCol="0" anchor="t"/>
          <a:lstStyle/>
          <a:p>
            <a:pPr marL="0" indent="0" algn="l">
              <a:lnSpc>
                <a:spcPts val="1941"/>
              </a:lnSpc>
              <a:buNone/>
            </a:pPr>
            <a:r>
              <a:rPr lang="en-US" sz="1688" b="1" kern="0" spc="-25" dirty="0">
                <a:solidFill>
                  <a:srgbClr val="0F2A4A"/>
                </a:solidFill>
                <a:latin typeface="Tinos" pitchFamily="34" charset="0"/>
                <a:ea typeface="Tinos" pitchFamily="34" charset="-122"/>
                <a:cs typeface="Tinos" pitchFamily="34" charset="-120"/>
              </a:rPr>
              <a:t>Confidentiality · Integrity · Authenticity</a:t>
            </a:r>
            <a:endParaRPr lang="en-US" sz="1688" dirty="0"/>
          </a:p>
        </p:txBody>
      </p:sp>
      <p:sp>
        <p:nvSpPr>
          <p:cNvPr id="7" name="Text 4"/>
          <p:cNvSpPr/>
          <p:nvPr/>
        </p:nvSpPr>
        <p:spPr>
          <a:xfrm>
            <a:off x="457200" y="828675"/>
            <a:ext cx="4526235" cy="520056"/>
          </a:xfrm>
          <a:prstGeom prst="rect">
            <a:avLst/>
          </a:prstGeom>
          <a:noFill/>
          <a:ln/>
        </p:spPr>
        <p:txBody>
          <a:bodyPr wrap="square" lIns="0" tIns="0" rIns="0" bIns="0" rtlCol="0" anchor="t"/>
          <a:lstStyle/>
          <a:p>
            <a:pPr marL="0" indent="0" algn="l">
              <a:lnSpc>
                <a:spcPts val="1264"/>
              </a:lnSpc>
              <a:buNone/>
            </a:pPr>
            <a:r>
              <a:rPr lang="en-US" sz="816" dirty="0">
                <a:solidFill>
                  <a:srgbClr val="4A5568"/>
                </a:solidFill>
                <a:latin typeface="Carlito" pitchFamily="34" charset="0"/>
                <a:ea typeface="Carlito" pitchFamily="34" charset="-122"/>
                <a:cs typeface="Carlito" pitchFamily="34" charset="-120"/>
              </a:rPr>
              <a:t>Network security in IoT ensures that data moving between devices, gateways, and the cloud cannot be read, altered, or spoofed by an attacker in the middle. The challenge is doing this on constrained devices with kilobytes of RAM and milliwatts of battery.</a:t>
            </a:r>
            <a:endParaRPr lang="en-US" sz="816" dirty="0"/>
          </a:p>
        </p:txBody>
      </p:sp>
      <p:sp>
        <p:nvSpPr>
          <p:cNvPr id="8" name="Shape 5"/>
          <p:cNvSpPr/>
          <p:nvPr/>
        </p:nvSpPr>
        <p:spPr>
          <a:xfrm>
            <a:off x="457200" y="1658466"/>
            <a:ext cx="4526235" cy="0"/>
          </a:xfrm>
          <a:prstGeom prst="line">
            <a:avLst/>
          </a:prstGeom>
          <a:noFill/>
          <a:ln w="7144">
            <a:solidFill>
              <a:srgbClr val="E5E9EE"/>
            </a:solidFill>
            <a:prstDash val="solid"/>
          </a:ln>
        </p:spPr>
      </p:sp>
      <p:sp>
        <p:nvSpPr>
          <p:cNvPr id="9" name="Text 6"/>
          <p:cNvSpPr/>
          <p:nvPr/>
        </p:nvSpPr>
        <p:spPr>
          <a:xfrm>
            <a:off x="457200" y="1517377"/>
            <a:ext cx="57150" cy="57150"/>
          </a:xfrm>
          <a:prstGeom prst="ellipse">
            <a:avLst/>
          </a:prstGeom>
          <a:solidFill>
            <a:srgbClr val="C9A961"/>
          </a:solidFill>
          <a:ln/>
        </p:spPr>
        <p:txBody>
          <a:bodyPr wrap="square" rtlCol="0" anchor="ctr"/>
          <a:lstStyle/>
          <a:p>
            <a:pPr marL="0" indent="0">
              <a:buNone/>
            </a:pPr>
            <a:endParaRPr lang="en-US" dirty="0"/>
          </a:p>
        </p:txBody>
      </p:sp>
      <p:sp>
        <p:nvSpPr>
          <p:cNvPr id="10" name="Text 7"/>
          <p:cNvSpPr/>
          <p:nvPr/>
        </p:nvSpPr>
        <p:spPr>
          <a:xfrm>
            <a:off x="642938" y="1460227"/>
            <a:ext cx="4340498" cy="144661"/>
          </a:xfrm>
          <a:prstGeom prst="rect">
            <a:avLst/>
          </a:prstGeom>
          <a:noFill/>
          <a:ln/>
        </p:spPr>
        <p:txBody>
          <a:bodyPr wrap="square" lIns="0" tIns="0" rIns="0" bIns="0" rtlCol="0" anchor="t"/>
          <a:lstStyle/>
          <a:p>
            <a:pPr marL="0" indent="0" algn="l">
              <a:lnSpc>
                <a:spcPts val="1139"/>
              </a:lnSpc>
              <a:buNone/>
            </a:pPr>
            <a:r>
              <a:rPr lang="en-US" sz="800" dirty="0">
                <a:solidFill>
                  <a:srgbClr val="0F2A4A"/>
                </a:solidFill>
                <a:latin typeface="Carlito" pitchFamily="34" charset="0"/>
                <a:ea typeface="Carlito" pitchFamily="34" charset="-122"/>
                <a:cs typeface="Carlito" pitchFamily="34" charset="-120"/>
              </a:rPr>
              <a:t>Confidentiality</a:t>
            </a:r>
            <a:r>
              <a:rPr lang="en-US" sz="800" dirty="0">
                <a:solidFill>
                  <a:srgbClr val="1A2332"/>
                </a:solidFill>
                <a:latin typeface="Carlito" pitchFamily="34" charset="0"/>
                <a:ea typeface="Carlito" pitchFamily="34" charset="-122"/>
                <a:cs typeface="Carlito" pitchFamily="34" charset="-120"/>
              </a:rPr>
              <a:t> — encrypt traffic so passive observers cannot read payloads.</a:t>
            </a:r>
            <a:endParaRPr lang="en-US" sz="800" dirty="0"/>
          </a:p>
        </p:txBody>
      </p:sp>
      <p:sp>
        <p:nvSpPr>
          <p:cNvPr id="11" name="Shape 8"/>
          <p:cNvSpPr/>
          <p:nvPr/>
        </p:nvSpPr>
        <p:spPr>
          <a:xfrm>
            <a:off x="457200" y="1910283"/>
            <a:ext cx="4526235" cy="0"/>
          </a:xfrm>
          <a:prstGeom prst="line">
            <a:avLst/>
          </a:prstGeom>
          <a:noFill/>
          <a:ln w="7144">
            <a:solidFill>
              <a:srgbClr val="E5E9EE"/>
            </a:solidFill>
            <a:prstDash val="solid"/>
          </a:ln>
        </p:spPr>
      </p:sp>
      <p:sp>
        <p:nvSpPr>
          <p:cNvPr id="12" name="Text 9"/>
          <p:cNvSpPr/>
          <p:nvPr/>
        </p:nvSpPr>
        <p:spPr>
          <a:xfrm>
            <a:off x="457200" y="1769194"/>
            <a:ext cx="57150" cy="57150"/>
          </a:xfrm>
          <a:prstGeom prst="ellipse">
            <a:avLst/>
          </a:prstGeom>
          <a:solidFill>
            <a:srgbClr val="C9A961"/>
          </a:solidFill>
          <a:ln/>
        </p:spPr>
        <p:txBody>
          <a:bodyPr wrap="square" rtlCol="0" anchor="ctr"/>
          <a:lstStyle/>
          <a:p>
            <a:pPr marL="0" indent="0">
              <a:buNone/>
            </a:pPr>
            <a:endParaRPr lang="en-US" dirty="0"/>
          </a:p>
        </p:txBody>
      </p:sp>
      <p:sp>
        <p:nvSpPr>
          <p:cNvPr id="13" name="Text 10"/>
          <p:cNvSpPr/>
          <p:nvPr/>
        </p:nvSpPr>
        <p:spPr>
          <a:xfrm>
            <a:off x="642938" y="1712044"/>
            <a:ext cx="4340498" cy="144661"/>
          </a:xfrm>
          <a:prstGeom prst="rect">
            <a:avLst/>
          </a:prstGeom>
          <a:noFill/>
          <a:ln/>
        </p:spPr>
        <p:txBody>
          <a:bodyPr wrap="square" lIns="0" tIns="0" rIns="0" bIns="0" rtlCol="0" anchor="t"/>
          <a:lstStyle/>
          <a:p>
            <a:pPr marL="0" indent="0" algn="l">
              <a:lnSpc>
                <a:spcPts val="1139"/>
              </a:lnSpc>
              <a:buNone/>
            </a:pPr>
            <a:r>
              <a:rPr lang="en-US" sz="800" dirty="0">
                <a:solidFill>
                  <a:srgbClr val="0F2A4A"/>
                </a:solidFill>
                <a:latin typeface="Carlito" pitchFamily="34" charset="0"/>
                <a:ea typeface="Carlito" pitchFamily="34" charset="-122"/>
                <a:cs typeface="Carlito" pitchFamily="34" charset="-120"/>
              </a:rPr>
              <a:t>Integrity</a:t>
            </a:r>
            <a:r>
              <a:rPr lang="en-US" sz="800" dirty="0">
                <a:solidFill>
                  <a:srgbClr val="1A2332"/>
                </a:solidFill>
                <a:latin typeface="Carlito" pitchFamily="34" charset="0"/>
                <a:ea typeface="Carlito" pitchFamily="34" charset="-122"/>
                <a:cs typeface="Carlito" pitchFamily="34" charset="-120"/>
              </a:rPr>
              <a:t> — MAC or AEAD so a single bit flip is detected and rejected.</a:t>
            </a:r>
            <a:endParaRPr lang="en-US" sz="800" dirty="0"/>
          </a:p>
        </p:txBody>
      </p:sp>
      <p:sp>
        <p:nvSpPr>
          <p:cNvPr id="14" name="Text 11"/>
          <p:cNvSpPr/>
          <p:nvPr/>
        </p:nvSpPr>
        <p:spPr>
          <a:xfrm>
            <a:off x="457200" y="2021012"/>
            <a:ext cx="57150" cy="57150"/>
          </a:xfrm>
          <a:prstGeom prst="ellipse">
            <a:avLst/>
          </a:prstGeom>
          <a:solidFill>
            <a:srgbClr val="C9A961"/>
          </a:solidFill>
          <a:ln/>
        </p:spPr>
        <p:txBody>
          <a:bodyPr wrap="square" rtlCol="0" anchor="ctr"/>
          <a:lstStyle/>
          <a:p>
            <a:pPr marL="0" indent="0">
              <a:buNone/>
            </a:pPr>
            <a:endParaRPr lang="en-US" dirty="0"/>
          </a:p>
        </p:txBody>
      </p:sp>
      <p:sp>
        <p:nvSpPr>
          <p:cNvPr id="15" name="Text 12"/>
          <p:cNvSpPr/>
          <p:nvPr/>
        </p:nvSpPr>
        <p:spPr>
          <a:xfrm>
            <a:off x="642938" y="1963862"/>
            <a:ext cx="4340498" cy="164592"/>
          </a:xfrm>
          <a:prstGeom prst="rect">
            <a:avLst/>
          </a:prstGeom>
          <a:noFill/>
          <a:ln/>
        </p:spPr>
        <p:txBody>
          <a:bodyPr wrap="square" lIns="0" tIns="0" rIns="0" bIns="0" rtlCol="0" anchor="t"/>
          <a:lstStyle/>
          <a:p>
            <a:pPr marL="0" indent="0" algn="l">
              <a:lnSpc>
                <a:spcPts val="1139"/>
              </a:lnSpc>
              <a:buNone/>
            </a:pPr>
            <a:r>
              <a:rPr lang="en-US" sz="800" dirty="0">
                <a:solidFill>
                  <a:srgbClr val="0F2A4A"/>
                </a:solidFill>
                <a:latin typeface="Carlito" pitchFamily="34" charset="0"/>
                <a:ea typeface="Carlito" pitchFamily="34" charset="-122"/>
                <a:cs typeface="Carlito" pitchFamily="34" charset="-120"/>
              </a:rPr>
              <a:t>Authenticity</a:t>
            </a:r>
            <a:r>
              <a:rPr lang="en-US" sz="800" dirty="0">
                <a:solidFill>
                  <a:srgbClr val="1A2332"/>
                </a:solidFill>
                <a:latin typeface="Carlito" pitchFamily="34" charset="0"/>
                <a:ea typeface="Carlito" pitchFamily="34" charset="-122"/>
                <a:cs typeface="Carlito" pitchFamily="34" charset="-120"/>
              </a:rPr>
              <a:t> — mutual certificate-based auth, not just server-side TLS.</a:t>
            </a:r>
            <a:endParaRPr lang="en-US" sz="800" dirty="0"/>
          </a:p>
        </p:txBody>
      </p:sp>
      <p:sp>
        <p:nvSpPr>
          <p:cNvPr id="16" name="Text 13"/>
          <p:cNvSpPr/>
          <p:nvPr/>
        </p:nvSpPr>
        <p:spPr>
          <a:xfrm>
            <a:off x="5172745" y="500063"/>
            <a:ext cx="3696109" cy="1672307"/>
          </a:xfrm>
          <a:prstGeom prst="roundRect">
            <a:avLst>
              <a:gd name="adj" fmla="val 4557"/>
            </a:avLst>
          </a:prstGeom>
          <a:solidFill>
            <a:srgbClr val="FFFFFF"/>
          </a:solidFill>
          <a:ln w="7144">
            <a:solidFill>
              <a:srgbClr val="D8DEE6"/>
            </a:solidFill>
            <a:prstDash val="solid"/>
          </a:ln>
        </p:spPr>
        <p:txBody>
          <a:bodyPr wrap="square" rtlCol="0" anchor="ctr"/>
          <a:lstStyle/>
          <a:p>
            <a:pPr marL="0" indent="0">
              <a:buNone/>
            </a:pPr>
            <a:endParaRPr lang="en-US" dirty="0"/>
          </a:p>
        </p:txBody>
      </p:sp>
      <p:sp>
        <p:nvSpPr>
          <p:cNvPr id="17" name="Text 14"/>
          <p:cNvSpPr/>
          <p:nvPr/>
        </p:nvSpPr>
        <p:spPr>
          <a:xfrm>
            <a:off x="5176317" y="503634"/>
            <a:ext cx="3688966" cy="246459"/>
          </a:xfrm>
          <a:prstGeom prst="rect">
            <a:avLst/>
          </a:prstGeom>
          <a:solidFill>
            <a:srgbClr val="0F2A4A"/>
          </a:solidFill>
          <a:ln/>
        </p:spPr>
        <p:txBody>
          <a:bodyPr wrap="square" rtlCol="0" anchor="ctr"/>
          <a:lstStyle/>
          <a:p>
            <a:pPr marL="0" indent="0">
              <a:buNone/>
            </a:pPr>
            <a:endParaRPr lang="en-US" dirty="0"/>
          </a:p>
        </p:txBody>
      </p:sp>
      <p:sp>
        <p:nvSpPr>
          <p:cNvPr id="18" name="Text 15"/>
          <p:cNvSpPr/>
          <p:nvPr/>
        </p:nvSpPr>
        <p:spPr>
          <a:xfrm>
            <a:off x="5290617" y="567928"/>
            <a:ext cx="1321666" cy="117872"/>
          </a:xfrm>
          <a:prstGeom prst="rect">
            <a:avLst/>
          </a:prstGeom>
          <a:noFill/>
          <a:ln/>
        </p:spPr>
        <p:txBody>
          <a:bodyPr wrap="none" lIns="0" tIns="0" rIns="0" bIns="0" rtlCol="0" anchor="t"/>
          <a:lstStyle/>
          <a:p>
            <a:pPr marL="0" indent="0" algn="l">
              <a:lnSpc>
                <a:spcPts val="928"/>
              </a:lnSpc>
              <a:buNone/>
            </a:pPr>
            <a:r>
              <a:rPr lang="en-US" sz="800" b="1" kern="0" spc="87" dirty="0">
                <a:solidFill>
                  <a:srgbClr val="FFFFFF"/>
                </a:solidFill>
                <a:latin typeface="Carlito" pitchFamily="34" charset="0"/>
                <a:ea typeface="Carlito" pitchFamily="34" charset="-122"/>
                <a:cs typeface="Carlito" pitchFamily="34" charset="-120"/>
              </a:rPr>
              <a:t>PROTOCOL</a:t>
            </a:r>
            <a:endParaRPr lang="en-US" sz="800" dirty="0"/>
          </a:p>
        </p:txBody>
      </p:sp>
      <p:sp>
        <p:nvSpPr>
          <p:cNvPr id="19" name="Text 16"/>
          <p:cNvSpPr/>
          <p:nvPr/>
        </p:nvSpPr>
        <p:spPr>
          <a:xfrm>
            <a:off x="6328358" y="567928"/>
            <a:ext cx="1246227" cy="117872"/>
          </a:xfrm>
          <a:prstGeom prst="rect">
            <a:avLst/>
          </a:prstGeom>
          <a:noFill/>
          <a:ln/>
        </p:spPr>
        <p:txBody>
          <a:bodyPr wrap="none" lIns="0" tIns="0" rIns="0" bIns="0" rtlCol="0" anchor="t"/>
          <a:lstStyle/>
          <a:p>
            <a:pPr marL="0" indent="0" algn="l">
              <a:lnSpc>
                <a:spcPts val="928"/>
              </a:lnSpc>
              <a:buNone/>
            </a:pPr>
            <a:r>
              <a:rPr lang="en-US" sz="800" b="1" kern="0" spc="87" dirty="0">
                <a:solidFill>
                  <a:srgbClr val="FFFFFF"/>
                </a:solidFill>
                <a:latin typeface="Carlito" pitchFamily="34" charset="0"/>
                <a:ea typeface="Carlito" pitchFamily="34" charset="-122"/>
                <a:cs typeface="Carlito" pitchFamily="34" charset="-120"/>
              </a:rPr>
              <a:t>LAYER</a:t>
            </a:r>
            <a:endParaRPr lang="en-US" sz="800" dirty="0"/>
          </a:p>
        </p:txBody>
      </p:sp>
      <p:sp>
        <p:nvSpPr>
          <p:cNvPr id="20" name="Text 17"/>
          <p:cNvSpPr/>
          <p:nvPr/>
        </p:nvSpPr>
        <p:spPr>
          <a:xfrm>
            <a:off x="7192975" y="567928"/>
            <a:ext cx="1558007" cy="117872"/>
          </a:xfrm>
          <a:prstGeom prst="rect">
            <a:avLst/>
          </a:prstGeom>
          <a:noFill/>
          <a:ln/>
        </p:spPr>
        <p:txBody>
          <a:bodyPr wrap="none" lIns="0" tIns="0" rIns="0" bIns="0" rtlCol="0" anchor="t"/>
          <a:lstStyle/>
          <a:p>
            <a:pPr marL="0" indent="0" algn="l">
              <a:lnSpc>
                <a:spcPts val="928"/>
              </a:lnSpc>
              <a:buNone/>
            </a:pPr>
            <a:r>
              <a:rPr lang="en-US" sz="800" b="1" kern="0" spc="87" dirty="0">
                <a:solidFill>
                  <a:srgbClr val="FFFFFF"/>
                </a:solidFill>
                <a:latin typeface="Carlito" pitchFamily="34" charset="0"/>
                <a:ea typeface="Carlito" pitchFamily="34" charset="-122"/>
                <a:cs typeface="Carlito" pitchFamily="34" charset="-120"/>
              </a:rPr>
              <a:t>TYPICAL USE</a:t>
            </a:r>
            <a:endParaRPr lang="en-US" sz="800" dirty="0"/>
          </a:p>
        </p:txBody>
      </p:sp>
      <p:sp>
        <p:nvSpPr>
          <p:cNvPr id="21" name="Text 18"/>
          <p:cNvSpPr/>
          <p:nvPr/>
        </p:nvSpPr>
        <p:spPr>
          <a:xfrm>
            <a:off x="5176317" y="750094"/>
            <a:ext cx="3688966" cy="262533"/>
          </a:xfrm>
          <a:prstGeom prst="rect">
            <a:avLst/>
          </a:prstGeom>
          <a:solidFill>
            <a:srgbClr val="F1F4F8"/>
          </a:solidFill>
          <a:ln/>
        </p:spPr>
        <p:txBody>
          <a:bodyPr wrap="square" rtlCol="0" anchor="ctr"/>
          <a:lstStyle/>
          <a:p>
            <a:pPr marL="0" indent="0">
              <a:buNone/>
            </a:pPr>
            <a:endParaRPr lang="en-US" dirty="0"/>
          </a:p>
        </p:txBody>
      </p:sp>
      <p:sp>
        <p:nvSpPr>
          <p:cNvPr id="22" name="Text 19"/>
          <p:cNvSpPr/>
          <p:nvPr/>
        </p:nvSpPr>
        <p:spPr>
          <a:xfrm>
            <a:off x="5290617" y="814388"/>
            <a:ext cx="1218581" cy="133945"/>
          </a:xfrm>
          <a:prstGeom prst="rect">
            <a:avLst/>
          </a:prstGeom>
          <a:noFill/>
          <a:ln/>
        </p:spPr>
        <p:txBody>
          <a:bodyPr wrap="none" lIns="0" tIns="0" rIns="0" bIns="0" rtlCol="0" anchor="t"/>
          <a:lstStyle/>
          <a:p>
            <a:pPr marL="0" indent="0" algn="l">
              <a:lnSpc>
                <a:spcPts val="1055"/>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TLS 1.3</a:t>
            </a:r>
            <a:endParaRPr lang="en-US" sz="800" dirty="0"/>
          </a:p>
        </p:txBody>
      </p:sp>
      <p:sp>
        <p:nvSpPr>
          <p:cNvPr id="23" name="Text 20"/>
          <p:cNvSpPr/>
          <p:nvPr/>
        </p:nvSpPr>
        <p:spPr>
          <a:xfrm>
            <a:off x="6328358" y="817066"/>
            <a:ext cx="996982" cy="131266"/>
          </a:xfrm>
          <a:prstGeom prst="rect">
            <a:avLst/>
          </a:prstGeom>
          <a:noFill/>
          <a:ln/>
        </p:spPr>
        <p:txBody>
          <a:bodyPr wrap="none" lIns="0" tIns="0" rIns="0" bIns="0" rtlCol="0" anchor="t"/>
          <a:lstStyle/>
          <a:p>
            <a:pPr marL="0" indent="0" algn="l">
              <a:lnSpc>
                <a:spcPts val="1013"/>
              </a:lnSpc>
              <a:buNone/>
            </a:pPr>
            <a:r>
              <a:rPr lang="en-US" sz="800" dirty="0">
                <a:solidFill>
                  <a:srgbClr val="4A5568"/>
                </a:solidFill>
                <a:latin typeface="Carlito" pitchFamily="34" charset="0"/>
                <a:ea typeface="Carlito" pitchFamily="34" charset="-122"/>
                <a:cs typeface="Carlito" pitchFamily="34" charset="-120"/>
              </a:rPr>
              <a:t>TCP / App</a:t>
            </a:r>
            <a:endParaRPr lang="en-US" sz="800" dirty="0"/>
          </a:p>
        </p:txBody>
      </p:sp>
      <p:sp>
        <p:nvSpPr>
          <p:cNvPr id="24" name="Text 21"/>
          <p:cNvSpPr/>
          <p:nvPr/>
        </p:nvSpPr>
        <p:spPr>
          <a:xfrm>
            <a:off x="7192975" y="821308"/>
            <a:ext cx="1651481" cy="127025"/>
          </a:xfrm>
          <a:prstGeom prst="rect">
            <a:avLst/>
          </a:prstGeom>
          <a:noFill/>
          <a:ln/>
        </p:spPr>
        <p:txBody>
          <a:bodyPr wrap="square" lIns="0" tIns="0" rIns="0" bIns="0" rtlCol="0" anchor="t"/>
          <a:lstStyle/>
          <a:p>
            <a:pPr marL="0" indent="0" algn="l">
              <a:lnSpc>
                <a:spcPts val="945"/>
              </a:lnSpc>
              <a:buNone/>
            </a:pPr>
            <a:r>
              <a:rPr lang="en-US" sz="800" dirty="0">
                <a:solidFill>
                  <a:srgbClr val="1A2332"/>
                </a:solidFill>
                <a:latin typeface="Carlito" pitchFamily="34" charset="0"/>
                <a:ea typeface="Carlito" pitchFamily="34" charset="-122"/>
                <a:cs typeface="Carlito" pitchFamily="34" charset="-120"/>
              </a:rPr>
              <a:t>Cloud HTTPS, MQTT-over-TLS</a:t>
            </a:r>
            <a:endParaRPr lang="en-US" sz="800" dirty="0"/>
          </a:p>
        </p:txBody>
      </p:sp>
      <p:sp>
        <p:nvSpPr>
          <p:cNvPr id="25" name="Text 22"/>
          <p:cNvSpPr/>
          <p:nvPr/>
        </p:nvSpPr>
        <p:spPr>
          <a:xfrm>
            <a:off x="5176317" y="1012627"/>
            <a:ext cx="3688966" cy="262533"/>
          </a:xfrm>
          <a:prstGeom prst="rect">
            <a:avLst/>
          </a:prstGeom>
          <a:solidFill>
            <a:srgbClr val="FFFFFF"/>
          </a:solidFill>
          <a:ln/>
        </p:spPr>
        <p:txBody>
          <a:bodyPr wrap="square" rtlCol="0" anchor="ctr"/>
          <a:lstStyle/>
          <a:p>
            <a:pPr marL="0" indent="0">
              <a:buNone/>
            </a:pPr>
            <a:endParaRPr lang="en-US" dirty="0"/>
          </a:p>
        </p:txBody>
      </p:sp>
      <p:sp>
        <p:nvSpPr>
          <p:cNvPr id="26" name="Text 23"/>
          <p:cNvSpPr/>
          <p:nvPr/>
        </p:nvSpPr>
        <p:spPr>
          <a:xfrm>
            <a:off x="5290617" y="1076920"/>
            <a:ext cx="1218581" cy="133945"/>
          </a:xfrm>
          <a:prstGeom prst="rect">
            <a:avLst/>
          </a:prstGeom>
          <a:noFill/>
          <a:ln/>
        </p:spPr>
        <p:txBody>
          <a:bodyPr wrap="none" lIns="0" tIns="0" rIns="0" bIns="0" rtlCol="0" anchor="t"/>
          <a:lstStyle/>
          <a:p>
            <a:pPr marL="0" indent="0" algn="l">
              <a:lnSpc>
                <a:spcPts val="1055"/>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DTLS 1.2</a:t>
            </a:r>
            <a:endParaRPr lang="en-US" sz="800" dirty="0"/>
          </a:p>
        </p:txBody>
      </p:sp>
      <p:sp>
        <p:nvSpPr>
          <p:cNvPr id="27" name="Text 24"/>
          <p:cNvSpPr/>
          <p:nvPr/>
        </p:nvSpPr>
        <p:spPr>
          <a:xfrm>
            <a:off x="6328358" y="1079599"/>
            <a:ext cx="996982" cy="131266"/>
          </a:xfrm>
          <a:prstGeom prst="rect">
            <a:avLst/>
          </a:prstGeom>
          <a:noFill/>
          <a:ln/>
        </p:spPr>
        <p:txBody>
          <a:bodyPr wrap="none" lIns="0" tIns="0" rIns="0" bIns="0" rtlCol="0" anchor="t"/>
          <a:lstStyle/>
          <a:p>
            <a:pPr marL="0" indent="0" algn="l">
              <a:lnSpc>
                <a:spcPts val="1013"/>
              </a:lnSpc>
              <a:buNone/>
            </a:pPr>
            <a:r>
              <a:rPr lang="en-US" sz="800" dirty="0">
                <a:solidFill>
                  <a:srgbClr val="4A5568"/>
                </a:solidFill>
                <a:latin typeface="Carlito" pitchFamily="34" charset="0"/>
                <a:ea typeface="Carlito" pitchFamily="34" charset="-122"/>
                <a:cs typeface="Carlito" pitchFamily="34" charset="-120"/>
              </a:rPr>
              <a:t>UDP / App</a:t>
            </a:r>
            <a:endParaRPr lang="en-US" sz="800" dirty="0"/>
          </a:p>
        </p:txBody>
      </p:sp>
      <p:sp>
        <p:nvSpPr>
          <p:cNvPr id="28" name="Text 25"/>
          <p:cNvSpPr/>
          <p:nvPr/>
        </p:nvSpPr>
        <p:spPr>
          <a:xfrm>
            <a:off x="7192975" y="1083841"/>
            <a:ext cx="1651481" cy="127025"/>
          </a:xfrm>
          <a:prstGeom prst="rect">
            <a:avLst/>
          </a:prstGeom>
          <a:noFill/>
          <a:ln/>
        </p:spPr>
        <p:txBody>
          <a:bodyPr wrap="square" lIns="0" tIns="0" rIns="0" bIns="0" rtlCol="0" anchor="t"/>
          <a:lstStyle/>
          <a:p>
            <a:pPr marL="0" indent="0" algn="l">
              <a:lnSpc>
                <a:spcPts val="945"/>
              </a:lnSpc>
              <a:buNone/>
            </a:pPr>
            <a:r>
              <a:rPr lang="en-US" sz="800" dirty="0">
                <a:solidFill>
                  <a:srgbClr val="1A2332"/>
                </a:solidFill>
                <a:latin typeface="Carlito" pitchFamily="34" charset="0"/>
                <a:ea typeface="Carlito" pitchFamily="34" charset="-122"/>
                <a:cs typeface="Carlito" pitchFamily="34" charset="-120"/>
              </a:rPr>
              <a:t>Constrained BLE mesh, CoAP</a:t>
            </a:r>
            <a:endParaRPr lang="en-US" sz="800" dirty="0"/>
          </a:p>
        </p:txBody>
      </p:sp>
      <p:sp>
        <p:nvSpPr>
          <p:cNvPr id="29" name="Text 26"/>
          <p:cNvSpPr/>
          <p:nvPr/>
        </p:nvSpPr>
        <p:spPr>
          <a:xfrm>
            <a:off x="5176317" y="1275159"/>
            <a:ext cx="3688966" cy="262533"/>
          </a:xfrm>
          <a:prstGeom prst="rect">
            <a:avLst/>
          </a:prstGeom>
          <a:solidFill>
            <a:srgbClr val="F1F4F8"/>
          </a:solidFill>
          <a:ln/>
        </p:spPr>
        <p:txBody>
          <a:bodyPr wrap="square" rtlCol="0" anchor="ctr"/>
          <a:lstStyle/>
          <a:p>
            <a:pPr marL="0" indent="0">
              <a:buNone/>
            </a:pPr>
            <a:endParaRPr lang="en-US" dirty="0"/>
          </a:p>
        </p:txBody>
      </p:sp>
      <p:sp>
        <p:nvSpPr>
          <p:cNvPr id="30" name="Text 27"/>
          <p:cNvSpPr/>
          <p:nvPr/>
        </p:nvSpPr>
        <p:spPr>
          <a:xfrm>
            <a:off x="5290617" y="1339453"/>
            <a:ext cx="1504186" cy="133945"/>
          </a:xfrm>
          <a:prstGeom prst="rect">
            <a:avLst/>
          </a:prstGeom>
          <a:noFill/>
          <a:ln/>
        </p:spPr>
        <p:txBody>
          <a:bodyPr wrap="none" lIns="0" tIns="0" rIns="0" bIns="0" rtlCol="0" anchor="t"/>
          <a:lstStyle/>
          <a:p>
            <a:pPr marL="0" indent="0" algn="l">
              <a:lnSpc>
                <a:spcPts val="1055"/>
              </a:lnSpc>
              <a:buNone/>
            </a:pPr>
            <a:r>
              <a:rPr lang="en-US" sz="800" dirty="0">
                <a:solidFill>
                  <a:srgbClr val="0F2A4A"/>
                </a:solidFill>
                <a:latin typeface="Courier New" pitchFamily="34" charset="0"/>
                <a:ea typeface="Courier New" pitchFamily="34" charset="-122"/>
                <a:cs typeface="Courier New" pitchFamily="34" charset="-120"/>
              </a:rPr>
              <a:t>IPsec</a:t>
            </a:r>
            <a:endParaRPr lang="en-US" sz="800" dirty="0"/>
          </a:p>
        </p:txBody>
      </p:sp>
      <p:sp>
        <p:nvSpPr>
          <p:cNvPr id="31" name="Text 28"/>
          <p:cNvSpPr/>
          <p:nvPr/>
        </p:nvSpPr>
        <p:spPr>
          <a:xfrm>
            <a:off x="6328358" y="1342132"/>
            <a:ext cx="1230649" cy="131266"/>
          </a:xfrm>
          <a:prstGeom prst="rect">
            <a:avLst/>
          </a:prstGeom>
          <a:noFill/>
          <a:ln/>
        </p:spPr>
        <p:txBody>
          <a:bodyPr wrap="none" lIns="0" tIns="0" rIns="0" bIns="0" rtlCol="0" anchor="t"/>
          <a:lstStyle/>
          <a:p>
            <a:pPr marL="0" indent="0" algn="l">
              <a:lnSpc>
                <a:spcPts val="1013"/>
              </a:lnSpc>
              <a:buNone/>
            </a:pPr>
            <a:r>
              <a:rPr lang="en-US" sz="800" dirty="0">
                <a:solidFill>
                  <a:srgbClr val="4A5568"/>
                </a:solidFill>
                <a:latin typeface="Carlito" pitchFamily="34" charset="0"/>
                <a:ea typeface="Carlito" pitchFamily="34" charset="-122"/>
                <a:cs typeface="Carlito" pitchFamily="34" charset="-120"/>
              </a:rPr>
              <a:t>IP</a:t>
            </a:r>
            <a:endParaRPr lang="en-US" sz="800" dirty="0"/>
          </a:p>
        </p:txBody>
      </p:sp>
      <p:sp>
        <p:nvSpPr>
          <p:cNvPr id="32" name="Text 29"/>
          <p:cNvSpPr/>
          <p:nvPr/>
        </p:nvSpPr>
        <p:spPr>
          <a:xfrm>
            <a:off x="7192975" y="1346374"/>
            <a:ext cx="1651481" cy="127025"/>
          </a:xfrm>
          <a:prstGeom prst="rect">
            <a:avLst/>
          </a:prstGeom>
          <a:noFill/>
          <a:ln/>
        </p:spPr>
        <p:txBody>
          <a:bodyPr wrap="square" lIns="0" tIns="0" rIns="0" bIns="0" rtlCol="0" anchor="t"/>
          <a:lstStyle/>
          <a:p>
            <a:pPr marL="0" indent="0" algn="l">
              <a:lnSpc>
                <a:spcPts val="945"/>
              </a:lnSpc>
              <a:buNone/>
            </a:pPr>
            <a:r>
              <a:rPr lang="en-US" sz="800" dirty="0">
                <a:solidFill>
                  <a:srgbClr val="1A2332"/>
                </a:solidFill>
                <a:latin typeface="Carlito" pitchFamily="34" charset="0"/>
                <a:ea typeface="Carlito" pitchFamily="34" charset="-122"/>
                <a:cs typeface="Carlito" pitchFamily="34" charset="-120"/>
              </a:rPr>
              <a:t>Site-to-site gateway tunnels</a:t>
            </a:r>
            <a:endParaRPr lang="en-US" sz="800" dirty="0"/>
          </a:p>
        </p:txBody>
      </p:sp>
      <p:sp>
        <p:nvSpPr>
          <p:cNvPr id="33" name="Text 30"/>
          <p:cNvSpPr/>
          <p:nvPr/>
        </p:nvSpPr>
        <p:spPr>
          <a:xfrm>
            <a:off x="5176317" y="1537692"/>
            <a:ext cx="3688966" cy="262533"/>
          </a:xfrm>
          <a:prstGeom prst="rect">
            <a:avLst/>
          </a:prstGeom>
          <a:solidFill>
            <a:srgbClr val="FFFFFF"/>
          </a:solidFill>
          <a:ln/>
        </p:spPr>
        <p:txBody>
          <a:bodyPr wrap="square" rtlCol="0" anchor="ctr"/>
          <a:lstStyle/>
          <a:p>
            <a:pPr marL="0" indent="0">
              <a:buNone/>
            </a:pPr>
            <a:endParaRPr lang="en-US" dirty="0"/>
          </a:p>
        </p:txBody>
      </p:sp>
      <p:sp>
        <p:nvSpPr>
          <p:cNvPr id="34" name="Text 31"/>
          <p:cNvSpPr/>
          <p:nvPr/>
        </p:nvSpPr>
        <p:spPr>
          <a:xfrm>
            <a:off x="5290617" y="1601986"/>
            <a:ext cx="1115763" cy="133945"/>
          </a:xfrm>
          <a:prstGeom prst="rect">
            <a:avLst/>
          </a:prstGeom>
          <a:noFill/>
          <a:ln/>
        </p:spPr>
        <p:txBody>
          <a:bodyPr wrap="none" lIns="0" tIns="0" rIns="0" bIns="0" rtlCol="0" anchor="t"/>
          <a:lstStyle/>
          <a:p>
            <a:pPr marL="0" indent="0" algn="l">
              <a:lnSpc>
                <a:spcPts val="1055"/>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IEEE 802.1AR</a:t>
            </a:r>
            <a:endParaRPr lang="en-US" sz="800" dirty="0"/>
          </a:p>
        </p:txBody>
      </p:sp>
      <p:sp>
        <p:nvSpPr>
          <p:cNvPr id="35" name="Text 32"/>
          <p:cNvSpPr/>
          <p:nvPr/>
        </p:nvSpPr>
        <p:spPr>
          <a:xfrm>
            <a:off x="6328358" y="1604665"/>
            <a:ext cx="1230649" cy="131266"/>
          </a:xfrm>
          <a:prstGeom prst="rect">
            <a:avLst/>
          </a:prstGeom>
          <a:noFill/>
          <a:ln/>
        </p:spPr>
        <p:txBody>
          <a:bodyPr wrap="none" lIns="0" tIns="0" rIns="0" bIns="0" rtlCol="0" anchor="t"/>
          <a:lstStyle/>
          <a:p>
            <a:pPr marL="0" indent="0" algn="l">
              <a:lnSpc>
                <a:spcPts val="1013"/>
              </a:lnSpc>
              <a:buNone/>
            </a:pPr>
            <a:r>
              <a:rPr lang="en-US" sz="800" dirty="0">
                <a:solidFill>
                  <a:srgbClr val="4A5568"/>
                </a:solidFill>
                <a:latin typeface="Carlito" pitchFamily="34" charset="0"/>
                <a:ea typeface="Carlito" pitchFamily="34" charset="-122"/>
                <a:cs typeface="Carlito" pitchFamily="34" charset="-120"/>
              </a:rPr>
              <a:t>Link</a:t>
            </a:r>
            <a:endParaRPr lang="en-US" sz="800" dirty="0"/>
          </a:p>
        </p:txBody>
      </p:sp>
      <p:sp>
        <p:nvSpPr>
          <p:cNvPr id="36" name="Text 33"/>
          <p:cNvSpPr/>
          <p:nvPr/>
        </p:nvSpPr>
        <p:spPr>
          <a:xfrm>
            <a:off x="7192975" y="1608906"/>
            <a:ext cx="1651481" cy="127025"/>
          </a:xfrm>
          <a:prstGeom prst="rect">
            <a:avLst/>
          </a:prstGeom>
          <a:noFill/>
          <a:ln/>
        </p:spPr>
        <p:txBody>
          <a:bodyPr wrap="square" lIns="0" tIns="0" rIns="0" bIns="0" rtlCol="0" anchor="t"/>
          <a:lstStyle/>
          <a:p>
            <a:pPr marL="0" indent="0" algn="l">
              <a:lnSpc>
                <a:spcPts val="945"/>
              </a:lnSpc>
              <a:buNone/>
            </a:pPr>
            <a:r>
              <a:rPr lang="en-US" sz="800" dirty="0">
                <a:solidFill>
                  <a:srgbClr val="1A2332"/>
                </a:solidFill>
                <a:latin typeface="Carlito" pitchFamily="34" charset="0"/>
                <a:ea typeface="Carlito" pitchFamily="34" charset="-122"/>
                <a:cs typeface="Carlito" pitchFamily="34" charset="-120"/>
              </a:rPr>
              <a:t>Device identity cert (devID)</a:t>
            </a:r>
            <a:endParaRPr lang="en-US" sz="800" dirty="0"/>
          </a:p>
        </p:txBody>
      </p:sp>
      <p:sp>
        <p:nvSpPr>
          <p:cNvPr id="37" name="Text 34"/>
          <p:cNvSpPr/>
          <p:nvPr/>
        </p:nvSpPr>
        <p:spPr>
          <a:xfrm>
            <a:off x="5176317" y="1800225"/>
            <a:ext cx="3688966" cy="368573"/>
          </a:xfrm>
          <a:prstGeom prst="rect">
            <a:avLst/>
          </a:prstGeom>
          <a:solidFill>
            <a:srgbClr val="F1F4F8"/>
          </a:solidFill>
          <a:ln/>
        </p:spPr>
        <p:txBody>
          <a:bodyPr wrap="square" rtlCol="0" anchor="ctr"/>
          <a:lstStyle/>
          <a:p>
            <a:pPr marL="0" indent="0">
              <a:buNone/>
            </a:pPr>
            <a:endParaRPr lang="en-US" dirty="0"/>
          </a:p>
        </p:txBody>
      </p:sp>
      <p:sp>
        <p:nvSpPr>
          <p:cNvPr id="38" name="Text 35"/>
          <p:cNvSpPr/>
          <p:nvPr/>
        </p:nvSpPr>
        <p:spPr>
          <a:xfrm>
            <a:off x="5290617" y="1917539"/>
            <a:ext cx="1115763" cy="164592"/>
          </a:xfrm>
          <a:prstGeom prst="rect">
            <a:avLst/>
          </a:prstGeom>
          <a:noFill/>
          <a:ln/>
        </p:spPr>
        <p:txBody>
          <a:bodyPr wrap="none" lIns="0" tIns="0" rIns="0" bIns="0" rtlCol="0" anchor="t"/>
          <a:lstStyle/>
          <a:p>
            <a:pPr marL="0" indent="0" algn="l">
              <a:lnSpc>
                <a:spcPts val="1055"/>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6LoWPAN-IPHC</a:t>
            </a:r>
            <a:endParaRPr lang="en-US" sz="800" dirty="0"/>
          </a:p>
        </p:txBody>
      </p:sp>
      <p:sp>
        <p:nvSpPr>
          <p:cNvPr id="39" name="Text 36"/>
          <p:cNvSpPr/>
          <p:nvPr/>
        </p:nvSpPr>
        <p:spPr>
          <a:xfrm>
            <a:off x="6328358" y="1920218"/>
            <a:ext cx="996982" cy="164592"/>
          </a:xfrm>
          <a:prstGeom prst="rect">
            <a:avLst/>
          </a:prstGeom>
          <a:noFill/>
          <a:ln/>
        </p:spPr>
        <p:txBody>
          <a:bodyPr wrap="none" lIns="0" tIns="0" rIns="0" bIns="0" rtlCol="0" anchor="t"/>
          <a:lstStyle/>
          <a:p>
            <a:pPr marL="0" indent="0" algn="l">
              <a:lnSpc>
                <a:spcPts val="1013"/>
              </a:lnSpc>
              <a:buNone/>
            </a:pPr>
            <a:r>
              <a:rPr lang="en-US" sz="800" dirty="0">
                <a:solidFill>
                  <a:srgbClr val="4A5568"/>
                </a:solidFill>
                <a:latin typeface="Liberation Sans Narrow" pitchFamily="34" charset="0"/>
                <a:ea typeface="Liberation Sans Narrow" pitchFamily="34" charset="-122"/>
                <a:cs typeface="Liberation Sans Narrow" pitchFamily="34" charset="-120"/>
              </a:rPr>
              <a:t>6LoWPAN</a:t>
            </a:r>
            <a:endParaRPr lang="en-US" sz="800" dirty="0"/>
          </a:p>
        </p:txBody>
      </p:sp>
      <p:sp>
        <p:nvSpPr>
          <p:cNvPr id="40" name="Text 37"/>
          <p:cNvSpPr/>
          <p:nvPr/>
        </p:nvSpPr>
        <p:spPr>
          <a:xfrm>
            <a:off x="7192975" y="1864519"/>
            <a:ext cx="1557896" cy="239985"/>
          </a:xfrm>
          <a:prstGeom prst="rect">
            <a:avLst/>
          </a:prstGeom>
          <a:noFill/>
          <a:ln/>
        </p:spPr>
        <p:txBody>
          <a:bodyPr wrap="square" lIns="0" tIns="0" rIns="0" bIns="0" rtlCol="0" anchor="t"/>
          <a:lstStyle/>
          <a:p>
            <a:pPr marL="0" indent="0" algn="l">
              <a:lnSpc>
                <a:spcPts val="945"/>
              </a:lnSpc>
              <a:buNone/>
            </a:pPr>
            <a:r>
              <a:rPr lang="en-US" sz="800" dirty="0">
                <a:solidFill>
                  <a:srgbClr val="1A2332"/>
                </a:solidFill>
                <a:latin typeface="Carlito" pitchFamily="34" charset="0"/>
                <a:ea typeface="Carlito" pitchFamily="34" charset="-122"/>
                <a:cs typeface="Carlito" pitchFamily="34" charset="-120"/>
              </a:rPr>
              <a:t>Header compression for IPv6 over BLE/802.15.4</a:t>
            </a:r>
            <a:endParaRPr lang="en-US" sz="800" dirty="0"/>
          </a:p>
        </p:txBody>
      </p:sp>
      <p:sp>
        <p:nvSpPr>
          <p:cNvPr id="41" name="Text 38"/>
          <p:cNvSpPr/>
          <p:nvPr/>
        </p:nvSpPr>
        <p:spPr>
          <a:xfrm>
            <a:off x="457200" y="4361259"/>
            <a:ext cx="8229600" cy="439341"/>
          </a:xfrm>
          <a:prstGeom prst="roundRect">
            <a:avLst>
              <a:gd name="adj" fmla="val 17344"/>
            </a:avLst>
          </a:prstGeom>
          <a:solidFill>
            <a:srgbClr val="FFFFFF"/>
          </a:solidFill>
          <a:ln/>
        </p:spPr>
        <p:txBody>
          <a:bodyPr wrap="square" rtlCol="0" anchor="ctr"/>
          <a:lstStyle/>
          <a:p>
            <a:pPr marL="0" indent="0">
              <a:buNone/>
            </a:pPr>
            <a:endParaRPr lang="en-US" dirty="0"/>
          </a:p>
        </p:txBody>
      </p:sp>
      <p:sp>
        <p:nvSpPr>
          <p:cNvPr id="42" name="Shape 39"/>
          <p:cNvSpPr/>
          <p:nvPr/>
        </p:nvSpPr>
        <p:spPr>
          <a:xfrm>
            <a:off x="457200" y="4364831"/>
            <a:ext cx="8229600" cy="0"/>
          </a:xfrm>
          <a:prstGeom prst="line">
            <a:avLst/>
          </a:prstGeom>
          <a:noFill/>
          <a:ln w="7144">
            <a:solidFill>
              <a:srgbClr val="D8DEE6"/>
            </a:solidFill>
            <a:prstDash val="solid"/>
          </a:ln>
        </p:spPr>
      </p:sp>
      <p:sp>
        <p:nvSpPr>
          <p:cNvPr id="43" name="Shape 40"/>
          <p:cNvSpPr/>
          <p:nvPr/>
        </p:nvSpPr>
        <p:spPr>
          <a:xfrm>
            <a:off x="8683228" y="4361259"/>
            <a:ext cx="0" cy="439341"/>
          </a:xfrm>
          <a:prstGeom prst="line">
            <a:avLst/>
          </a:prstGeom>
          <a:noFill/>
          <a:ln w="7144">
            <a:solidFill>
              <a:srgbClr val="D8DEE6"/>
            </a:solidFill>
            <a:prstDash val="solid"/>
          </a:ln>
        </p:spPr>
      </p:sp>
      <p:sp>
        <p:nvSpPr>
          <p:cNvPr id="44" name="Shape 41"/>
          <p:cNvSpPr/>
          <p:nvPr/>
        </p:nvSpPr>
        <p:spPr>
          <a:xfrm>
            <a:off x="457200" y="4797028"/>
            <a:ext cx="8229600" cy="0"/>
          </a:xfrm>
          <a:prstGeom prst="line">
            <a:avLst/>
          </a:prstGeom>
          <a:noFill/>
          <a:ln w="7144">
            <a:solidFill>
              <a:srgbClr val="D8DEE6"/>
            </a:solidFill>
            <a:prstDash val="solid"/>
          </a:ln>
        </p:spPr>
      </p:sp>
      <p:sp>
        <p:nvSpPr>
          <p:cNvPr id="45" name="Shape 42"/>
          <p:cNvSpPr/>
          <p:nvPr/>
        </p:nvSpPr>
        <p:spPr>
          <a:xfrm>
            <a:off x="467916" y="4361259"/>
            <a:ext cx="0" cy="439341"/>
          </a:xfrm>
          <a:prstGeom prst="line">
            <a:avLst/>
          </a:prstGeom>
          <a:noFill/>
          <a:ln w="21431">
            <a:solidFill>
              <a:srgbClr val="C9A961"/>
            </a:solidFill>
            <a:prstDash val="solid"/>
          </a:ln>
        </p:spPr>
      </p:sp>
      <p:sp>
        <p:nvSpPr>
          <p:cNvPr id="46" name="Text 43"/>
          <p:cNvSpPr/>
          <p:nvPr/>
        </p:nvSpPr>
        <p:spPr>
          <a:xfrm>
            <a:off x="607219" y="4509492"/>
            <a:ext cx="142875" cy="142875"/>
          </a:xfrm>
          <a:prstGeom prst="rect">
            <a:avLst/>
          </a:prstGeom>
          <a:noFill/>
          <a:ln/>
        </p:spPr>
        <p:txBody>
          <a:bodyPr wrap="none" lIns="0" tIns="0" rIns="0" bIns="0" rtlCol="0" anchor="ctr"/>
          <a:lstStyle/>
          <a:p>
            <a:pPr marL="0" indent="0" algn="ctr">
              <a:buNone/>
            </a:pPr>
            <a:r>
              <a:rPr lang="en-US" sz="1406" dirty="0">
                <a:solidFill>
                  <a:srgbClr val="C9A961"/>
                </a:solidFill>
                <a:latin typeface="Segoe UI Symbol" pitchFamily="34" charset="0"/>
                <a:ea typeface="Segoe UI Symbol" pitchFamily="34" charset="-122"/>
                <a:cs typeface="Segoe UI Symbol" pitchFamily="34" charset="-120"/>
              </a:rPr>
              <a:t>⚡</a:t>
            </a:r>
            <a:endParaRPr lang="en-US" sz="1406" dirty="0"/>
          </a:p>
        </p:txBody>
      </p:sp>
      <p:sp>
        <p:nvSpPr>
          <p:cNvPr id="47" name="Text 44"/>
          <p:cNvSpPr/>
          <p:nvPr/>
        </p:nvSpPr>
        <p:spPr>
          <a:xfrm>
            <a:off x="878681" y="4446984"/>
            <a:ext cx="7672388" cy="267891"/>
          </a:xfrm>
          <a:prstGeom prst="rect">
            <a:avLst/>
          </a:prstGeom>
          <a:noFill/>
          <a:ln/>
        </p:spPr>
        <p:txBody>
          <a:bodyPr wrap="square" lIns="0" tIns="0" rIns="0" bIns="0" rtlCol="0" anchor="t"/>
          <a:lstStyle/>
          <a:p>
            <a:pPr marL="0" indent="0" algn="l">
              <a:lnSpc>
                <a:spcPts val="1055"/>
              </a:lnSpc>
              <a:buNone/>
            </a:pPr>
            <a:r>
              <a:rPr lang="en-US" sz="800" b="1" kern="0" spc="37" dirty="0">
                <a:solidFill>
                  <a:srgbClr val="0F2A4A"/>
                </a:solidFill>
                <a:latin typeface="Carlito" pitchFamily="34" charset="0"/>
                <a:ea typeface="Carlito" pitchFamily="34" charset="-122"/>
                <a:cs typeface="Carlito" pitchFamily="34" charset="-120"/>
              </a:rPr>
              <a:t>LIVE EXAMPLE —</a:t>
            </a:r>
            <a:r>
              <a:rPr lang="en-US" sz="800" dirty="0">
                <a:solidFill>
                  <a:srgbClr val="1A2332"/>
                </a:solidFill>
                <a:latin typeface="Carlito" pitchFamily="34" charset="0"/>
                <a:ea typeface="Carlito" pitchFamily="34" charset="-122"/>
                <a:cs typeface="Carlito" pitchFamily="34" charset="-120"/>
              </a:rPr>
              <a:t> The Jeep Cherokee hack (2015): researchers penetrated the cellular-to-CAN bus gateway via an unauthenticated D-Bus service over Sprint's network, remotely braking the vehicle on a highway.</a:t>
            </a:r>
            <a:endParaRPr lang="en-US" sz="800" dirty="0"/>
          </a:p>
        </p:txBody>
      </p:sp>
      <p:sp>
        <p:nvSpPr>
          <p:cNvPr id="48" name="Text 45"/>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49" name="Text 46"/>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07 / 21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464344"/>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416123"/>
            <a:ext cx="2167629" cy="156520"/>
          </a:xfrm>
          <a:prstGeom prst="rect">
            <a:avLst/>
          </a:prstGeom>
          <a:noFill/>
          <a:ln/>
        </p:spPr>
        <p:txBody>
          <a:bodyPr wrap="non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03 · NETWORK SECURITY</a:t>
            </a:r>
            <a:endParaRPr lang="en-US" sz="800" dirty="0"/>
          </a:p>
        </p:txBody>
      </p:sp>
      <p:sp>
        <p:nvSpPr>
          <p:cNvPr id="5" name="Text 2"/>
          <p:cNvSpPr/>
          <p:nvPr/>
        </p:nvSpPr>
        <p:spPr>
          <a:xfrm>
            <a:off x="457200" y="600075"/>
            <a:ext cx="8636000" cy="198266"/>
          </a:xfrm>
          <a:prstGeom prst="rect">
            <a:avLst/>
          </a:prstGeom>
          <a:noFill/>
          <a:ln/>
        </p:spPr>
        <p:txBody>
          <a:bodyPr wrap="square" lIns="0" tIns="0" rIns="0" bIns="0" rtlCol="0" anchor="t">
            <a:normAutofit/>
          </a:bodyPr>
          <a:lstStyle/>
          <a:p>
            <a:pPr marL="0" indent="0" algn="l">
              <a:lnSpc>
                <a:spcPts val="1553"/>
              </a:lnSpc>
              <a:buNone/>
            </a:pPr>
            <a:r>
              <a:rPr lang="en-US" sz="1350" kern="0" spc="-13" dirty="0">
                <a:solidFill>
                  <a:srgbClr val="0F2A4A"/>
                </a:solidFill>
                <a:latin typeface="Tinos" pitchFamily="34" charset="0"/>
                <a:ea typeface="Tinos" pitchFamily="34" charset="-122"/>
                <a:cs typeface="Tinos" pitchFamily="34" charset="-120"/>
              </a:rPr>
              <a:t>Network Defense Stack — Device to Cloud</a:t>
            </a:r>
            <a:endParaRPr lang="en-US" sz="1350" dirty="0"/>
          </a:p>
        </p:txBody>
      </p:sp>
      <p:sp>
        <p:nvSpPr>
          <p:cNvPr id="6" name="Text 3"/>
          <p:cNvSpPr/>
          <p:nvPr/>
        </p:nvSpPr>
        <p:spPr>
          <a:xfrm>
            <a:off x="457200" y="825773"/>
            <a:ext cx="8229600" cy="164592"/>
          </a:xfrm>
          <a:prstGeom prst="rect">
            <a:avLst/>
          </a:prstGeom>
          <a:noFill/>
          <a:ln/>
        </p:spPr>
        <p:txBody>
          <a:bodyPr wrap="square" lIns="0" tIns="0" rIns="0" bIns="0" rtlCol="0" anchor="t"/>
          <a:lstStyle/>
          <a:p>
            <a:pPr marL="0" indent="0" algn="l">
              <a:lnSpc>
                <a:spcPts val="1097"/>
              </a:lnSpc>
              <a:buNone/>
            </a:pPr>
            <a:r>
              <a:rPr lang="en-US" sz="800" dirty="0">
                <a:solidFill>
                  <a:srgbClr val="6B7280"/>
                </a:solidFill>
                <a:latin typeface="Carlito" pitchFamily="34" charset="0"/>
                <a:ea typeface="Carlito" pitchFamily="34" charset="-122"/>
                <a:cs typeface="Carlito" pitchFamily="34" charset="-120"/>
              </a:rPr>
              <a:t>Each hop adds a control; defense in depth across the path.</a:t>
            </a:r>
            <a:endParaRPr lang="en-US" sz="800" dirty="0"/>
          </a:p>
        </p:txBody>
      </p:sp>
      <p:sp>
        <p:nvSpPr>
          <p:cNvPr id="7" name="Text 4"/>
          <p:cNvSpPr/>
          <p:nvPr/>
        </p:nvSpPr>
        <p:spPr>
          <a:xfrm>
            <a:off x="460772" y="1168673"/>
            <a:ext cx="1278731" cy="1421606"/>
          </a:xfrm>
          <a:prstGeom prst="roundRect">
            <a:avLst>
              <a:gd name="adj" fmla="val 4469"/>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8" name="Text 5"/>
          <p:cNvSpPr/>
          <p:nvPr/>
        </p:nvSpPr>
        <p:spPr>
          <a:xfrm>
            <a:off x="833720" y="1248969"/>
            <a:ext cx="532834"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9" name="Text 6"/>
          <p:cNvSpPr/>
          <p:nvPr/>
        </p:nvSpPr>
        <p:spPr>
          <a:xfrm>
            <a:off x="805416" y="1257970"/>
            <a:ext cx="589443"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01</a:t>
            </a:r>
            <a:endParaRPr lang="en-US" sz="800" dirty="0"/>
          </a:p>
        </p:txBody>
      </p:sp>
      <p:sp>
        <p:nvSpPr>
          <p:cNvPr id="10" name="Text 7"/>
          <p:cNvSpPr/>
          <p:nvPr/>
        </p:nvSpPr>
        <p:spPr>
          <a:xfrm>
            <a:off x="957263" y="1564593"/>
            <a:ext cx="285750" cy="285750"/>
          </a:xfrm>
          <a:prstGeom prst="rect">
            <a:avLst/>
          </a:prstGeom>
          <a:noFill/>
          <a:ln/>
        </p:spPr>
        <p:txBody>
          <a:bodyPr wrap="none" lIns="0" tIns="0" rIns="0" bIns="0" rtlCol="0" anchor="ctr"/>
          <a:lstStyle/>
          <a:p>
            <a:pPr marL="0" indent="0" algn="ctr">
              <a:buNone/>
            </a:pPr>
            <a:r>
              <a:rPr lang="en-US" sz="2813" dirty="0">
                <a:solidFill>
                  <a:srgbClr val="C9A961"/>
                </a:solidFill>
                <a:latin typeface="Segoe UI Symbol" pitchFamily="34" charset="0"/>
                <a:ea typeface="Segoe UI Symbol" pitchFamily="34" charset="-122"/>
                <a:cs typeface="Segoe UI Symbol" pitchFamily="34" charset="-120"/>
              </a:rPr>
              <a:t>#</a:t>
            </a:r>
            <a:endParaRPr lang="en-US" sz="2813" dirty="0"/>
          </a:p>
        </p:txBody>
      </p:sp>
      <p:sp>
        <p:nvSpPr>
          <p:cNvPr id="11" name="Text 8"/>
          <p:cNvSpPr/>
          <p:nvPr/>
        </p:nvSpPr>
        <p:spPr>
          <a:xfrm>
            <a:off x="611526" y="2006947"/>
            <a:ext cx="977111" cy="140446"/>
          </a:xfrm>
          <a:prstGeom prst="rect">
            <a:avLst/>
          </a:prstGeom>
          <a:noFill/>
          <a:ln/>
        </p:spPr>
        <p:txBody>
          <a:bodyPr wrap="none" lIns="0" tIns="0" rIns="0" bIns="0" rtlCol="0" anchor="t">
            <a:normAutofit/>
          </a:bodyPr>
          <a:lstStyle/>
          <a:p>
            <a:pPr marL="0" indent="0" algn="ctr">
              <a:lnSpc>
                <a:spcPts val="1097"/>
              </a:lnSpc>
              <a:buNone/>
            </a:pPr>
            <a:r>
              <a:rPr lang="en-US" sz="800" b="1" kern="0" spc="29" dirty="0">
                <a:solidFill>
                  <a:srgbClr val="FFFFFF"/>
                </a:solidFill>
                <a:latin typeface="Carlito" pitchFamily="34" charset="0"/>
                <a:ea typeface="Carlito" pitchFamily="34" charset="-122"/>
                <a:cs typeface="Carlito" pitchFamily="34" charset="-120"/>
              </a:rPr>
              <a:t>DEVICE</a:t>
            </a:r>
            <a:endParaRPr lang="en-US" sz="800" dirty="0"/>
          </a:p>
        </p:txBody>
      </p:sp>
      <p:sp>
        <p:nvSpPr>
          <p:cNvPr id="12" name="Text 9"/>
          <p:cNvSpPr/>
          <p:nvPr/>
        </p:nvSpPr>
        <p:spPr>
          <a:xfrm>
            <a:off x="728997" y="2174825"/>
            <a:ext cx="742169" cy="326157"/>
          </a:xfrm>
          <a:prstGeom prst="rect">
            <a:avLst/>
          </a:prstGeom>
          <a:noFill/>
          <a:ln/>
        </p:spPr>
        <p:txBody>
          <a:bodyPr wrap="square" lIns="0" tIns="0" rIns="0" bIns="0" rtlCol="0" anchor="t"/>
          <a:lstStyle/>
          <a:p>
            <a:pPr marL="0" indent="0" algn="ctr">
              <a:lnSpc>
                <a:spcPts val="856"/>
              </a:lnSpc>
              <a:buNone/>
            </a:pPr>
            <a:r>
              <a:rPr lang="en-US" sz="800" dirty="0">
                <a:solidFill>
                  <a:srgbClr val="FFFFFF">
                    <a:alpha val="85000"/>
                  </a:srgbClr>
                </a:solidFill>
                <a:latin typeface="Carlito" pitchFamily="34" charset="0"/>
                <a:ea typeface="Carlito" pitchFamily="34" charset="-122"/>
                <a:cs typeface="Carlito" pitchFamily="34" charset="-120"/>
              </a:rPr>
              <a:t>Constrained node</a:t>
            </a:r>
            <a:endParaRPr lang="en-US" sz="800" dirty="0"/>
          </a:p>
          <a:p>
            <a:pPr marL="0" indent="0" algn="ctr">
              <a:lnSpc>
                <a:spcPts val="856"/>
              </a:lnSpc>
              <a:buNone/>
            </a:pPr>
            <a:r>
              <a:rPr lang="en-US" sz="800" dirty="0">
                <a:solidFill>
                  <a:srgbClr val="FFFFFF">
                    <a:alpha val="85000"/>
                  </a:srgbClr>
                </a:solidFill>
                <a:latin typeface="Liberation Sans Narrow" pitchFamily="34" charset="0"/>
                <a:ea typeface="Liberation Sans Narrow" pitchFamily="34" charset="-122"/>
                <a:cs typeface="Liberation Sans Narrow" pitchFamily="34" charset="-120"/>
              </a:rPr>
              <a:t>· IEEE 802.1AR devID</a:t>
            </a:r>
            <a:endParaRPr lang="en-US" sz="800" dirty="0"/>
          </a:p>
          <a:p>
            <a:pPr marL="0" indent="0" algn="ctr">
              <a:lnSpc>
                <a:spcPts val="856"/>
              </a:lnSpc>
              <a:buNone/>
            </a:pPr>
            <a:r>
              <a:rPr lang="en-US" sz="800" dirty="0">
                <a:solidFill>
                  <a:srgbClr val="FFFFFF">
                    <a:alpha val="85000"/>
                  </a:srgbClr>
                </a:solidFill>
                <a:latin typeface="Carlito" pitchFamily="34" charset="0"/>
                <a:ea typeface="Carlito" pitchFamily="34" charset="-122"/>
                <a:cs typeface="Carlito" pitchFamily="34" charset="-120"/>
              </a:rPr>
              <a:t>· DTLS to gateway</a:t>
            </a:r>
            <a:endParaRPr lang="en-US" sz="800" dirty="0"/>
          </a:p>
        </p:txBody>
      </p:sp>
      <p:sp>
        <p:nvSpPr>
          <p:cNvPr id="13" name="Text 10"/>
          <p:cNvSpPr/>
          <p:nvPr/>
        </p:nvSpPr>
        <p:spPr>
          <a:xfrm>
            <a:off x="1882378" y="1874118"/>
            <a:ext cx="171450" cy="10716"/>
          </a:xfrm>
          <a:prstGeom prst="rect">
            <a:avLst/>
          </a:prstGeom>
          <a:solidFill>
            <a:srgbClr val="0F2A4A"/>
          </a:solidFill>
          <a:ln/>
        </p:spPr>
        <p:txBody>
          <a:bodyPr wrap="square" rtlCol="0" anchor="ctr"/>
          <a:lstStyle/>
          <a:p>
            <a:pPr marL="0" indent="0">
              <a:buNone/>
            </a:pPr>
            <a:endParaRPr lang="en-US" dirty="0"/>
          </a:p>
        </p:txBody>
      </p:sp>
      <p:sp>
        <p:nvSpPr>
          <p:cNvPr id="14" name="Text 11"/>
          <p:cNvSpPr/>
          <p:nvPr/>
        </p:nvSpPr>
        <p:spPr>
          <a:xfrm>
            <a:off x="2196703" y="1168673"/>
            <a:ext cx="1278731" cy="1421606"/>
          </a:xfrm>
          <a:prstGeom prst="roundRect">
            <a:avLst>
              <a:gd name="adj" fmla="val 44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5" name="Text 12"/>
          <p:cNvSpPr/>
          <p:nvPr/>
        </p:nvSpPr>
        <p:spPr>
          <a:xfrm>
            <a:off x="2569652" y="1248969"/>
            <a:ext cx="532834"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16" name="Text 13"/>
          <p:cNvSpPr/>
          <p:nvPr/>
        </p:nvSpPr>
        <p:spPr>
          <a:xfrm>
            <a:off x="2541347" y="1257970"/>
            <a:ext cx="589443"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02</a:t>
            </a:r>
            <a:endParaRPr lang="en-US" sz="800" dirty="0"/>
          </a:p>
        </p:txBody>
      </p:sp>
      <p:sp>
        <p:nvSpPr>
          <p:cNvPr id="17" name="Text 14"/>
          <p:cNvSpPr/>
          <p:nvPr/>
        </p:nvSpPr>
        <p:spPr>
          <a:xfrm>
            <a:off x="2693194" y="1564593"/>
            <a:ext cx="285750" cy="285750"/>
          </a:xfrm>
          <a:prstGeom prst="rect">
            <a:avLst/>
          </a:prstGeom>
          <a:noFill/>
          <a:ln/>
        </p:spPr>
        <p:txBody>
          <a:bodyPr wrap="none" lIns="0" tIns="0" rIns="0" bIns="0" rtlCol="0" anchor="ctr"/>
          <a:lstStyle/>
          <a:p>
            <a:pPr marL="0" indent="0" algn="ctr">
              <a:buNone/>
            </a:pPr>
            <a:r>
              <a:rPr lang="en-US" sz="2813" dirty="0">
                <a:solidFill>
                  <a:srgbClr val="0F2A4A"/>
                </a:solidFill>
                <a:latin typeface="Segoe UI Symbol" pitchFamily="34" charset="0"/>
                <a:ea typeface="Segoe UI Symbol" pitchFamily="34" charset="-122"/>
                <a:cs typeface="Segoe UI Symbol" pitchFamily="34" charset="-120"/>
              </a:rPr>
              <a:t>◌</a:t>
            </a:r>
            <a:endParaRPr lang="en-US" sz="2813" dirty="0"/>
          </a:p>
        </p:txBody>
      </p:sp>
      <p:sp>
        <p:nvSpPr>
          <p:cNvPr id="18" name="Text 15"/>
          <p:cNvSpPr/>
          <p:nvPr/>
        </p:nvSpPr>
        <p:spPr>
          <a:xfrm>
            <a:off x="2468108" y="2006947"/>
            <a:ext cx="735809" cy="140446"/>
          </a:xfrm>
          <a:prstGeom prst="rect">
            <a:avLst/>
          </a:prstGeom>
          <a:noFill/>
          <a:ln/>
        </p:spPr>
        <p:txBody>
          <a:bodyPr wrap="none" lIns="0" tIns="0" rIns="0" bIns="0" rtlCol="0" anchor="t">
            <a:normAutofit/>
          </a:bodyPr>
          <a:lstStyle/>
          <a:p>
            <a:pPr marL="0" indent="0" algn="ctr">
              <a:lnSpc>
                <a:spcPts val="1097"/>
              </a:lnSpc>
              <a:buNone/>
            </a:pPr>
            <a:r>
              <a:rPr lang="en-US" sz="800" b="1" kern="0" spc="29" dirty="0">
                <a:solidFill>
                  <a:srgbClr val="0F2A4A"/>
                </a:solidFill>
                <a:latin typeface="Carlito" pitchFamily="34" charset="0"/>
                <a:ea typeface="Carlito" pitchFamily="34" charset="-122"/>
                <a:cs typeface="Carlito" pitchFamily="34" charset="-120"/>
              </a:rPr>
              <a:t>GATEWAY</a:t>
            </a:r>
            <a:endParaRPr lang="en-US" sz="800" dirty="0"/>
          </a:p>
        </p:txBody>
      </p:sp>
      <p:sp>
        <p:nvSpPr>
          <p:cNvPr id="19" name="Text 16"/>
          <p:cNvSpPr/>
          <p:nvPr/>
        </p:nvSpPr>
        <p:spPr>
          <a:xfrm>
            <a:off x="2556570" y="2174825"/>
            <a:ext cx="558887" cy="326157"/>
          </a:xfrm>
          <a:prstGeom prst="rect">
            <a:avLst/>
          </a:prstGeom>
          <a:noFill/>
          <a:ln/>
        </p:spPr>
        <p:txBody>
          <a:bodyPr wrap="square" lIns="0" tIns="0" rIns="0" bIns="0" rtlCol="0" anchor="t"/>
          <a:lstStyle/>
          <a:p>
            <a:pPr marL="0" indent="0" algn="ctr">
              <a:lnSpc>
                <a:spcPts val="856"/>
              </a:lnSpc>
              <a:buNone/>
            </a:pPr>
            <a:r>
              <a:rPr lang="en-US" sz="800" dirty="0">
                <a:solidFill>
                  <a:srgbClr val="4A5568"/>
                </a:solidFill>
                <a:latin typeface="Carlito" pitchFamily="34" charset="0"/>
                <a:ea typeface="Carlito" pitchFamily="34" charset="-122"/>
                <a:cs typeface="Carlito" pitchFamily="34" charset="-120"/>
              </a:rPr>
              <a:t>Edge aggregator</a:t>
            </a:r>
            <a:endParaRPr lang="en-US" sz="800" dirty="0"/>
          </a:p>
          <a:p>
            <a:pPr marL="0" indent="0" algn="ctr">
              <a:lnSpc>
                <a:spcPts val="856"/>
              </a:lnSpc>
              <a:buNone/>
            </a:pPr>
            <a:r>
              <a:rPr lang="en-US" sz="800" dirty="0">
                <a:solidFill>
                  <a:srgbClr val="4A5568"/>
                </a:solidFill>
                <a:latin typeface="Carlito" pitchFamily="34" charset="0"/>
                <a:ea typeface="Carlito" pitchFamily="34" charset="-122"/>
                <a:cs typeface="Carlito" pitchFamily="34" charset="-120"/>
              </a:rPr>
              <a:t>· Mutual TLS</a:t>
            </a:r>
            <a:endParaRPr lang="en-US" sz="800" dirty="0"/>
          </a:p>
          <a:p>
            <a:pPr marL="0" indent="0" algn="ctr">
              <a:lnSpc>
                <a:spcPts val="856"/>
              </a:lnSpc>
              <a:buNone/>
            </a:pPr>
            <a:r>
              <a:rPr lang="en-US" sz="800" dirty="0">
                <a:solidFill>
                  <a:srgbClr val="4A5568"/>
                </a:solidFill>
                <a:latin typeface="Carlito" pitchFamily="34" charset="0"/>
                <a:ea typeface="Carlito" pitchFamily="34" charset="-122"/>
                <a:cs typeface="Carlito" pitchFamily="34" charset="-120"/>
              </a:rPr>
              <a:t>· Firewall rules</a:t>
            </a:r>
            <a:endParaRPr lang="en-US" sz="800" dirty="0"/>
          </a:p>
        </p:txBody>
      </p:sp>
      <p:sp>
        <p:nvSpPr>
          <p:cNvPr id="20" name="Text 17"/>
          <p:cNvSpPr/>
          <p:nvPr/>
        </p:nvSpPr>
        <p:spPr>
          <a:xfrm>
            <a:off x="3618309" y="1874118"/>
            <a:ext cx="171450" cy="10716"/>
          </a:xfrm>
          <a:prstGeom prst="rect">
            <a:avLst/>
          </a:prstGeom>
          <a:solidFill>
            <a:srgbClr val="0F2A4A"/>
          </a:solidFill>
          <a:ln/>
        </p:spPr>
        <p:txBody>
          <a:bodyPr wrap="square" rtlCol="0" anchor="ctr"/>
          <a:lstStyle/>
          <a:p>
            <a:pPr marL="0" indent="0">
              <a:buNone/>
            </a:pPr>
            <a:endParaRPr lang="en-US" dirty="0"/>
          </a:p>
        </p:txBody>
      </p:sp>
      <p:sp>
        <p:nvSpPr>
          <p:cNvPr id="21" name="Text 18"/>
          <p:cNvSpPr/>
          <p:nvPr/>
        </p:nvSpPr>
        <p:spPr>
          <a:xfrm>
            <a:off x="3932634" y="1168673"/>
            <a:ext cx="1278731" cy="1421606"/>
          </a:xfrm>
          <a:prstGeom prst="roundRect">
            <a:avLst>
              <a:gd name="adj" fmla="val 44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2" name="Text 19"/>
          <p:cNvSpPr/>
          <p:nvPr/>
        </p:nvSpPr>
        <p:spPr>
          <a:xfrm>
            <a:off x="4305583" y="1248969"/>
            <a:ext cx="532834"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23" name="Text 20"/>
          <p:cNvSpPr/>
          <p:nvPr/>
        </p:nvSpPr>
        <p:spPr>
          <a:xfrm>
            <a:off x="4277279" y="1257970"/>
            <a:ext cx="589443"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03</a:t>
            </a:r>
            <a:endParaRPr lang="en-US" sz="800" dirty="0"/>
          </a:p>
        </p:txBody>
      </p:sp>
      <p:sp>
        <p:nvSpPr>
          <p:cNvPr id="24" name="Text 21"/>
          <p:cNvSpPr/>
          <p:nvPr/>
        </p:nvSpPr>
        <p:spPr>
          <a:xfrm>
            <a:off x="4429125" y="1564593"/>
            <a:ext cx="285750" cy="285750"/>
          </a:xfrm>
          <a:prstGeom prst="rect">
            <a:avLst/>
          </a:prstGeom>
          <a:noFill/>
          <a:ln/>
        </p:spPr>
        <p:txBody>
          <a:bodyPr wrap="none" lIns="0" tIns="0" rIns="0" bIns="0" rtlCol="0" anchor="ctr"/>
          <a:lstStyle/>
          <a:p>
            <a:pPr marL="0" indent="0" algn="ctr">
              <a:buNone/>
            </a:pPr>
            <a:r>
              <a:rPr lang="en-US" sz="2813" dirty="0">
                <a:solidFill>
                  <a:srgbClr val="0F2A4A"/>
                </a:solidFill>
                <a:latin typeface="Segoe UI Symbol" pitchFamily="34" charset="0"/>
                <a:ea typeface="Segoe UI Symbol" pitchFamily="34" charset="-122"/>
                <a:cs typeface="Segoe UI Symbol" pitchFamily="34" charset="-120"/>
              </a:rPr>
              <a:t>⛨</a:t>
            </a:r>
            <a:endParaRPr lang="en-US" sz="2813" dirty="0"/>
          </a:p>
        </p:txBody>
      </p:sp>
      <p:sp>
        <p:nvSpPr>
          <p:cNvPr id="25" name="Text 22"/>
          <p:cNvSpPr/>
          <p:nvPr/>
        </p:nvSpPr>
        <p:spPr>
          <a:xfrm>
            <a:off x="4204186" y="2006947"/>
            <a:ext cx="735516" cy="140446"/>
          </a:xfrm>
          <a:prstGeom prst="rect">
            <a:avLst/>
          </a:prstGeom>
          <a:noFill/>
          <a:ln/>
        </p:spPr>
        <p:txBody>
          <a:bodyPr wrap="none" lIns="0" tIns="0" rIns="0" bIns="0" rtlCol="0" anchor="t">
            <a:normAutofit/>
          </a:bodyPr>
          <a:lstStyle/>
          <a:p>
            <a:pPr marL="0" indent="0" algn="ctr">
              <a:lnSpc>
                <a:spcPts val="1097"/>
              </a:lnSpc>
              <a:buNone/>
            </a:pPr>
            <a:r>
              <a:rPr lang="en-US" sz="800" b="1" kern="0" spc="29" dirty="0">
                <a:solidFill>
                  <a:srgbClr val="0F2A4A"/>
                </a:solidFill>
                <a:latin typeface="Carlito" pitchFamily="34" charset="0"/>
                <a:ea typeface="Carlito" pitchFamily="34" charset="-122"/>
                <a:cs typeface="Carlito" pitchFamily="34" charset="-120"/>
              </a:rPr>
              <a:t>IDS / IPS</a:t>
            </a:r>
            <a:endParaRPr lang="en-US" sz="800" dirty="0"/>
          </a:p>
        </p:txBody>
      </p:sp>
      <p:sp>
        <p:nvSpPr>
          <p:cNvPr id="26" name="Text 23"/>
          <p:cNvSpPr/>
          <p:nvPr/>
        </p:nvSpPr>
        <p:spPr>
          <a:xfrm>
            <a:off x="4292612" y="2174825"/>
            <a:ext cx="558664" cy="326157"/>
          </a:xfrm>
          <a:prstGeom prst="rect">
            <a:avLst/>
          </a:prstGeom>
          <a:noFill/>
          <a:ln/>
        </p:spPr>
        <p:txBody>
          <a:bodyPr wrap="square" lIns="0" tIns="0" rIns="0" bIns="0" rtlCol="0" anchor="t"/>
          <a:lstStyle/>
          <a:p>
            <a:pPr marL="0" indent="0" algn="ctr">
              <a:lnSpc>
                <a:spcPts val="856"/>
              </a:lnSpc>
              <a:buNone/>
            </a:pPr>
            <a:r>
              <a:rPr lang="en-US" sz="800" dirty="0">
                <a:solidFill>
                  <a:srgbClr val="4A5568"/>
                </a:solidFill>
                <a:latin typeface="Carlito" pitchFamily="34" charset="0"/>
                <a:ea typeface="Carlito" pitchFamily="34" charset="-122"/>
                <a:cs typeface="Carlito" pitchFamily="34" charset="-120"/>
              </a:rPr>
              <a:t>Intrusion detect</a:t>
            </a:r>
            <a:endParaRPr lang="en-US" sz="800" dirty="0"/>
          </a:p>
          <a:p>
            <a:pPr marL="0" indent="0" algn="ctr">
              <a:lnSpc>
                <a:spcPts val="856"/>
              </a:lnSpc>
              <a:buNone/>
            </a:pPr>
            <a:r>
              <a:rPr lang="en-US" sz="800" dirty="0">
                <a:solidFill>
                  <a:srgbClr val="4A5568"/>
                </a:solidFill>
                <a:latin typeface="Carlito" pitchFamily="34" charset="0"/>
                <a:ea typeface="Carlito" pitchFamily="34" charset="-122"/>
                <a:cs typeface="Carlito" pitchFamily="34" charset="-120"/>
              </a:rPr>
              <a:t>· Snort / Suricata</a:t>
            </a:r>
            <a:endParaRPr lang="en-US" sz="800" dirty="0"/>
          </a:p>
          <a:p>
            <a:pPr marL="0" indent="0" algn="ctr">
              <a:lnSpc>
                <a:spcPts val="856"/>
              </a:lnSpc>
              <a:buNone/>
            </a:pPr>
            <a:r>
              <a:rPr lang="en-US" sz="800" dirty="0">
                <a:solidFill>
                  <a:srgbClr val="4A5568"/>
                </a:solidFill>
                <a:latin typeface="Carlito" pitchFamily="34" charset="0"/>
                <a:ea typeface="Carlito" pitchFamily="34" charset="-122"/>
                <a:cs typeface="Carlito" pitchFamily="34" charset="-120"/>
              </a:rPr>
              <a:t>· Anomaly ML</a:t>
            </a:r>
            <a:endParaRPr lang="en-US" sz="800" dirty="0"/>
          </a:p>
        </p:txBody>
      </p:sp>
      <p:sp>
        <p:nvSpPr>
          <p:cNvPr id="27" name="Text 24"/>
          <p:cNvSpPr/>
          <p:nvPr/>
        </p:nvSpPr>
        <p:spPr>
          <a:xfrm>
            <a:off x="5354241" y="1874118"/>
            <a:ext cx="171450" cy="10716"/>
          </a:xfrm>
          <a:prstGeom prst="rect">
            <a:avLst/>
          </a:prstGeom>
          <a:solidFill>
            <a:srgbClr val="0F2A4A"/>
          </a:solidFill>
          <a:ln/>
        </p:spPr>
        <p:txBody>
          <a:bodyPr wrap="square" rtlCol="0" anchor="ctr"/>
          <a:lstStyle/>
          <a:p>
            <a:pPr marL="0" indent="0">
              <a:buNone/>
            </a:pPr>
            <a:endParaRPr lang="en-US" dirty="0"/>
          </a:p>
        </p:txBody>
      </p:sp>
      <p:sp>
        <p:nvSpPr>
          <p:cNvPr id="28" name="Text 25"/>
          <p:cNvSpPr/>
          <p:nvPr/>
        </p:nvSpPr>
        <p:spPr>
          <a:xfrm>
            <a:off x="5668566" y="1168673"/>
            <a:ext cx="1278731" cy="1421606"/>
          </a:xfrm>
          <a:prstGeom prst="roundRect">
            <a:avLst>
              <a:gd name="adj" fmla="val 44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9" name="Text 26"/>
          <p:cNvSpPr/>
          <p:nvPr/>
        </p:nvSpPr>
        <p:spPr>
          <a:xfrm>
            <a:off x="6041514" y="1248969"/>
            <a:ext cx="532834"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30" name="Text 27"/>
          <p:cNvSpPr/>
          <p:nvPr/>
        </p:nvSpPr>
        <p:spPr>
          <a:xfrm>
            <a:off x="6013210" y="1257970"/>
            <a:ext cx="589443"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04</a:t>
            </a:r>
            <a:endParaRPr lang="en-US" sz="800" dirty="0"/>
          </a:p>
        </p:txBody>
      </p:sp>
      <p:sp>
        <p:nvSpPr>
          <p:cNvPr id="31" name="Text 28"/>
          <p:cNvSpPr/>
          <p:nvPr/>
        </p:nvSpPr>
        <p:spPr>
          <a:xfrm>
            <a:off x="6165056" y="1564593"/>
            <a:ext cx="285750" cy="285750"/>
          </a:xfrm>
          <a:prstGeom prst="rect">
            <a:avLst/>
          </a:prstGeom>
          <a:noFill/>
          <a:ln/>
        </p:spPr>
        <p:txBody>
          <a:bodyPr wrap="none" lIns="0" tIns="0" rIns="0" bIns="0" rtlCol="0" anchor="ctr"/>
          <a:lstStyle/>
          <a:p>
            <a:pPr marL="0" indent="0" algn="ctr">
              <a:buNone/>
            </a:pPr>
            <a:r>
              <a:rPr lang="en-US" sz="2813" dirty="0">
                <a:solidFill>
                  <a:srgbClr val="0F2A4A"/>
                </a:solidFill>
                <a:latin typeface="Segoe UI Symbol" pitchFamily="34" charset="0"/>
                <a:ea typeface="Segoe UI Symbol" pitchFamily="34" charset="-122"/>
                <a:cs typeface="Segoe UI Symbol" pitchFamily="34" charset="-120"/>
              </a:rPr>
              <a:t>⚿</a:t>
            </a:r>
            <a:endParaRPr lang="en-US" sz="2813" dirty="0"/>
          </a:p>
        </p:txBody>
      </p:sp>
      <p:sp>
        <p:nvSpPr>
          <p:cNvPr id="32" name="Text 29"/>
          <p:cNvSpPr/>
          <p:nvPr/>
        </p:nvSpPr>
        <p:spPr>
          <a:xfrm>
            <a:off x="5975828" y="2006947"/>
            <a:ext cx="664095" cy="140446"/>
          </a:xfrm>
          <a:prstGeom prst="rect">
            <a:avLst/>
          </a:prstGeom>
          <a:noFill/>
          <a:ln/>
        </p:spPr>
        <p:txBody>
          <a:bodyPr wrap="none" lIns="0" tIns="0" rIns="0" bIns="0" rtlCol="0" anchor="t">
            <a:normAutofit/>
          </a:bodyPr>
          <a:lstStyle/>
          <a:p>
            <a:pPr marL="0" indent="0" algn="ctr">
              <a:lnSpc>
                <a:spcPts val="1097"/>
              </a:lnSpc>
              <a:buNone/>
            </a:pPr>
            <a:r>
              <a:rPr lang="en-US" sz="800" b="1" kern="0" spc="29" dirty="0">
                <a:solidFill>
                  <a:srgbClr val="0F2A4A"/>
                </a:solidFill>
                <a:latin typeface="Carlito" pitchFamily="34" charset="0"/>
                <a:ea typeface="Carlito" pitchFamily="34" charset="-122"/>
                <a:cs typeface="Carlito" pitchFamily="34" charset="-120"/>
              </a:rPr>
              <a:t>FIREWALL</a:t>
            </a:r>
            <a:endParaRPr lang="en-US" sz="800" dirty="0"/>
          </a:p>
        </p:txBody>
      </p:sp>
      <p:sp>
        <p:nvSpPr>
          <p:cNvPr id="33" name="Text 30"/>
          <p:cNvSpPr/>
          <p:nvPr/>
        </p:nvSpPr>
        <p:spPr>
          <a:xfrm>
            <a:off x="6055668" y="2174825"/>
            <a:ext cx="504416" cy="326157"/>
          </a:xfrm>
          <a:prstGeom prst="rect">
            <a:avLst/>
          </a:prstGeom>
          <a:noFill/>
          <a:ln/>
        </p:spPr>
        <p:txBody>
          <a:bodyPr wrap="square" lIns="0" tIns="0" rIns="0" bIns="0" rtlCol="0" anchor="t"/>
          <a:lstStyle/>
          <a:p>
            <a:pPr marL="0" indent="0" algn="ctr">
              <a:lnSpc>
                <a:spcPts val="856"/>
              </a:lnSpc>
              <a:buNone/>
            </a:pPr>
            <a:r>
              <a:rPr lang="en-US" sz="800" dirty="0">
                <a:solidFill>
                  <a:srgbClr val="4A5568"/>
                </a:solidFill>
                <a:latin typeface="Liberation Sans Narrow" pitchFamily="34" charset="0"/>
                <a:ea typeface="Liberation Sans Narrow" pitchFamily="34" charset="-122"/>
                <a:cs typeface="Liberation Sans Narrow" pitchFamily="34" charset="-120"/>
              </a:rPr>
              <a:t>L4–L7 filter</a:t>
            </a:r>
            <a:endParaRPr lang="en-US" sz="800" dirty="0"/>
          </a:p>
          <a:p>
            <a:pPr marL="0" indent="0" algn="ctr">
              <a:lnSpc>
                <a:spcPts val="856"/>
              </a:lnSpc>
              <a:buNone/>
            </a:pPr>
            <a:r>
              <a:rPr lang="en-US" sz="800" dirty="0">
                <a:solidFill>
                  <a:srgbClr val="4A5568"/>
                </a:solidFill>
                <a:latin typeface="Carlito" pitchFamily="34" charset="0"/>
                <a:ea typeface="Carlito" pitchFamily="34" charset="-122"/>
                <a:cs typeface="Carlito" pitchFamily="34" charset="-120"/>
              </a:rPr>
              <a:t>· Stateful rules</a:t>
            </a:r>
            <a:endParaRPr lang="en-US" sz="800" dirty="0"/>
          </a:p>
          <a:p>
            <a:pPr marL="0" indent="0" algn="ctr">
              <a:lnSpc>
                <a:spcPts val="856"/>
              </a:lnSpc>
              <a:buNone/>
            </a:pPr>
            <a:r>
              <a:rPr lang="en-US" sz="800" dirty="0">
                <a:solidFill>
                  <a:srgbClr val="4A5568"/>
                </a:solidFill>
                <a:latin typeface="Carlito" pitchFamily="34" charset="0"/>
                <a:ea typeface="Carlito" pitchFamily="34" charset="-122"/>
                <a:cs typeface="Carlito" pitchFamily="34" charset="-120"/>
              </a:rPr>
              <a:t>· DDoS scrub</a:t>
            </a:r>
            <a:endParaRPr lang="en-US" sz="800" dirty="0"/>
          </a:p>
        </p:txBody>
      </p:sp>
      <p:sp>
        <p:nvSpPr>
          <p:cNvPr id="34" name="Text 31"/>
          <p:cNvSpPr/>
          <p:nvPr/>
        </p:nvSpPr>
        <p:spPr>
          <a:xfrm>
            <a:off x="7090172" y="1874118"/>
            <a:ext cx="171450" cy="10716"/>
          </a:xfrm>
          <a:prstGeom prst="rect">
            <a:avLst/>
          </a:prstGeom>
          <a:solidFill>
            <a:srgbClr val="0F2A4A"/>
          </a:solidFill>
          <a:ln/>
        </p:spPr>
        <p:txBody>
          <a:bodyPr wrap="square" rtlCol="0" anchor="ctr"/>
          <a:lstStyle/>
          <a:p>
            <a:pPr marL="0" indent="0">
              <a:buNone/>
            </a:pPr>
            <a:endParaRPr lang="en-US" dirty="0"/>
          </a:p>
        </p:txBody>
      </p:sp>
      <p:sp>
        <p:nvSpPr>
          <p:cNvPr id="35" name="Text 32"/>
          <p:cNvSpPr/>
          <p:nvPr/>
        </p:nvSpPr>
        <p:spPr>
          <a:xfrm>
            <a:off x="7404497" y="1168673"/>
            <a:ext cx="1278731" cy="1421606"/>
          </a:xfrm>
          <a:prstGeom prst="roundRect">
            <a:avLst>
              <a:gd name="adj" fmla="val 4469"/>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36" name="Text 33"/>
          <p:cNvSpPr/>
          <p:nvPr/>
        </p:nvSpPr>
        <p:spPr>
          <a:xfrm>
            <a:off x="7777445" y="1248969"/>
            <a:ext cx="532834"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37" name="Text 34"/>
          <p:cNvSpPr/>
          <p:nvPr/>
        </p:nvSpPr>
        <p:spPr>
          <a:xfrm>
            <a:off x="7749141" y="1257970"/>
            <a:ext cx="589443"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05</a:t>
            </a:r>
            <a:endParaRPr lang="en-US" sz="800" dirty="0"/>
          </a:p>
        </p:txBody>
      </p:sp>
      <p:sp>
        <p:nvSpPr>
          <p:cNvPr id="38" name="Text 35"/>
          <p:cNvSpPr/>
          <p:nvPr/>
        </p:nvSpPr>
        <p:spPr>
          <a:xfrm>
            <a:off x="7900988" y="1564593"/>
            <a:ext cx="285750" cy="285750"/>
          </a:xfrm>
          <a:prstGeom prst="rect">
            <a:avLst/>
          </a:prstGeom>
          <a:noFill/>
          <a:ln/>
        </p:spPr>
        <p:txBody>
          <a:bodyPr wrap="none" lIns="0" tIns="0" rIns="0" bIns="0" rtlCol="0" anchor="ctr"/>
          <a:lstStyle/>
          <a:p>
            <a:pPr marL="0" indent="0" algn="ctr">
              <a:buNone/>
            </a:pPr>
            <a:r>
              <a:rPr lang="en-US" sz="2813" dirty="0">
                <a:solidFill>
                  <a:srgbClr val="C9A961"/>
                </a:solidFill>
                <a:latin typeface="Segoe UI Symbol" pitchFamily="34" charset="0"/>
                <a:ea typeface="Segoe UI Symbol" pitchFamily="34" charset="-122"/>
                <a:cs typeface="Segoe UI Symbol" pitchFamily="34" charset="-120"/>
              </a:rPr>
              <a:t>☁</a:t>
            </a:r>
            <a:endParaRPr lang="en-US" sz="2813" dirty="0"/>
          </a:p>
        </p:txBody>
      </p:sp>
      <p:sp>
        <p:nvSpPr>
          <p:cNvPr id="39" name="Text 36"/>
          <p:cNvSpPr/>
          <p:nvPr/>
        </p:nvSpPr>
        <p:spPr>
          <a:xfrm>
            <a:off x="7600091" y="2006947"/>
            <a:ext cx="887432" cy="140446"/>
          </a:xfrm>
          <a:prstGeom prst="rect">
            <a:avLst/>
          </a:prstGeom>
          <a:noFill/>
          <a:ln/>
        </p:spPr>
        <p:txBody>
          <a:bodyPr wrap="none" lIns="0" tIns="0" rIns="0" bIns="0" rtlCol="0" anchor="t">
            <a:normAutofit/>
          </a:bodyPr>
          <a:lstStyle/>
          <a:p>
            <a:pPr marL="0" indent="0" algn="ctr">
              <a:lnSpc>
                <a:spcPts val="1097"/>
              </a:lnSpc>
              <a:buNone/>
            </a:pPr>
            <a:r>
              <a:rPr lang="en-US" sz="800" b="1" kern="0" spc="29" dirty="0">
                <a:solidFill>
                  <a:srgbClr val="FFFFFF"/>
                </a:solidFill>
                <a:latin typeface="Carlito" pitchFamily="34" charset="0"/>
                <a:ea typeface="Carlito" pitchFamily="34" charset="-122"/>
                <a:cs typeface="Carlito" pitchFamily="34" charset="-120"/>
              </a:rPr>
              <a:t>CLOUD</a:t>
            </a:r>
            <a:endParaRPr lang="en-US" sz="800" dirty="0"/>
          </a:p>
        </p:txBody>
      </p:sp>
      <p:sp>
        <p:nvSpPr>
          <p:cNvPr id="40" name="Text 37"/>
          <p:cNvSpPr/>
          <p:nvPr/>
        </p:nvSpPr>
        <p:spPr>
          <a:xfrm>
            <a:off x="7766484" y="2174825"/>
            <a:ext cx="554645" cy="326157"/>
          </a:xfrm>
          <a:prstGeom prst="rect">
            <a:avLst/>
          </a:prstGeom>
          <a:noFill/>
          <a:ln/>
        </p:spPr>
        <p:txBody>
          <a:bodyPr wrap="square" lIns="0" tIns="0" rIns="0" bIns="0" rtlCol="0" anchor="t"/>
          <a:lstStyle/>
          <a:p>
            <a:pPr marL="0" indent="0" algn="ctr">
              <a:lnSpc>
                <a:spcPts val="856"/>
              </a:lnSpc>
              <a:buNone/>
            </a:pPr>
            <a:r>
              <a:rPr lang="en-US" sz="800" dirty="0">
                <a:solidFill>
                  <a:srgbClr val="FFFFFF">
                    <a:alpha val="85000"/>
                  </a:srgbClr>
                </a:solidFill>
                <a:latin typeface="Carlito" pitchFamily="34" charset="0"/>
                <a:ea typeface="Carlito" pitchFamily="34" charset="-122"/>
                <a:cs typeface="Carlito" pitchFamily="34" charset="-120"/>
              </a:rPr>
              <a:t>Service backend</a:t>
            </a:r>
            <a:endParaRPr lang="en-US" sz="800" dirty="0"/>
          </a:p>
          <a:p>
            <a:pPr marL="0" indent="0" algn="ctr">
              <a:lnSpc>
                <a:spcPts val="856"/>
              </a:lnSpc>
              <a:buNone/>
            </a:pPr>
            <a:r>
              <a:rPr lang="en-US" sz="800" dirty="0">
                <a:solidFill>
                  <a:srgbClr val="FFFFFF">
                    <a:alpha val="85000"/>
                  </a:srgbClr>
                </a:solidFill>
                <a:latin typeface="Carlito" pitchFamily="34" charset="0"/>
                <a:ea typeface="Carlito" pitchFamily="34" charset="-122"/>
                <a:cs typeface="Carlito" pitchFamily="34" charset="-120"/>
              </a:rPr>
              <a:t>· mTLS + OAuth</a:t>
            </a:r>
            <a:endParaRPr lang="en-US" sz="800" dirty="0"/>
          </a:p>
          <a:p>
            <a:pPr marL="0" indent="0" algn="ctr">
              <a:lnSpc>
                <a:spcPts val="856"/>
              </a:lnSpc>
              <a:buNone/>
            </a:pPr>
            <a:r>
              <a:rPr lang="en-US" sz="800" dirty="0">
                <a:solidFill>
                  <a:srgbClr val="FFFFFF">
                    <a:alpha val="85000"/>
                  </a:srgbClr>
                </a:solidFill>
                <a:latin typeface="Carlito" pitchFamily="34" charset="0"/>
                <a:ea typeface="Carlito" pitchFamily="34" charset="-122"/>
                <a:cs typeface="Carlito" pitchFamily="34" charset="-120"/>
              </a:rPr>
              <a:t>· Audit logging</a:t>
            </a:r>
            <a:endParaRPr lang="en-US" sz="800" dirty="0"/>
          </a:p>
        </p:txBody>
      </p:sp>
      <p:sp>
        <p:nvSpPr>
          <p:cNvPr id="41" name="Text 38"/>
          <p:cNvSpPr/>
          <p:nvPr/>
        </p:nvSpPr>
        <p:spPr>
          <a:xfrm>
            <a:off x="460772" y="2783160"/>
            <a:ext cx="8222456" cy="651867"/>
          </a:xfrm>
          <a:prstGeom prst="roundRect">
            <a:avLst>
              <a:gd name="adj" fmla="val 11690"/>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42" name="Text 39"/>
          <p:cNvSpPr/>
          <p:nvPr/>
        </p:nvSpPr>
        <p:spPr>
          <a:xfrm>
            <a:off x="607219" y="2886745"/>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43" name="Text 40"/>
          <p:cNvSpPr/>
          <p:nvPr/>
        </p:nvSpPr>
        <p:spPr>
          <a:xfrm>
            <a:off x="807244" y="2892103"/>
            <a:ext cx="772953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C9A961"/>
                </a:solidFill>
                <a:latin typeface="Carlito" pitchFamily="34" charset="0"/>
                <a:ea typeface="Carlito" pitchFamily="34" charset="-122"/>
                <a:cs typeface="Carlito" pitchFamily="34" charset="-120"/>
              </a:rPr>
              <a:t>APPLICATIONS — THREE LIVE DEPLOYMENTS</a:t>
            </a:r>
            <a:endParaRPr lang="en-US" sz="800" dirty="0"/>
          </a:p>
        </p:txBody>
      </p:sp>
      <p:sp>
        <p:nvSpPr>
          <p:cNvPr id="44" name="Text 41"/>
          <p:cNvSpPr/>
          <p:nvPr/>
        </p:nvSpPr>
        <p:spPr>
          <a:xfrm>
            <a:off x="607219" y="3072482"/>
            <a:ext cx="2557463" cy="258961"/>
          </a:xfrm>
          <a:prstGeom prst="rect">
            <a:avLst/>
          </a:prstGeom>
          <a:noFill/>
          <a:ln/>
        </p:spPr>
        <p:txBody>
          <a:bodyPr wrap="square" lIns="0" tIns="0" rIns="0" bIns="0" rtlCol="0" anchor="t"/>
          <a:lstStyle/>
          <a:p>
            <a:pPr marL="0" indent="0" algn="l">
              <a:lnSpc>
                <a:spcPts val="1020"/>
              </a:lnSpc>
              <a:buNone/>
            </a:pPr>
            <a:r>
              <a:rPr lang="en-US" sz="800" dirty="0">
                <a:solidFill>
                  <a:srgbClr val="0F2A4A"/>
                </a:solidFill>
                <a:latin typeface="Carlito" pitchFamily="34" charset="0"/>
                <a:ea typeface="Carlito" pitchFamily="34" charset="-122"/>
                <a:cs typeface="Carlito" pitchFamily="34" charset="-120"/>
              </a:rPr>
              <a:t>Smart Grid</a:t>
            </a:r>
            <a:r>
              <a:rPr lang="en-US" sz="800" dirty="0">
                <a:solidFill>
                  <a:srgbClr val="4A5568"/>
                </a:solidFill>
                <a:latin typeface="Carlito" pitchFamily="34" charset="0"/>
                <a:ea typeface="Carlito" pitchFamily="34" charset="-122"/>
                <a:cs typeface="Carlito" pitchFamily="34" charset="-120"/>
              </a:rPr>
              <a:t> — AMI meters use 802.1AR identity, DTLS to collector, IDS at substation.</a:t>
            </a:r>
            <a:endParaRPr lang="en-US" sz="800" dirty="0"/>
          </a:p>
        </p:txBody>
      </p:sp>
      <p:sp>
        <p:nvSpPr>
          <p:cNvPr id="45" name="Text 42"/>
          <p:cNvSpPr/>
          <p:nvPr/>
        </p:nvSpPr>
        <p:spPr>
          <a:xfrm>
            <a:off x="3293269" y="3072482"/>
            <a:ext cx="2557463" cy="258961"/>
          </a:xfrm>
          <a:prstGeom prst="rect">
            <a:avLst/>
          </a:prstGeom>
          <a:noFill/>
          <a:ln/>
        </p:spPr>
        <p:txBody>
          <a:bodyPr wrap="square" lIns="0" tIns="0" rIns="0" bIns="0" rtlCol="0" anchor="t"/>
          <a:lstStyle/>
          <a:p>
            <a:pPr marL="0" indent="0" algn="l">
              <a:lnSpc>
                <a:spcPts val="1020"/>
              </a:lnSpc>
              <a:buNone/>
            </a:pPr>
            <a:r>
              <a:rPr lang="en-US" sz="800" dirty="0">
                <a:solidFill>
                  <a:srgbClr val="0F2A4A"/>
                </a:solidFill>
                <a:latin typeface="Carlito" pitchFamily="34" charset="0"/>
                <a:ea typeface="Carlito" pitchFamily="34" charset="-122"/>
                <a:cs typeface="Carlito" pitchFamily="34" charset="-120"/>
              </a:rPr>
              <a:t>Connected Vehicle</a:t>
            </a:r>
            <a:r>
              <a:rPr lang="en-US" sz="800" dirty="0">
                <a:solidFill>
                  <a:srgbClr val="4A5568"/>
                </a:solidFill>
                <a:latin typeface="Carlito" pitchFamily="34" charset="0"/>
                <a:ea typeface="Carlito" pitchFamily="34" charset="-122"/>
                <a:cs typeface="Carlito" pitchFamily="34" charset="-120"/>
              </a:rPr>
              <a:t> — TLS to OEM cloud, IPS in gateway, anomaly ML on CAN bus.</a:t>
            </a:r>
            <a:endParaRPr lang="en-US" sz="800" dirty="0"/>
          </a:p>
        </p:txBody>
      </p:sp>
      <p:sp>
        <p:nvSpPr>
          <p:cNvPr id="46" name="Text 43"/>
          <p:cNvSpPr/>
          <p:nvPr/>
        </p:nvSpPr>
        <p:spPr>
          <a:xfrm>
            <a:off x="5979319" y="3072482"/>
            <a:ext cx="2557463" cy="258961"/>
          </a:xfrm>
          <a:prstGeom prst="rect">
            <a:avLst/>
          </a:prstGeom>
          <a:noFill/>
          <a:ln/>
        </p:spPr>
        <p:txBody>
          <a:bodyPr wrap="square" lIns="0" tIns="0" rIns="0" bIns="0" rtlCol="0" anchor="t"/>
          <a:lstStyle/>
          <a:p>
            <a:pPr marL="0" indent="0" algn="l">
              <a:lnSpc>
                <a:spcPts val="1020"/>
              </a:lnSpc>
              <a:buNone/>
            </a:pPr>
            <a:r>
              <a:rPr lang="en-US" sz="800" dirty="0">
                <a:solidFill>
                  <a:srgbClr val="0F2A4A"/>
                </a:solidFill>
                <a:latin typeface="Carlito" pitchFamily="34" charset="0"/>
                <a:ea typeface="Carlito" pitchFamily="34" charset="-122"/>
                <a:cs typeface="Carlito" pitchFamily="34" charset="-120"/>
              </a:rPr>
              <a:t>Industrial IoT</a:t>
            </a:r>
            <a:r>
              <a:rPr lang="en-US" sz="800" dirty="0">
                <a:solidFill>
                  <a:srgbClr val="4A5568"/>
                </a:solidFill>
                <a:latin typeface="Carlito" pitchFamily="34" charset="0"/>
                <a:ea typeface="Carlito" pitchFamily="34" charset="-122"/>
                <a:cs typeface="Carlito" pitchFamily="34" charset="-120"/>
              </a:rPr>
              <a:t> — IPsec tunnel to SCADA, DMZ IDS, segmented OT/IT networks.</a:t>
            </a:r>
            <a:endParaRPr lang="en-US" sz="800" dirty="0"/>
          </a:p>
        </p:txBody>
      </p:sp>
      <p:sp>
        <p:nvSpPr>
          <p:cNvPr id="47" name="Text 44"/>
          <p:cNvSpPr/>
          <p:nvPr/>
        </p:nvSpPr>
        <p:spPr>
          <a:xfrm>
            <a:off x="457200" y="4897041"/>
            <a:ext cx="3424200"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Liberation Sans Narrow" pitchFamily="34" charset="0"/>
                <a:ea typeface="Liberation Sans Narrow" pitchFamily="34" charset="-122"/>
                <a:cs typeface="Liberation Sans Narrow" pitchFamily="34" charset="-120"/>
              </a:rPr>
              <a:t>IOT-SEC · 2026</a:t>
            </a:r>
            <a:endParaRPr lang="en-US" sz="800" dirty="0"/>
          </a:p>
        </p:txBody>
      </p:sp>
      <p:sp>
        <p:nvSpPr>
          <p:cNvPr id="48" name="Text 45"/>
          <p:cNvSpPr/>
          <p:nvPr/>
        </p:nvSpPr>
        <p:spPr>
          <a:xfrm>
            <a:off x="3895688" y="4897041"/>
            <a:ext cx="4474220"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Carlito" pitchFamily="34" charset="0"/>
                <a:ea typeface="Carlito" pitchFamily="34" charset="-122"/>
                <a:cs typeface="Carlito" pitchFamily="34" charset="-120"/>
              </a:rPr>
              <a:t>NETWORK SECURITY · DEFENSE STACK</a:t>
            </a:r>
            <a:endParaRPr lang="en-US" sz="800" dirty="0"/>
          </a:p>
        </p:txBody>
      </p:sp>
      <p:sp>
        <p:nvSpPr>
          <p:cNvPr id="49" name="Text 46"/>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08 / 21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3412927" y="4500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3412927" y="401836"/>
            <a:ext cx="2318147" cy="139303"/>
          </a:xfrm>
          <a:prstGeom prst="rect">
            <a:avLst/>
          </a:prstGeom>
          <a:noFill/>
          <a:ln/>
        </p:spPr>
        <p:txBody>
          <a:bodyPr wrap="square" lIns="0" tIns="0" rIns="0" bIns="0" rtlCol="0" anchor="ctr"/>
          <a:lstStyle/>
          <a:p>
            <a:pPr marL="0" indent="0" algn="ctr">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04 · GENERIC APPLICATION SECURITY</a:t>
            </a:r>
            <a:endParaRPr lang="en-US" sz="800" dirty="0"/>
          </a:p>
        </p:txBody>
      </p:sp>
      <p:sp>
        <p:nvSpPr>
          <p:cNvPr id="5" name="Text 2"/>
          <p:cNvSpPr/>
          <p:nvPr/>
        </p:nvSpPr>
        <p:spPr>
          <a:xfrm>
            <a:off x="45720" y="600075"/>
            <a:ext cx="8636000" cy="283897"/>
          </a:xfrm>
          <a:prstGeom prst="rect">
            <a:avLst/>
          </a:prstGeom>
          <a:noFill/>
          <a:ln/>
        </p:spPr>
        <p:txBody>
          <a:bodyPr wrap="square" lIns="0" tIns="0" rIns="0" bIns="0" rtlCol="0" anchor="t"/>
          <a:lstStyle/>
          <a:p>
            <a:pPr marL="0" indent="0" algn="ctr">
              <a:lnSpc>
                <a:spcPts val="2070"/>
              </a:lnSpc>
              <a:buNone/>
            </a:pPr>
            <a:r>
              <a:rPr lang="en-US" sz="1800" kern="0" spc="-18" dirty="0">
                <a:solidFill>
                  <a:srgbClr val="0F2A4A"/>
                </a:solidFill>
                <a:latin typeface="Tinos" pitchFamily="34" charset="0"/>
                <a:ea typeface="Tinos" pitchFamily="34" charset="-122"/>
                <a:cs typeface="Tinos" pitchFamily="34" charset="-120"/>
              </a:rPr>
              <a:t>OWASP IoT Top Vulnerabilities &amp; Controls</a:t>
            </a:r>
            <a:endParaRPr lang="en-US" sz="1800" dirty="0"/>
          </a:p>
        </p:txBody>
      </p:sp>
      <p:sp>
        <p:nvSpPr>
          <p:cNvPr id="6" name="Text 3"/>
          <p:cNvSpPr/>
          <p:nvPr/>
        </p:nvSpPr>
        <p:spPr>
          <a:xfrm>
            <a:off x="1714500" y="920093"/>
            <a:ext cx="5715000" cy="329184"/>
          </a:xfrm>
          <a:prstGeom prst="rect">
            <a:avLst/>
          </a:prstGeom>
          <a:noFill/>
          <a:ln/>
        </p:spPr>
        <p:txBody>
          <a:bodyPr wrap="square" lIns="0" tIns="0" rIns="0" bIns="0" rtlCol="0" anchor="t"/>
          <a:lstStyle/>
          <a:p>
            <a:pPr marL="0" indent="0" algn="ctr">
              <a:lnSpc>
                <a:spcPts val="1181"/>
              </a:lnSpc>
              <a:buNone/>
            </a:pPr>
            <a:r>
              <a:rPr lang="en-US" sz="800" dirty="0">
                <a:solidFill>
                  <a:srgbClr val="4A5568"/>
                </a:solidFill>
                <a:latin typeface="Carlito" pitchFamily="34" charset="0"/>
                <a:ea typeface="Carlito" pitchFamily="34" charset="-122"/>
                <a:cs typeface="Carlito" pitchFamily="34" charset="-120"/>
              </a:rPr>
              <a:t>Application-level security is independent of the device underneath. These six controls defend the application logic itself — and map directly onto the OWASP IoT Top 10.</a:t>
            </a:r>
            <a:endParaRPr lang="en-US" sz="800" dirty="0"/>
          </a:p>
        </p:txBody>
      </p:sp>
      <p:sp>
        <p:nvSpPr>
          <p:cNvPr id="7" name="Text 4"/>
          <p:cNvSpPr/>
          <p:nvPr/>
        </p:nvSpPr>
        <p:spPr>
          <a:xfrm>
            <a:off x="457200" y="1377293"/>
            <a:ext cx="2657475" cy="1071563"/>
          </a:xfrm>
          <a:prstGeom prst="roundRect">
            <a:avLst>
              <a:gd name="adj" fmla="val 7111"/>
            </a:avLst>
          </a:prstGeom>
          <a:solidFill>
            <a:srgbClr val="FFFFFF"/>
          </a:solidFill>
          <a:ln/>
        </p:spPr>
        <p:txBody>
          <a:bodyPr wrap="square" rtlCol="0" anchor="ctr"/>
          <a:lstStyle/>
          <a:p>
            <a:pPr marL="0" indent="0">
              <a:buNone/>
            </a:pPr>
            <a:endParaRPr lang="en-US" dirty="0"/>
          </a:p>
        </p:txBody>
      </p:sp>
      <p:sp>
        <p:nvSpPr>
          <p:cNvPr id="8" name="Shape 5"/>
          <p:cNvSpPr/>
          <p:nvPr/>
        </p:nvSpPr>
        <p:spPr>
          <a:xfrm>
            <a:off x="457200" y="1380865"/>
            <a:ext cx="2657475" cy="0"/>
          </a:xfrm>
          <a:prstGeom prst="line">
            <a:avLst/>
          </a:prstGeom>
          <a:noFill/>
          <a:ln w="7144">
            <a:solidFill>
              <a:srgbClr val="D8DEE6"/>
            </a:solidFill>
            <a:prstDash val="solid"/>
          </a:ln>
        </p:spPr>
      </p:sp>
      <p:sp>
        <p:nvSpPr>
          <p:cNvPr id="9" name="Shape 6"/>
          <p:cNvSpPr/>
          <p:nvPr/>
        </p:nvSpPr>
        <p:spPr>
          <a:xfrm>
            <a:off x="3111103" y="1377293"/>
            <a:ext cx="0" cy="1071563"/>
          </a:xfrm>
          <a:prstGeom prst="line">
            <a:avLst/>
          </a:prstGeom>
          <a:noFill/>
          <a:ln w="7144">
            <a:solidFill>
              <a:srgbClr val="D8DEE6"/>
            </a:solidFill>
            <a:prstDash val="solid"/>
          </a:ln>
        </p:spPr>
      </p:sp>
      <p:sp>
        <p:nvSpPr>
          <p:cNvPr id="10" name="Shape 7"/>
          <p:cNvSpPr/>
          <p:nvPr/>
        </p:nvSpPr>
        <p:spPr>
          <a:xfrm>
            <a:off x="457200" y="2445283"/>
            <a:ext cx="2657475" cy="0"/>
          </a:xfrm>
          <a:prstGeom prst="line">
            <a:avLst/>
          </a:prstGeom>
          <a:noFill/>
          <a:ln w="7144">
            <a:solidFill>
              <a:srgbClr val="D8DEE6"/>
            </a:solidFill>
            <a:prstDash val="solid"/>
          </a:ln>
        </p:spPr>
      </p:sp>
      <p:sp>
        <p:nvSpPr>
          <p:cNvPr id="11" name="Shape 8"/>
          <p:cNvSpPr/>
          <p:nvPr/>
        </p:nvSpPr>
        <p:spPr>
          <a:xfrm>
            <a:off x="467916" y="1377293"/>
            <a:ext cx="0" cy="1071563"/>
          </a:xfrm>
          <a:prstGeom prst="line">
            <a:avLst/>
          </a:prstGeom>
          <a:noFill/>
          <a:ln w="21431">
            <a:solidFill>
              <a:srgbClr val="0F2A4A"/>
            </a:solidFill>
            <a:prstDash val="solid"/>
          </a:ln>
        </p:spPr>
      </p:sp>
      <p:sp>
        <p:nvSpPr>
          <p:cNvPr id="12" name="Text 9"/>
          <p:cNvSpPr/>
          <p:nvPr/>
        </p:nvSpPr>
        <p:spPr>
          <a:xfrm>
            <a:off x="621506" y="1498736"/>
            <a:ext cx="2128838" cy="164592"/>
          </a:xfrm>
          <a:prstGeom prst="rect">
            <a:avLst/>
          </a:prstGeom>
          <a:noFill/>
          <a:ln/>
        </p:spPr>
        <p:txBody>
          <a:bodyPr wrap="none" lIns="0" tIns="0" rIns="0" bIns="0" rtlCol="0" anchor="t"/>
          <a:lstStyle/>
          <a:p>
            <a:pPr marL="0" indent="0" algn="l">
              <a:lnSpc>
                <a:spcPts val="1181"/>
              </a:lnSpc>
              <a:buNone/>
            </a:pPr>
            <a:r>
              <a:rPr lang="en-US" sz="800" kern="0" spc="39" dirty="0">
                <a:solidFill>
                  <a:srgbClr val="C9A961"/>
                </a:solidFill>
                <a:latin typeface="Liberation Sans Narrow" pitchFamily="34" charset="0"/>
                <a:ea typeface="Liberation Sans Narrow" pitchFamily="34" charset="-122"/>
                <a:cs typeface="Liberation Sans Narrow" pitchFamily="34" charset="-120"/>
              </a:rPr>
              <a:t>01</a:t>
            </a:r>
            <a:endParaRPr lang="en-US" sz="800" dirty="0"/>
          </a:p>
        </p:txBody>
      </p:sp>
      <p:sp>
        <p:nvSpPr>
          <p:cNvPr id="13" name="Text 10"/>
          <p:cNvSpPr/>
          <p:nvPr/>
        </p:nvSpPr>
        <p:spPr>
          <a:xfrm>
            <a:off x="2764631" y="1498736"/>
            <a:ext cx="200025" cy="200025"/>
          </a:xfrm>
          <a:prstGeom prst="rect">
            <a:avLst/>
          </a:prstGeom>
          <a:noFill/>
          <a:ln/>
        </p:spPr>
        <p:txBody>
          <a:bodyPr wrap="none" lIns="0" tIns="0" rIns="0" bIns="0" rtlCol="0" anchor="ctr"/>
          <a:lstStyle/>
          <a:p>
            <a:pPr marL="0" indent="0" algn="ctr">
              <a:buNone/>
            </a:pPr>
            <a:r>
              <a:rPr lang="en-US" sz="1969" dirty="0">
                <a:solidFill>
                  <a:srgbClr val="0F2A4A"/>
                </a:solidFill>
                <a:latin typeface="Segoe UI Symbol" pitchFamily="34" charset="0"/>
                <a:ea typeface="Segoe UI Symbol" pitchFamily="34" charset="-122"/>
                <a:cs typeface="Segoe UI Symbol" pitchFamily="34" charset="-120"/>
              </a:rPr>
              <a:t>⚿</a:t>
            </a:r>
            <a:endParaRPr lang="en-US" sz="1969" dirty="0"/>
          </a:p>
        </p:txBody>
      </p:sp>
      <p:sp>
        <p:nvSpPr>
          <p:cNvPr id="14" name="Text 11"/>
          <p:cNvSpPr/>
          <p:nvPr/>
        </p:nvSpPr>
        <p:spPr>
          <a:xfrm>
            <a:off x="621506" y="1755911"/>
            <a:ext cx="2343150" cy="173593"/>
          </a:xfrm>
          <a:prstGeom prst="rect">
            <a:avLst/>
          </a:prstGeom>
          <a:noFill/>
          <a:ln/>
        </p:spPr>
        <p:txBody>
          <a:bodyPr wrap="none" lIns="0" tIns="0" rIns="0" bIns="0" rtlCol="0" anchor="t"/>
          <a:lstStyle/>
          <a:p>
            <a:pPr marL="0" indent="0" algn="l">
              <a:lnSpc>
                <a:spcPts val="1266"/>
              </a:lnSpc>
              <a:buNone/>
            </a:pPr>
            <a:r>
              <a:rPr lang="en-US" sz="844" dirty="0">
                <a:solidFill>
                  <a:srgbClr val="0F2A4A"/>
                </a:solidFill>
                <a:latin typeface="Carlito" pitchFamily="34" charset="0"/>
                <a:ea typeface="Carlito" pitchFamily="34" charset="-122"/>
                <a:cs typeface="Carlito" pitchFamily="34" charset="-120"/>
              </a:rPr>
              <a:t>Authentication</a:t>
            </a:r>
            <a:endParaRPr lang="en-US" sz="844" dirty="0"/>
          </a:p>
        </p:txBody>
      </p:sp>
      <p:sp>
        <p:nvSpPr>
          <p:cNvPr id="15" name="Text 12"/>
          <p:cNvSpPr/>
          <p:nvPr/>
        </p:nvSpPr>
        <p:spPr>
          <a:xfrm>
            <a:off x="621506" y="1959508"/>
            <a:ext cx="2343150" cy="318106"/>
          </a:xfrm>
          <a:prstGeom prst="rect">
            <a:avLst/>
          </a:prstGeom>
          <a:noFill/>
          <a:ln/>
        </p:spPr>
        <p:txBody>
          <a:bodyPr wrap="square" lIns="0" tIns="0" rIns="0" bIns="0" rtlCol="0" anchor="t"/>
          <a:lstStyle/>
          <a:p>
            <a:pPr marL="0" indent="0" algn="l">
              <a:lnSpc>
                <a:spcPts val="1060"/>
              </a:lnSpc>
              <a:buNone/>
            </a:pPr>
            <a:r>
              <a:rPr lang="en-US" sz="800" dirty="0">
                <a:solidFill>
                  <a:srgbClr val="4A5568"/>
                </a:solidFill>
                <a:latin typeface="Carlito" pitchFamily="34" charset="0"/>
                <a:ea typeface="Carlito" pitchFamily="34" charset="-122"/>
                <a:cs typeface="Carlito" pitchFamily="34" charset="-120"/>
              </a:rPr>
              <a:t>Mutual certificate-based auth; no hardcoded passwords; MFA for admin portals.</a:t>
            </a:r>
            <a:endParaRPr lang="en-US" sz="800" dirty="0"/>
          </a:p>
        </p:txBody>
      </p:sp>
      <p:sp>
        <p:nvSpPr>
          <p:cNvPr id="16" name="Text 13"/>
          <p:cNvSpPr/>
          <p:nvPr/>
        </p:nvSpPr>
        <p:spPr>
          <a:xfrm>
            <a:off x="3243263" y="1377293"/>
            <a:ext cx="2657475" cy="1071563"/>
          </a:xfrm>
          <a:prstGeom prst="roundRect">
            <a:avLst>
              <a:gd name="adj" fmla="val 7111"/>
            </a:avLst>
          </a:prstGeom>
          <a:solidFill>
            <a:srgbClr val="FFFFFF"/>
          </a:solidFill>
          <a:ln/>
        </p:spPr>
        <p:txBody>
          <a:bodyPr wrap="square" rtlCol="0" anchor="ctr"/>
          <a:lstStyle/>
          <a:p>
            <a:pPr marL="0" indent="0">
              <a:buNone/>
            </a:pPr>
            <a:endParaRPr lang="en-US" dirty="0"/>
          </a:p>
        </p:txBody>
      </p:sp>
      <p:sp>
        <p:nvSpPr>
          <p:cNvPr id="17" name="Shape 14"/>
          <p:cNvSpPr/>
          <p:nvPr/>
        </p:nvSpPr>
        <p:spPr>
          <a:xfrm>
            <a:off x="3243263" y="1380865"/>
            <a:ext cx="2657475" cy="0"/>
          </a:xfrm>
          <a:prstGeom prst="line">
            <a:avLst/>
          </a:prstGeom>
          <a:noFill/>
          <a:ln w="7144">
            <a:solidFill>
              <a:srgbClr val="D8DEE6"/>
            </a:solidFill>
            <a:prstDash val="solid"/>
          </a:ln>
        </p:spPr>
      </p:sp>
      <p:sp>
        <p:nvSpPr>
          <p:cNvPr id="18" name="Shape 15"/>
          <p:cNvSpPr/>
          <p:nvPr/>
        </p:nvSpPr>
        <p:spPr>
          <a:xfrm>
            <a:off x="5897166" y="1377293"/>
            <a:ext cx="0" cy="1071563"/>
          </a:xfrm>
          <a:prstGeom prst="line">
            <a:avLst/>
          </a:prstGeom>
          <a:noFill/>
          <a:ln w="7144">
            <a:solidFill>
              <a:srgbClr val="D8DEE6"/>
            </a:solidFill>
            <a:prstDash val="solid"/>
          </a:ln>
        </p:spPr>
      </p:sp>
      <p:sp>
        <p:nvSpPr>
          <p:cNvPr id="19" name="Shape 16"/>
          <p:cNvSpPr/>
          <p:nvPr/>
        </p:nvSpPr>
        <p:spPr>
          <a:xfrm>
            <a:off x="3243263" y="2445283"/>
            <a:ext cx="2657475" cy="0"/>
          </a:xfrm>
          <a:prstGeom prst="line">
            <a:avLst/>
          </a:prstGeom>
          <a:noFill/>
          <a:ln w="7144">
            <a:solidFill>
              <a:srgbClr val="D8DEE6"/>
            </a:solidFill>
            <a:prstDash val="solid"/>
          </a:ln>
        </p:spPr>
      </p:sp>
      <p:sp>
        <p:nvSpPr>
          <p:cNvPr id="20" name="Shape 17"/>
          <p:cNvSpPr/>
          <p:nvPr/>
        </p:nvSpPr>
        <p:spPr>
          <a:xfrm>
            <a:off x="3253978" y="1377293"/>
            <a:ext cx="0" cy="1071563"/>
          </a:xfrm>
          <a:prstGeom prst="line">
            <a:avLst/>
          </a:prstGeom>
          <a:noFill/>
          <a:ln w="21431">
            <a:solidFill>
              <a:srgbClr val="0F2A4A"/>
            </a:solidFill>
            <a:prstDash val="solid"/>
          </a:ln>
        </p:spPr>
      </p:sp>
      <p:sp>
        <p:nvSpPr>
          <p:cNvPr id="21" name="Text 18"/>
          <p:cNvSpPr/>
          <p:nvPr/>
        </p:nvSpPr>
        <p:spPr>
          <a:xfrm>
            <a:off x="3407569" y="1498736"/>
            <a:ext cx="2128838" cy="164592"/>
          </a:xfrm>
          <a:prstGeom prst="rect">
            <a:avLst/>
          </a:prstGeom>
          <a:noFill/>
          <a:ln/>
        </p:spPr>
        <p:txBody>
          <a:bodyPr wrap="none" lIns="0" tIns="0" rIns="0" bIns="0" rtlCol="0" anchor="t"/>
          <a:lstStyle/>
          <a:p>
            <a:pPr marL="0" indent="0" algn="l">
              <a:lnSpc>
                <a:spcPts val="1181"/>
              </a:lnSpc>
              <a:buNone/>
            </a:pPr>
            <a:r>
              <a:rPr lang="en-US" sz="800" kern="0" spc="39" dirty="0">
                <a:solidFill>
                  <a:srgbClr val="C9A961"/>
                </a:solidFill>
                <a:latin typeface="Liberation Sans Narrow" pitchFamily="34" charset="0"/>
                <a:ea typeface="Liberation Sans Narrow" pitchFamily="34" charset="-122"/>
                <a:cs typeface="Liberation Sans Narrow" pitchFamily="34" charset="-120"/>
              </a:rPr>
              <a:t>02</a:t>
            </a:r>
            <a:endParaRPr lang="en-US" sz="800" dirty="0"/>
          </a:p>
        </p:txBody>
      </p:sp>
      <p:sp>
        <p:nvSpPr>
          <p:cNvPr id="22" name="Text 19"/>
          <p:cNvSpPr/>
          <p:nvPr/>
        </p:nvSpPr>
        <p:spPr>
          <a:xfrm>
            <a:off x="5550694" y="1498736"/>
            <a:ext cx="200025" cy="200025"/>
          </a:xfrm>
          <a:prstGeom prst="rect">
            <a:avLst/>
          </a:prstGeom>
          <a:noFill/>
          <a:ln/>
        </p:spPr>
        <p:txBody>
          <a:bodyPr wrap="none" lIns="0" tIns="0" rIns="0" bIns="0" rtlCol="0" anchor="ctr"/>
          <a:lstStyle/>
          <a:p>
            <a:pPr marL="0" indent="0" algn="ctr">
              <a:buNone/>
            </a:pPr>
            <a:r>
              <a:rPr lang="en-US" sz="1969" dirty="0">
                <a:solidFill>
                  <a:srgbClr val="0F2A4A"/>
                </a:solidFill>
                <a:latin typeface="Segoe UI Symbol" pitchFamily="34" charset="0"/>
                <a:ea typeface="Segoe UI Symbol" pitchFamily="34" charset="-122"/>
                <a:cs typeface="Segoe UI Symbol" pitchFamily="34" charset="-120"/>
              </a:rPr>
              <a:t>⛨</a:t>
            </a:r>
            <a:endParaRPr lang="en-US" sz="1969" dirty="0"/>
          </a:p>
        </p:txBody>
      </p:sp>
      <p:sp>
        <p:nvSpPr>
          <p:cNvPr id="23" name="Text 20"/>
          <p:cNvSpPr/>
          <p:nvPr/>
        </p:nvSpPr>
        <p:spPr>
          <a:xfrm>
            <a:off x="3407569" y="1755911"/>
            <a:ext cx="2343150" cy="173593"/>
          </a:xfrm>
          <a:prstGeom prst="rect">
            <a:avLst/>
          </a:prstGeom>
          <a:noFill/>
          <a:ln/>
        </p:spPr>
        <p:txBody>
          <a:bodyPr wrap="none" lIns="0" tIns="0" rIns="0" bIns="0" rtlCol="0" anchor="t"/>
          <a:lstStyle/>
          <a:p>
            <a:pPr marL="0" indent="0" algn="l">
              <a:lnSpc>
                <a:spcPts val="1266"/>
              </a:lnSpc>
              <a:buNone/>
            </a:pPr>
            <a:r>
              <a:rPr lang="en-US" sz="844" dirty="0">
                <a:solidFill>
                  <a:srgbClr val="0F2A4A"/>
                </a:solidFill>
                <a:latin typeface="Carlito" pitchFamily="34" charset="0"/>
                <a:ea typeface="Carlito" pitchFamily="34" charset="-122"/>
                <a:cs typeface="Carlito" pitchFamily="34" charset="-120"/>
              </a:rPr>
              <a:t>Authorization</a:t>
            </a:r>
            <a:endParaRPr lang="en-US" sz="844" dirty="0"/>
          </a:p>
        </p:txBody>
      </p:sp>
      <p:sp>
        <p:nvSpPr>
          <p:cNvPr id="24" name="Text 21"/>
          <p:cNvSpPr/>
          <p:nvPr/>
        </p:nvSpPr>
        <p:spPr>
          <a:xfrm>
            <a:off x="3407569" y="1959508"/>
            <a:ext cx="2343150" cy="318106"/>
          </a:xfrm>
          <a:prstGeom prst="rect">
            <a:avLst/>
          </a:prstGeom>
          <a:noFill/>
          <a:ln/>
        </p:spPr>
        <p:txBody>
          <a:bodyPr wrap="square" lIns="0" tIns="0" rIns="0" bIns="0" rtlCol="0" anchor="t"/>
          <a:lstStyle/>
          <a:p>
            <a:pPr marL="0" indent="0" algn="l">
              <a:lnSpc>
                <a:spcPts val="1060"/>
              </a:lnSpc>
              <a:buNone/>
            </a:pPr>
            <a:r>
              <a:rPr lang="en-US" sz="800" dirty="0">
                <a:solidFill>
                  <a:srgbClr val="4A5568"/>
                </a:solidFill>
                <a:latin typeface="Carlito" pitchFamily="34" charset="0"/>
                <a:ea typeface="Carlito" pitchFamily="34" charset="-122"/>
                <a:cs typeface="Carlito" pitchFamily="34" charset="-120"/>
              </a:rPr>
              <a:t>Per-device RBAC; least-privilege scopes; refresh-token rotation.</a:t>
            </a:r>
            <a:endParaRPr lang="en-US" sz="800" dirty="0"/>
          </a:p>
        </p:txBody>
      </p:sp>
      <p:sp>
        <p:nvSpPr>
          <p:cNvPr id="25" name="Text 22"/>
          <p:cNvSpPr/>
          <p:nvPr/>
        </p:nvSpPr>
        <p:spPr>
          <a:xfrm>
            <a:off x="6029325" y="1377293"/>
            <a:ext cx="2657475" cy="1071563"/>
          </a:xfrm>
          <a:prstGeom prst="roundRect">
            <a:avLst>
              <a:gd name="adj" fmla="val 7111"/>
            </a:avLst>
          </a:prstGeom>
          <a:solidFill>
            <a:srgbClr val="FFFFFF"/>
          </a:solidFill>
          <a:ln/>
        </p:spPr>
        <p:txBody>
          <a:bodyPr wrap="square" rtlCol="0" anchor="ctr"/>
          <a:lstStyle/>
          <a:p>
            <a:pPr marL="0" indent="0">
              <a:buNone/>
            </a:pPr>
            <a:endParaRPr lang="en-US" dirty="0"/>
          </a:p>
        </p:txBody>
      </p:sp>
      <p:sp>
        <p:nvSpPr>
          <p:cNvPr id="26" name="Shape 23"/>
          <p:cNvSpPr/>
          <p:nvPr/>
        </p:nvSpPr>
        <p:spPr>
          <a:xfrm>
            <a:off x="6029325" y="1380865"/>
            <a:ext cx="2657475" cy="0"/>
          </a:xfrm>
          <a:prstGeom prst="line">
            <a:avLst/>
          </a:prstGeom>
          <a:noFill/>
          <a:ln w="7144">
            <a:solidFill>
              <a:srgbClr val="D8DEE6"/>
            </a:solidFill>
            <a:prstDash val="solid"/>
          </a:ln>
        </p:spPr>
      </p:sp>
      <p:sp>
        <p:nvSpPr>
          <p:cNvPr id="27" name="Shape 24"/>
          <p:cNvSpPr/>
          <p:nvPr/>
        </p:nvSpPr>
        <p:spPr>
          <a:xfrm>
            <a:off x="8683228" y="1377293"/>
            <a:ext cx="0" cy="1071563"/>
          </a:xfrm>
          <a:prstGeom prst="line">
            <a:avLst/>
          </a:prstGeom>
          <a:noFill/>
          <a:ln w="7144">
            <a:solidFill>
              <a:srgbClr val="D8DEE6"/>
            </a:solidFill>
            <a:prstDash val="solid"/>
          </a:ln>
        </p:spPr>
      </p:sp>
      <p:sp>
        <p:nvSpPr>
          <p:cNvPr id="28" name="Shape 25"/>
          <p:cNvSpPr/>
          <p:nvPr/>
        </p:nvSpPr>
        <p:spPr>
          <a:xfrm>
            <a:off x="6029325" y="2445283"/>
            <a:ext cx="2657475" cy="0"/>
          </a:xfrm>
          <a:prstGeom prst="line">
            <a:avLst/>
          </a:prstGeom>
          <a:noFill/>
          <a:ln w="7144">
            <a:solidFill>
              <a:srgbClr val="D8DEE6"/>
            </a:solidFill>
            <a:prstDash val="solid"/>
          </a:ln>
        </p:spPr>
      </p:sp>
      <p:sp>
        <p:nvSpPr>
          <p:cNvPr id="29" name="Shape 26"/>
          <p:cNvSpPr/>
          <p:nvPr/>
        </p:nvSpPr>
        <p:spPr>
          <a:xfrm>
            <a:off x="6040041" y="1377293"/>
            <a:ext cx="0" cy="1071563"/>
          </a:xfrm>
          <a:prstGeom prst="line">
            <a:avLst/>
          </a:prstGeom>
          <a:noFill/>
          <a:ln w="21431">
            <a:solidFill>
              <a:srgbClr val="0F2A4A"/>
            </a:solidFill>
            <a:prstDash val="solid"/>
          </a:ln>
        </p:spPr>
      </p:sp>
      <p:sp>
        <p:nvSpPr>
          <p:cNvPr id="30" name="Text 27"/>
          <p:cNvSpPr/>
          <p:nvPr/>
        </p:nvSpPr>
        <p:spPr>
          <a:xfrm>
            <a:off x="6193631" y="1498736"/>
            <a:ext cx="2128838" cy="164592"/>
          </a:xfrm>
          <a:prstGeom prst="rect">
            <a:avLst/>
          </a:prstGeom>
          <a:noFill/>
          <a:ln/>
        </p:spPr>
        <p:txBody>
          <a:bodyPr wrap="none" lIns="0" tIns="0" rIns="0" bIns="0" rtlCol="0" anchor="t"/>
          <a:lstStyle/>
          <a:p>
            <a:pPr marL="0" indent="0" algn="l">
              <a:lnSpc>
                <a:spcPts val="1181"/>
              </a:lnSpc>
              <a:buNone/>
            </a:pPr>
            <a:r>
              <a:rPr lang="en-US" sz="800" kern="0" spc="39" dirty="0">
                <a:solidFill>
                  <a:srgbClr val="C9A961"/>
                </a:solidFill>
                <a:latin typeface="Liberation Sans Narrow" pitchFamily="34" charset="0"/>
                <a:ea typeface="Liberation Sans Narrow" pitchFamily="34" charset="-122"/>
                <a:cs typeface="Liberation Sans Narrow" pitchFamily="34" charset="-120"/>
              </a:rPr>
              <a:t>03</a:t>
            </a:r>
            <a:endParaRPr lang="en-US" sz="800" dirty="0"/>
          </a:p>
        </p:txBody>
      </p:sp>
      <p:sp>
        <p:nvSpPr>
          <p:cNvPr id="31" name="Text 28"/>
          <p:cNvSpPr/>
          <p:nvPr/>
        </p:nvSpPr>
        <p:spPr>
          <a:xfrm>
            <a:off x="8336756" y="1498736"/>
            <a:ext cx="200025" cy="200025"/>
          </a:xfrm>
          <a:prstGeom prst="rect">
            <a:avLst/>
          </a:prstGeom>
          <a:noFill/>
          <a:ln/>
        </p:spPr>
        <p:txBody>
          <a:bodyPr wrap="none" lIns="0" tIns="0" rIns="0" bIns="0" rtlCol="0" anchor="ctr"/>
          <a:lstStyle/>
          <a:p>
            <a:pPr marL="0" indent="0" algn="ctr">
              <a:buNone/>
            </a:pPr>
            <a:r>
              <a:rPr lang="en-US" sz="1969" dirty="0">
                <a:solidFill>
                  <a:srgbClr val="0F2A4A"/>
                </a:solidFill>
                <a:latin typeface="Segoe UI Symbol" pitchFamily="34" charset="0"/>
                <a:ea typeface="Segoe UI Symbol" pitchFamily="34" charset="-122"/>
                <a:cs typeface="Segoe UI Symbol" pitchFamily="34" charset="-120"/>
              </a:rPr>
              <a:t>✓</a:t>
            </a:r>
            <a:endParaRPr lang="en-US" sz="1969" dirty="0"/>
          </a:p>
        </p:txBody>
      </p:sp>
      <p:sp>
        <p:nvSpPr>
          <p:cNvPr id="32" name="Text 29"/>
          <p:cNvSpPr/>
          <p:nvPr/>
        </p:nvSpPr>
        <p:spPr>
          <a:xfrm>
            <a:off x="6193631" y="1755911"/>
            <a:ext cx="2343150" cy="173593"/>
          </a:xfrm>
          <a:prstGeom prst="rect">
            <a:avLst/>
          </a:prstGeom>
          <a:noFill/>
          <a:ln/>
        </p:spPr>
        <p:txBody>
          <a:bodyPr wrap="none" lIns="0" tIns="0" rIns="0" bIns="0" rtlCol="0" anchor="t"/>
          <a:lstStyle/>
          <a:p>
            <a:pPr marL="0" indent="0" algn="l">
              <a:lnSpc>
                <a:spcPts val="1266"/>
              </a:lnSpc>
              <a:buNone/>
            </a:pPr>
            <a:r>
              <a:rPr lang="en-US" sz="844" dirty="0">
                <a:solidFill>
                  <a:srgbClr val="0F2A4A"/>
                </a:solidFill>
                <a:latin typeface="Carlito" pitchFamily="34" charset="0"/>
                <a:ea typeface="Carlito" pitchFamily="34" charset="-122"/>
                <a:cs typeface="Carlito" pitchFamily="34" charset="-120"/>
              </a:rPr>
              <a:t>Input Validation</a:t>
            </a:r>
            <a:endParaRPr lang="en-US" sz="844" dirty="0"/>
          </a:p>
        </p:txBody>
      </p:sp>
      <p:sp>
        <p:nvSpPr>
          <p:cNvPr id="33" name="Text 30"/>
          <p:cNvSpPr/>
          <p:nvPr/>
        </p:nvSpPr>
        <p:spPr>
          <a:xfrm>
            <a:off x="6193631" y="1959508"/>
            <a:ext cx="2343150" cy="318106"/>
          </a:xfrm>
          <a:prstGeom prst="rect">
            <a:avLst/>
          </a:prstGeom>
          <a:noFill/>
          <a:ln/>
        </p:spPr>
        <p:txBody>
          <a:bodyPr wrap="square" lIns="0" tIns="0" rIns="0" bIns="0" rtlCol="0" anchor="t"/>
          <a:lstStyle/>
          <a:p>
            <a:pPr marL="0" indent="0" algn="l">
              <a:lnSpc>
                <a:spcPts val="1060"/>
              </a:lnSpc>
              <a:buNone/>
            </a:pPr>
            <a:r>
              <a:rPr lang="en-US" sz="800" dirty="0">
                <a:solidFill>
                  <a:srgbClr val="4A5568"/>
                </a:solidFill>
                <a:latin typeface="Carlito" pitchFamily="34" charset="0"/>
                <a:ea typeface="Carlito" pitchFamily="34" charset="-122"/>
                <a:cs typeface="Carlito" pitchFamily="34" charset="-120"/>
              </a:rPr>
              <a:t>Schema-validated payloads; canonical parsing; reject unbounded JSON.</a:t>
            </a:r>
            <a:endParaRPr lang="en-US" sz="800" dirty="0"/>
          </a:p>
        </p:txBody>
      </p:sp>
      <p:sp>
        <p:nvSpPr>
          <p:cNvPr id="34" name="Text 31"/>
          <p:cNvSpPr/>
          <p:nvPr/>
        </p:nvSpPr>
        <p:spPr>
          <a:xfrm>
            <a:off x="457200" y="2577443"/>
            <a:ext cx="2657475" cy="1071563"/>
          </a:xfrm>
          <a:prstGeom prst="roundRect">
            <a:avLst>
              <a:gd name="adj" fmla="val 7111"/>
            </a:avLst>
          </a:prstGeom>
          <a:solidFill>
            <a:srgbClr val="FFFFFF"/>
          </a:solidFill>
          <a:ln/>
        </p:spPr>
        <p:txBody>
          <a:bodyPr wrap="square" rtlCol="0" anchor="ctr"/>
          <a:lstStyle/>
          <a:p>
            <a:pPr marL="0" indent="0">
              <a:buNone/>
            </a:pPr>
            <a:endParaRPr lang="en-US" dirty="0"/>
          </a:p>
        </p:txBody>
      </p:sp>
      <p:sp>
        <p:nvSpPr>
          <p:cNvPr id="35" name="Shape 32"/>
          <p:cNvSpPr/>
          <p:nvPr/>
        </p:nvSpPr>
        <p:spPr>
          <a:xfrm>
            <a:off x="457200" y="2581015"/>
            <a:ext cx="2657475" cy="0"/>
          </a:xfrm>
          <a:prstGeom prst="line">
            <a:avLst/>
          </a:prstGeom>
          <a:noFill/>
          <a:ln w="7144">
            <a:solidFill>
              <a:srgbClr val="D8DEE6"/>
            </a:solidFill>
            <a:prstDash val="solid"/>
          </a:ln>
        </p:spPr>
      </p:sp>
      <p:sp>
        <p:nvSpPr>
          <p:cNvPr id="36" name="Shape 33"/>
          <p:cNvSpPr/>
          <p:nvPr/>
        </p:nvSpPr>
        <p:spPr>
          <a:xfrm>
            <a:off x="3111103" y="2577443"/>
            <a:ext cx="0" cy="1071563"/>
          </a:xfrm>
          <a:prstGeom prst="line">
            <a:avLst/>
          </a:prstGeom>
          <a:noFill/>
          <a:ln w="7144">
            <a:solidFill>
              <a:srgbClr val="D8DEE6"/>
            </a:solidFill>
            <a:prstDash val="solid"/>
          </a:ln>
        </p:spPr>
      </p:sp>
      <p:sp>
        <p:nvSpPr>
          <p:cNvPr id="37" name="Shape 34"/>
          <p:cNvSpPr/>
          <p:nvPr/>
        </p:nvSpPr>
        <p:spPr>
          <a:xfrm>
            <a:off x="457200" y="3645433"/>
            <a:ext cx="2657475" cy="0"/>
          </a:xfrm>
          <a:prstGeom prst="line">
            <a:avLst/>
          </a:prstGeom>
          <a:noFill/>
          <a:ln w="7144">
            <a:solidFill>
              <a:srgbClr val="D8DEE6"/>
            </a:solidFill>
            <a:prstDash val="solid"/>
          </a:ln>
        </p:spPr>
      </p:sp>
      <p:sp>
        <p:nvSpPr>
          <p:cNvPr id="38" name="Shape 35"/>
          <p:cNvSpPr/>
          <p:nvPr/>
        </p:nvSpPr>
        <p:spPr>
          <a:xfrm>
            <a:off x="467916" y="2577443"/>
            <a:ext cx="0" cy="1071563"/>
          </a:xfrm>
          <a:prstGeom prst="line">
            <a:avLst/>
          </a:prstGeom>
          <a:noFill/>
          <a:ln w="21431">
            <a:solidFill>
              <a:srgbClr val="0F2A4A"/>
            </a:solidFill>
            <a:prstDash val="solid"/>
          </a:ln>
        </p:spPr>
      </p:sp>
      <p:sp>
        <p:nvSpPr>
          <p:cNvPr id="39" name="Text 36"/>
          <p:cNvSpPr/>
          <p:nvPr/>
        </p:nvSpPr>
        <p:spPr>
          <a:xfrm>
            <a:off x="621506" y="2698886"/>
            <a:ext cx="2128838" cy="164592"/>
          </a:xfrm>
          <a:prstGeom prst="rect">
            <a:avLst/>
          </a:prstGeom>
          <a:noFill/>
          <a:ln/>
        </p:spPr>
        <p:txBody>
          <a:bodyPr wrap="none" lIns="0" tIns="0" rIns="0" bIns="0" rtlCol="0" anchor="t"/>
          <a:lstStyle/>
          <a:p>
            <a:pPr marL="0" indent="0" algn="l">
              <a:lnSpc>
                <a:spcPts val="1181"/>
              </a:lnSpc>
              <a:buNone/>
            </a:pPr>
            <a:r>
              <a:rPr lang="en-US" sz="800" kern="0" spc="39" dirty="0">
                <a:solidFill>
                  <a:srgbClr val="C9A961"/>
                </a:solidFill>
                <a:latin typeface="Liberation Sans Narrow" pitchFamily="34" charset="0"/>
                <a:ea typeface="Liberation Sans Narrow" pitchFamily="34" charset="-122"/>
                <a:cs typeface="Liberation Sans Narrow" pitchFamily="34" charset="-120"/>
              </a:rPr>
              <a:t>04</a:t>
            </a:r>
            <a:endParaRPr lang="en-US" sz="800" dirty="0"/>
          </a:p>
        </p:txBody>
      </p:sp>
      <p:sp>
        <p:nvSpPr>
          <p:cNvPr id="40" name="Text 37"/>
          <p:cNvSpPr/>
          <p:nvPr/>
        </p:nvSpPr>
        <p:spPr>
          <a:xfrm>
            <a:off x="2764631" y="2698886"/>
            <a:ext cx="200025" cy="200025"/>
          </a:xfrm>
          <a:prstGeom prst="rect">
            <a:avLst/>
          </a:prstGeom>
          <a:noFill/>
          <a:ln/>
        </p:spPr>
        <p:txBody>
          <a:bodyPr wrap="none" lIns="0" tIns="0" rIns="0" bIns="0" rtlCol="0" anchor="ctr"/>
          <a:lstStyle/>
          <a:p>
            <a:pPr marL="0" indent="0" algn="ctr">
              <a:buNone/>
            </a:pPr>
            <a:r>
              <a:rPr lang="en-US" sz="1969" dirty="0">
                <a:solidFill>
                  <a:srgbClr val="0F2A4A"/>
                </a:solidFill>
                <a:latin typeface="Segoe UI Symbol" pitchFamily="34" charset="0"/>
                <a:ea typeface="Segoe UI Symbol" pitchFamily="34" charset="-122"/>
                <a:cs typeface="Segoe UI Symbol" pitchFamily="34" charset="-120"/>
              </a:rPr>
              <a:t>⚿</a:t>
            </a:r>
            <a:endParaRPr lang="en-US" sz="1969" dirty="0"/>
          </a:p>
        </p:txBody>
      </p:sp>
      <p:sp>
        <p:nvSpPr>
          <p:cNvPr id="41" name="Text 38"/>
          <p:cNvSpPr/>
          <p:nvPr/>
        </p:nvSpPr>
        <p:spPr>
          <a:xfrm>
            <a:off x="621506" y="2956061"/>
            <a:ext cx="2343150" cy="173593"/>
          </a:xfrm>
          <a:prstGeom prst="rect">
            <a:avLst/>
          </a:prstGeom>
          <a:noFill/>
          <a:ln/>
        </p:spPr>
        <p:txBody>
          <a:bodyPr wrap="none" lIns="0" tIns="0" rIns="0" bIns="0" rtlCol="0" anchor="t"/>
          <a:lstStyle/>
          <a:p>
            <a:pPr marL="0" indent="0" algn="l">
              <a:lnSpc>
                <a:spcPts val="1266"/>
              </a:lnSpc>
              <a:buNone/>
            </a:pPr>
            <a:r>
              <a:rPr lang="en-US" sz="844" dirty="0">
                <a:solidFill>
                  <a:srgbClr val="0F2A4A"/>
                </a:solidFill>
                <a:latin typeface="Carlito" pitchFamily="34" charset="0"/>
                <a:ea typeface="Carlito" pitchFamily="34" charset="-122"/>
                <a:cs typeface="Carlito" pitchFamily="34" charset="-120"/>
              </a:rPr>
              <a:t>Cryptography</a:t>
            </a:r>
            <a:endParaRPr lang="en-US" sz="844" dirty="0"/>
          </a:p>
        </p:txBody>
      </p:sp>
      <p:sp>
        <p:nvSpPr>
          <p:cNvPr id="42" name="Text 39"/>
          <p:cNvSpPr/>
          <p:nvPr/>
        </p:nvSpPr>
        <p:spPr>
          <a:xfrm>
            <a:off x="621506" y="3159658"/>
            <a:ext cx="2343150" cy="318106"/>
          </a:xfrm>
          <a:prstGeom prst="rect">
            <a:avLst/>
          </a:prstGeom>
          <a:noFill/>
          <a:ln/>
        </p:spPr>
        <p:txBody>
          <a:bodyPr wrap="square" lIns="0" tIns="0" rIns="0" bIns="0" rtlCol="0" anchor="t"/>
          <a:lstStyle/>
          <a:p>
            <a:pPr marL="0" indent="0" algn="l">
              <a:lnSpc>
                <a:spcPts val="1060"/>
              </a:lnSpc>
              <a:buNone/>
            </a:pPr>
            <a:r>
              <a:rPr lang="en-US" sz="800" dirty="0">
                <a:solidFill>
                  <a:srgbClr val="4A5568"/>
                </a:solidFill>
                <a:latin typeface="Carlito" pitchFamily="34" charset="0"/>
                <a:ea typeface="Carlito" pitchFamily="34" charset="-122"/>
                <a:cs typeface="Carlito" pitchFamily="34" charset="-120"/>
              </a:rPr>
              <a:t>AES-256-GCM at rest; TLS 1.3 in transit; HKDF for key derivation.</a:t>
            </a:r>
            <a:endParaRPr lang="en-US" sz="800" dirty="0"/>
          </a:p>
        </p:txBody>
      </p:sp>
      <p:sp>
        <p:nvSpPr>
          <p:cNvPr id="43" name="Text 40"/>
          <p:cNvSpPr/>
          <p:nvPr/>
        </p:nvSpPr>
        <p:spPr>
          <a:xfrm>
            <a:off x="3243263" y="2577443"/>
            <a:ext cx="2657475" cy="1071563"/>
          </a:xfrm>
          <a:prstGeom prst="roundRect">
            <a:avLst>
              <a:gd name="adj" fmla="val 7111"/>
            </a:avLst>
          </a:prstGeom>
          <a:solidFill>
            <a:srgbClr val="FFFFFF"/>
          </a:solidFill>
          <a:ln/>
        </p:spPr>
        <p:txBody>
          <a:bodyPr wrap="square" rtlCol="0" anchor="ctr"/>
          <a:lstStyle/>
          <a:p>
            <a:pPr marL="0" indent="0">
              <a:buNone/>
            </a:pPr>
            <a:endParaRPr lang="en-US" dirty="0"/>
          </a:p>
        </p:txBody>
      </p:sp>
      <p:sp>
        <p:nvSpPr>
          <p:cNvPr id="44" name="Shape 41"/>
          <p:cNvSpPr/>
          <p:nvPr/>
        </p:nvSpPr>
        <p:spPr>
          <a:xfrm>
            <a:off x="3243263" y="2581015"/>
            <a:ext cx="2657475" cy="0"/>
          </a:xfrm>
          <a:prstGeom prst="line">
            <a:avLst/>
          </a:prstGeom>
          <a:noFill/>
          <a:ln w="7144">
            <a:solidFill>
              <a:srgbClr val="D8DEE6"/>
            </a:solidFill>
            <a:prstDash val="solid"/>
          </a:ln>
        </p:spPr>
      </p:sp>
      <p:sp>
        <p:nvSpPr>
          <p:cNvPr id="45" name="Shape 42"/>
          <p:cNvSpPr/>
          <p:nvPr/>
        </p:nvSpPr>
        <p:spPr>
          <a:xfrm>
            <a:off x="5897166" y="2577443"/>
            <a:ext cx="0" cy="1071563"/>
          </a:xfrm>
          <a:prstGeom prst="line">
            <a:avLst/>
          </a:prstGeom>
          <a:noFill/>
          <a:ln w="7144">
            <a:solidFill>
              <a:srgbClr val="D8DEE6"/>
            </a:solidFill>
            <a:prstDash val="solid"/>
          </a:ln>
        </p:spPr>
      </p:sp>
      <p:sp>
        <p:nvSpPr>
          <p:cNvPr id="46" name="Shape 43"/>
          <p:cNvSpPr/>
          <p:nvPr/>
        </p:nvSpPr>
        <p:spPr>
          <a:xfrm>
            <a:off x="3243263" y="3645433"/>
            <a:ext cx="2657475" cy="0"/>
          </a:xfrm>
          <a:prstGeom prst="line">
            <a:avLst/>
          </a:prstGeom>
          <a:noFill/>
          <a:ln w="7144">
            <a:solidFill>
              <a:srgbClr val="D8DEE6"/>
            </a:solidFill>
            <a:prstDash val="solid"/>
          </a:ln>
        </p:spPr>
      </p:sp>
      <p:sp>
        <p:nvSpPr>
          <p:cNvPr id="47" name="Shape 44"/>
          <p:cNvSpPr/>
          <p:nvPr/>
        </p:nvSpPr>
        <p:spPr>
          <a:xfrm>
            <a:off x="3253978" y="2577443"/>
            <a:ext cx="0" cy="1071563"/>
          </a:xfrm>
          <a:prstGeom prst="line">
            <a:avLst/>
          </a:prstGeom>
          <a:noFill/>
          <a:ln w="21431">
            <a:solidFill>
              <a:srgbClr val="0F2A4A"/>
            </a:solidFill>
            <a:prstDash val="solid"/>
          </a:ln>
        </p:spPr>
      </p:sp>
      <p:sp>
        <p:nvSpPr>
          <p:cNvPr id="48" name="Text 45"/>
          <p:cNvSpPr/>
          <p:nvPr/>
        </p:nvSpPr>
        <p:spPr>
          <a:xfrm>
            <a:off x="3407569" y="2698886"/>
            <a:ext cx="2128838" cy="164592"/>
          </a:xfrm>
          <a:prstGeom prst="rect">
            <a:avLst/>
          </a:prstGeom>
          <a:noFill/>
          <a:ln/>
        </p:spPr>
        <p:txBody>
          <a:bodyPr wrap="none" lIns="0" tIns="0" rIns="0" bIns="0" rtlCol="0" anchor="t"/>
          <a:lstStyle/>
          <a:p>
            <a:pPr marL="0" indent="0" algn="l">
              <a:lnSpc>
                <a:spcPts val="1181"/>
              </a:lnSpc>
              <a:buNone/>
            </a:pPr>
            <a:r>
              <a:rPr lang="en-US" sz="800" kern="0" spc="39" dirty="0">
                <a:solidFill>
                  <a:srgbClr val="C9A961"/>
                </a:solidFill>
                <a:latin typeface="Liberation Sans Narrow" pitchFamily="34" charset="0"/>
                <a:ea typeface="Liberation Sans Narrow" pitchFamily="34" charset="-122"/>
                <a:cs typeface="Liberation Sans Narrow" pitchFamily="34" charset="-120"/>
              </a:rPr>
              <a:t>05</a:t>
            </a:r>
            <a:endParaRPr lang="en-US" sz="800" dirty="0"/>
          </a:p>
        </p:txBody>
      </p:sp>
      <p:sp>
        <p:nvSpPr>
          <p:cNvPr id="49" name="Text 46"/>
          <p:cNvSpPr/>
          <p:nvPr/>
        </p:nvSpPr>
        <p:spPr>
          <a:xfrm>
            <a:off x="5550694" y="2698886"/>
            <a:ext cx="200025" cy="200025"/>
          </a:xfrm>
          <a:prstGeom prst="rect">
            <a:avLst/>
          </a:prstGeom>
          <a:noFill/>
          <a:ln/>
        </p:spPr>
        <p:txBody>
          <a:bodyPr wrap="none" lIns="0" tIns="0" rIns="0" bIns="0" rtlCol="0" anchor="ctr"/>
          <a:lstStyle/>
          <a:p>
            <a:pPr marL="0" indent="0" algn="ctr">
              <a:buNone/>
            </a:pPr>
            <a:r>
              <a:rPr lang="en-US" sz="1969" dirty="0">
                <a:solidFill>
                  <a:srgbClr val="0F2A4A"/>
                </a:solidFill>
                <a:latin typeface="Segoe UI Symbol" pitchFamily="34" charset="0"/>
                <a:ea typeface="Segoe UI Symbol" pitchFamily="34" charset="-122"/>
                <a:cs typeface="Segoe UI Symbol" pitchFamily="34" charset="-120"/>
              </a:rPr>
              <a:t>◆</a:t>
            </a:r>
            <a:endParaRPr lang="en-US" sz="1969" dirty="0"/>
          </a:p>
        </p:txBody>
      </p:sp>
      <p:sp>
        <p:nvSpPr>
          <p:cNvPr id="50" name="Text 47"/>
          <p:cNvSpPr/>
          <p:nvPr/>
        </p:nvSpPr>
        <p:spPr>
          <a:xfrm>
            <a:off x="3407569" y="2956061"/>
            <a:ext cx="2343150" cy="173593"/>
          </a:xfrm>
          <a:prstGeom prst="rect">
            <a:avLst/>
          </a:prstGeom>
          <a:noFill/>
          <a:ln/>
        </p:spPr>
        <p:txBody>
          <a:bodyPr wrap="none" lIns="0" tIns="0" rIns="0" bIns="0" rtlCol="0" anchor="t"/>
          <a:lstStyle/>
          <a:p>
            <a:pPr marL="0" indent="0" algn="l">
              <a:lnSpc>
                <a:spcPts val="1266"/>
              </a:lnSpc>
              <a:buNone/>
            </a:pPr>
            <a:r>
              <a:rPr lang="en-US" sz="844" dirty="0">
                <a:solidFill>
                  <a:srgbClr val="0F2A4A"/>
                </a:solidFill>
                <a:latin typeface="Carlito" pitchFamily="34" charset="0"/>
                <a:ea typeface="Carlito" pitchFamily="34" charset="-122"/>
                <a:cs typeface="Carlito" pitchFamily="34" charset="-120"/>
              </a:rPr>
              <a:t>Secure Update</a:t>
            </a:r>
            <a:endParaRPr lang="en-US" sz="844" dirty="0"/>
          </a:p>
        </p:txBody>
      </p:sp>
      <p:sp>
        <p:nvSpPr>
          <p:cNvPr id="51" name="Text 48"/>
          <p:cNvSpPr/>
          <p:nvPr/>
        </p:nvSpPr>
        <p:spPr>
          <a:xfrm>
            <a:off x="3407569" y="3159658"/>
            <a:ext cx="2343150" cy="318106"/>
          </a:xfrm>
          <a:prstGeom prst="rect">
            <a:avLst/>
          </a:prstGeom>
          <a:noFill/>
          <a:ln/>
        </p:spPr>
        <p:txBody>
          <a:bodyPr wrap="square" lIns="0" tIns="0" rIns="0" bIns="0" rtlCol="0" anchor="t"/>
          <a:lstStyle/>
          <a:p>
            <a:pPr marL="0" indent="0" algn="l">
              <a:lnSpc>
                <a:spcPts val="1060"/>
              </a:lnSpc>
              <a:buNone/>
            </a:pPr>
            <a:r>
              <a:rPr lang="en-US" sz="800" dirty="0">
                <a:solidFill>
                  <a:srgbClr val="4A5568"/>
                </a:solidFill>
                <a:latin typeface="Carlito" pitchFamily="34" charset="0"/>
                <a:ea typeface="Carlito" pitchFamily="34" charset="-122"/>
                <a:cs typeface="Carlito" pitchFamily="34" charset="-120"/>
              </a:rPr>
              <a:t>Signed firmware images; rollback protection; staged A/B partitions.</a:t>
            </a:r>
            <a:endParaRPr lang="en-US" sz="800" dirty="0"/>
          </a:p>
        </p:txBody>
      </p:sp>
      <p:sp>
        <p:nvSpPr>
          <p:cNvPr id="52" name="Text 49"/>
          <p:cNvSpPr/>
          <p:nvPr/>
        </p:nvSpPr>
        <p:spPr>
          <a:xfrm>
            <a:off x="6029325" y="2577443"/>
            <a:ext cx="2657475" cy="1071563"/>
          </a:xfrm>
          <a:prstGeom prst="roundRect">
            <a:avLst>
              <a:gd name="adj" fmla="val 7111"/>
            </a:avLst>
          </a:prstGeom>
          <a:solidFill>
            <a:srgbClr val="FFFFFF"/>
          </a:solidFill>
          <a:ln/>
        </p:spPr>
        <p:txBody>
          <a:bodyPr wrap="square" rtlCol="0" anchor="ctr"/>
          <a:lstStyle/>
          <a:p>
            <a:pPr marL="0" indent="0">
              <a:buNone/>
            </a:pPr>
            <a:endParaRPr lang="en-US" dirty="0"/>
          </a:p>
        </p:txBody>
      </p:sp>
      <p:sp>
        <p:nvSpPr>
          <p:cNvPr id="53" name="Shape 50"/>
          <p:cNvSpPr/>
          <p:nvPr/>
        </p:nvSpPr>
        <p:spPr>
          <a:xfrm>
            <a:off x="6029325" y="2581015"/>
            <a:ext cx="2657475" cy="0"/>
          </a:xfrm>
          <a:prstGeom prst="line">
            <a:avLst/>
          </a:prstGeom>
          <a:noFill/>
          <a:ln w="7144">
            <a:solidFill>
              <a:srgbClr val="D8DEE6"/>
            </a:solidFill>
            <a:prstDash val="solid"/>
          </a:ln>
        </p:spPr>
      </p:sp>
      <p:sp>
        <p:nvSpPr>
          <p:cNvPr id="54" name="Shape 51"/>
          <p:cNvSpPr/>
          <p:nvPr/>
        </p:nvSpPr>
        <p:spPr>
          <a:xfrm>
            <a:off x="8683228" y="2577443"/>
            <a:ext cx="0" cy="1071563"/>
          </a:xfrm>
          <a:prstGeom prst="line">
            <a:avLst/>
          </a:prstGeom>
          <a:noFill/>
          <a:ln w="7144">
            <a:solidFill>
              <a:srgbClr val="D8DEE6"/>
            </a:solidFill>
            <a:prstDash val="solid"/>
          </a:ln>
        </p:spPr>
      </p:sp>
      <p:sp>
        <p:nvSpPr>
          <p:cNvPr id="55" name="Shape 52"/>
          <p:cNvSpPr/>
          <p:nvPr/>
        </p:nvSpPr>
        <p:spPr>
          <a:xfrm>
            <a:off x="6029325" y="3645433"/>
            <a:ext cx="2657475" cy="0"/>
          </a:xfrm>
          <a:prstGeom prst="line">
            <a:avLst/>
          </a:prstGeom>
          <a:noFill/>
          <a:ln w="7144">
            <a:solidFill>
              <a:srgbClr val="D8DEE6"/>
            </a:solidFill>
            <a:prstDash val="solid"/>
          </a:ln>
        </p:spPr>
      </p:sp>
      <p:sp>
        <p:nvSpPr>
          <p:cNvPr id="56" name="Shape 53"/>
          <p:cNvSpPr/>
          <p:nvPr/>
        </p:nvSpPr>
        <p:spPr>
          <a:xfrm>
            <a:off x="6040041" y="2577443"/>
            <a:ext cx="0" cy="1071563"/>
          </a:xfrm>
          <a:prstGeom prst="line">
            <a:avLst/>
          </a:prstGeom>
          <a:noFill/>
          <a:ln w="21431">
            <a:solidFill>
              <a:srgbClr val="0F2A4A"/>
            </a:solidFill>
            <a:prstDash val="solid"/>
          </a:ln>
        </p:spPr>
      </p:sp>
      <p:sp>
        <p:nvSpPr>
          <p:cNvPr id="57" name="Text 54"/>
          <p:cNvSpPr/>
          <p:nvPr/>
        </p:nvSpPr>
        <p:spPr>
          <a:xfrm>
            <a:off x="6193631" y="2698886"/>
            <a:ext cx="2128838" cy="164592"/>
          </a:xfrm>
          <a:prstGeom prst="rect">
            <a:avLst/>
          </a:prstGeom>
          <a:noFill/>
          <a:ln/>
        </p:spPr>
        <p:txBody>
          <a:bodyPr wrap="none" lIns="0" tIns="0" rIns="0" bIns="0" rtlCol="0" anchor="t"/>
          <a:lstStyle/>
          <a:p>
            <a:pPr marL="0" indent="0" algn="l">
              <a:lnSpc>
                <a:spcPts val="1181"/>
              </a:lnSpc>
              <a:buNone/>
            </a:pPr>
            <a:r>
              <a:rPr lang="en-US" sz="800" kern="0" spc="39" dirty="0">
                <a:solidFill>
                  <a:srgbClr val="C9A961"/>
                </a:solidFill>
                <a:latin typeface="Liberation Sans Narrow" pitchFamily="34" charset="0"/>
                <a:ea typeface="Liberation Sans Narrow" pitchFamily="34" charset="-122"/>
                <a:cs typeface="Liberation Sans Narrow" pitchFamily="34" charset="-120"/>
              </a:rPr>
              <a:t>06</a:t>
            </a:r>
            <a:endParaRPr lang="en-US" sz="800" dirty="0"/>
          </a:p>
        </p:txBody>
      </p:sp>
      <p:sp>
        <p:nvSpPr>
          <p:cNvPr id="58" name="Text 55"/>
          <p:cNvSpPr/>
          <p:nvPr/>
        </p:nvSpPr>
        <p:spPr>
          <a:xfrm>
            <a:off x="8336756" y="2698886"/>
            <a:ext cx="200025" cy="200025"/>
          </a:xfrm>
          <a:prstGeom prst="rect">
            <a:avLst/>
          </a:prstGeom>
          <a:noFill/>
          <a:ln/>
        </p:spPr>
        <p:txBody>
          <a:bodyPr wrap="none" lIns="0" tIns="0" rIns="0" bIns="0" rtlCol="0" anchor="ctr"/>
          <a:lstStyle/>
          <a:p>
            <a:pPr marL="0" indent="0" algn="ctr">
              <a:buNone/>
            </a:pPr>
            <a:r>
              <a:rPr lang="en-US" sz="1969" dirty="0">
                <a:solidFill>
                  <a:srgbClr val="0F2A4A"/>
                </a:solidFill>
                <a:latin typeface="Segoe UI Symbol" pitchFamily="34" charset="0"/>
                <a:ea typeface="Segoe UI Symbol" pitchFamily="34" charset="-122"/>
                <a:cs typeface="Segoe UI Symbol" pitchFamily="34" charset="-120"/>
              </a:rPr>
              <a:t>✦</a:t>
            </a:r>
            <a:endParaRPr lang="en-US" sz="1969" dirty="0"/>
          </a:p>
        </p:txBody>
      </p:sp>
      <p:sp>
        <p:nvSpPr>
          <p:cNvPr id="59" name="Text 56"/>
          <p:cNvSpPr/>
          <p:nvPr/>
        </p:nvSpPr>
        <p:spPr>
          <a:xfrm>
            <a:off x="6193631" y="2956061"/>
            <a:ext cx="2343150" cy="173593"/>
          </a:xfrm>
          <a:prstGeom prst="rect">
            <a:avLst/>
          </a:prstGeom>
          <a:noFill/>
          <a:ln/>
        </p:spPr>
        <p:txBody>
          <a:bodyPr wrap="none" lIns="0" tIns="0" rIns="0" bIns="0" rtlCol="0" anchor="t"/>
          <a:lstStyle/>
          <a:p>
            <a:pPr marL="0" indent="0" algn="l">
              <a:lnSpc>
                <a:spcPts val="1266"/>
              </a:lnSpc>
              <a:buNone/>
            </a:pPr>
            <a:r>
              <a:rPr lang="en-US" sz="844" dirty="0">
                <a:solidFill>
                  <a:srgbClr val="0F2A4A"/>
                </a:solidFill>
                <a:latin typeface="Carlito" pitchFamily="34" charset="0"/>
                <a:ea typeface="Carlito" pitchFamily="34" charset="-122"/>
                <a:cs typeface="Carlito" pitchFamily="34" charset="-120"/>
              </a:rPr>
              <a:t>Logging &amp; Audit</a:t>
            </a:r>
            <a:endParaRPr lang="en-US" sz="844" dirty="0"/>
          </a:p>
        </p:txBody>
      </p:sp>
      <p:sp>
        <p:nvSpPr>
          <p:cNvPr id="60" name="Text 57"/>
          <p:cNvSpPr/>
          <p:nvPr/>
        </p:nvSpPr>
        <p:spPr>
          <a:xfrm>
            <a:off x="6193631" y="3159658"/>
            <a:ext cx="2343150" cy="159053"/>
          </a:xfrm>
          <a:prstGeom prst="rect">
            <a:avLst/>
          </a:prstGeom>
          <a:noFill/>
          <a:ln/>
        </p:spPr>
        <p:txBody>
          <a:bodyPr wrap="square" lIns="0" tIns="0" rIns="0" bIns="0" rtlCol="0" anchor="t"/>
          <a:lstStyle/>
          <a:p>
            <a:pPr marL="0" indent="0" algn="l">
              <a:lnSpc>
                <a:spcPts val="1060"/>
              </a:lnSpc>
              <a:buNone/>
            </a:pPr>
            <a:r>
              <a:rPr lang="en-US" sz="731" dirty="0">
                <a:solidFill>
                  <a:srgbClr val="4A5568"/>
                </a:solidFill>
                <a:latin typeface="Carlito" pitchFamily="34" charset="0"/>
                <a:ea typeface="Carlito" pitchFamily="34" charset="-122"/>
                <a:cs typeface="Carlito" pitchFamily="34" charset="-120"/>
              </a:rPr>
              <a:t>Tamper-evident logs; SIEM ingestion; alert on anomaly.</a:t>
            </a:r>
            <a:endParaRPr lang="en-US" sz="731" dirty="0"/>
          </a:p>
        </p:txBody>
      </p:sp>
      <p:sp>
        <p:nvSpPr>
          <p:cNvPr id="61" name="Text 58"/>
          <p:cNvSpPr/>
          <p:nvPr/>
        </p:nvSpPr>
        <p:spPr>
          <a:xfrm>
            <a:off x="457200" y="3777593"/>
            <a:ext cx="8229600" cy="453628"/>
          </a:xfrm>
          <a:prstGeom prst="roundRect">
            <a:avLst>
              <a:gd name="adj" fmla="val 16798"/>
            </a:avLst>
          </a:prstGeom>
          <a:solidFill>
            <a:srgbClr val="FFFFFF"/>
          </a:solidFill>
          <a:ln/>
        </p:spPr>
        <p:txBody>
          <a:bodyPr wrap="square" rtlCol="0" anchor="ctr"/>
          <a:lstStyle/>
          <a:p>
            <a:pPr marL="0" indent="0">
              <a:buNone/>
            </a:pPr>
            <a:endParaRPr lang="en-US" dirty="0"/>
          </a:p>
        </p:txBody>
      </p:sp>
      <p:sp>
        <p:nvSpPr>
          <p:cNvPr id="62" name="Shape 59"/>
          <p:cNvSpPr/>
          <p:nvPr/>
        </p:nvSpPr>
        <p:spPr>
          <a:xfrm>
            <a:off x="457200" y="3781165"/>
            <a:ext cx="8229600" cy="0"/>
          </a:xfrm>
          <a:prstGeom prst="line">
            <a:avLst/>
          </a:prstGeom>
          <a:noFill/>
          <a:ln w="7144">
            <a:solidFill>
              <a:srgbClr val="D8DEE6"/>
            </a:solidFill>
            <a:prstDash val="solid"/>
          </a:ln>
        </p:spPr>
      </p:sp>
      <p:sp>
        <p:nvSpPr>
          <p:cNvPr id="63" name="Shape 60"/>
          <p:cNvSpPr/>
          <p:nvPr/>
        </p:nvSpPr>
        <p:spPr>
          <a:xfrm>
            <a:off x="8683228" y="3777593"/>
            <a:ext cx="0" cy="453628"/>
          </a:xfrm>
          <a:prstGeom prst="line">
            <a:avLst/>
          </a:prstGeom>
          <a:noFill/>
          <a:ln w="7144">
            <a:solidFill>
              <a:srgbClr val="D8DEE6"/>
            </a:solidFill>
            <a:prstDash val="solid"/>
          </a:ln>
        </p:spPr>
      </p:sp>
      <p:sp>
        <p:nvSpPr>
          <p:cNvPr id="64" name="Shape 61"/>
          <p:cNvSpPr/>
          <p:nvPr/>
        </p:nvSpPr>
        <p:spPr>
          <a:xfrm>
            <a:off x="457200" y="4227649"/>
            <a:ext cx="8229600" cy="0"/>
          </a:xfrm>
          <a:prstGeom prst="line">
            <a:avLst/>
          </a:prstGeom>
          <a:noFill/>
          <a:ln w="7144">
            <a:solidFill>
              <a:srgbClr val="D8DEE6"/>
            </a:solidFill>
            <a:prstDash val="solid"/>
          </a:ln>
        </p:spPr>
      </p:sp>
      <p:sp>
        <p:nvSpPr>
          <p:cNvPr id="65" name="Shape 62"/>
          <p:cNvSpPr/>
          <p:nvPr/>
        </p:nvSpPr>
        <p:spPr>
          <a:xfrm>
            <a:off x="467916" y="3777593"/>
            <a:ext cx="0" cy="453628"/>
          </a:xfrm>
          <a:prstGeom prst="line">
            <a:avLst/>
          </a:prstGeom>
          <a:noFill/>
          <a:ln w="21431">
            <a:solidFill>
              <a:srgbClr val="C9A961"/>
            </a:solidFill>
            <a:prstDash val="solid"/>
          </a:ln>
        </p:spPr>
      </p:sp>
      <p:sp>
        <p:nvSpPr>
          <p:cNvPr id="66" name="Text 63"/>
          <p:cNvSpPr/>
          <p:nvPr/>
        </p:nvSpPr>
        <p:spPr>
          <a:xfrm>
            <a:off x="607219" y="3925825"/>
            <a:ext cx="157163" cy="157163"/>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67" name="Text 64"/>
          <p:cNvSpPr/>
          <p:nvPr/>
        </p:nvSpPr>
        <p:spPr>
          <a:xfrm>
            <a:off x="864394" y="3870461"/>
            <a:ext cx="7686675" cy="267891"/>
          </a:xfrm>
          <a:prstGeom prst="rect">
            <a:avLst/>
          </a:prstGeom>
          <a:noFill/>
          <a:ln/>
        </p:spPr>
        <p:txBody>
          <a:bodyPr wrap="square" lIns="0" tIns="0" rIns="0" bIns="0" rtlCol="0" anchor="t"/>
          <a:lstStyle/>
          <a:p>
            <a:pPr marL="0" indent="0" algn="l">
              <a:lnSpc>
                <a:spcPts val="1055"/>
              </a:lnSpc>
              <a:buNone/>
            </a:pPr>
            <a:r>
              <a:rPr lang="en-US" sz="800" b="1" kern="0" spc="50" dirty="0">
                <a:solidFill>
                  <a:srgbClr val="0F2A4A"/>
                </a:solidFill>
                <a:latin typeface="Carlito" pitchFamily="34" charset="0"/>
                <a:ea typeface="Carlito" pitchFamily="34" charset="-122"/>
                <a:cs typeface="Carlito" pitchFamily="34" charset="-120"/>
              </a:rPr>
              <a:t>LIVE EXAMPLE</a:t>
            </a:r>
            <a:r>
              <a:rPr lang="en-US" sz="800" dirty="0">
                <a:solidFill>
                  <a:srgbClr val="4A5568"/>
                </a:solidFill>
                <a:latin typeface="Carlito" pitchFamily="34" charset="0"/>
                <a:ea typeface="Carlito" pitchFamily="34" charset="-122"/>
                <a:cs typeface="Carlito" pitchFamily="34" charset="-120"/>
              </a:rPr>
              <a:t> — The 2021 Verkada breach: attackers used a hardcoded super-admin credential in the cloud app to access 150K+ live security cameras across hospitals, jails, and Tesla factories.</a:t>
            </a:r>
            <a:endParaRPr lang="en-US" sz="800" dirty="0"/>
          </a:p>
        </p:txBody>
      </p:sp>
      <p:sp>
        <p:nvSpPr>
          <p:cNvPr id="68" name="Text 65"/>
          <p:cNvSpPr/>
          <p:nvPr/>
        </p:nvSpPr>
        <p:spPr>
          <a:xfrm>
            <a:off x="457200" y="4897041"/>
            <a:ext cx="3504567"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Liberation Sans Narrow" pitchFamily="34" charset="0"/>
                <a:ea typeface="Liberation Sans Narrow" pitchFamily="34" charset="-122"/>
                <a:cs typeface="Liberation Sans Narrow" pitchFamily="34" charset="-120"/>
              </a:rPr>
              <a:t>IOT-SEC · 2026</a:t>
            </a:r>
            <a:endParaRPr lang="en-US" sz="800" dirty="0"/>
          </a:p>
        </p:txBody>
      </p:sp>
      <p:sp>
        <p:nvSpPr>
          <p:cNvPr id="69" name="Text 66"/>
          <p:cNvSpPr/>
          <p:nvPr/>
        </p:nvSpPr>
        <p:spPr>
          <a:xfrm>
            <a:off x="3976055" y="4897041"/>
            <a:ext cx="4393853"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Carlito" pitchFamily="34" charset="0"/>
                <a:ea typeface="Carlito" pitchFamily="34" charset="-122"/>
                <a:cs typeface="Carlito" pitchFamily="34" charset="-120"/>
              </a:rPr>
              <a:t>APPLICATION SECURITY · CONCEPT</a:t>
            </a:r>
            <a:endParaRPr lang="en-US" sz="800" dirty="0"/>
          </a:p>
        </p:txBody>
      </p:sp>
      <p:sp>
        <p:nvSpPr>
          <p:cNvPr id="70" name="Text 67"/>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09 / 21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464344"/>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416123"/>
            <a:ext cx="2939362" cy="156520"/>
          </a:xfrm>
          <a:prstGeom prst="rect">
            <a:avLst/>
          </a:prstGeom>
          <a:noFill/>
          <a:ln/>
        </p:spPr>
        <p:txBody>
          <a:bodyPr wrap="squar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04 · NETWORK SECURITY → APPLICATION</a:t>
            </a:r>
            <a:endParaRPr lang="en-US" sz="800" dirty="0"/>
          </a:p>
        </p:txBody>
      </p:sp>
      <p:sp>
        <p:nvSpPr>
          <p:cNvPr id="5" name="Text 2"/>
          <p:cNvSpPr/>
          <p:nvPr/>
        </p:nvSpPr>
        <p:spPr>
          <a:xfrm>
            <a:off x="457200" y="600075"/>
            <a:ext cx="8636000" cy="198266"/>
          </a:xfrm>
          <a:prstGeom prst="rect">
            <a:avLst/>
          </a:prstGeom>
          <a:noFill/>
          <a:ln/>
        </p:spPr>
        <p:txBody>
          <a:bodyPr wrap="square" lIns="0" tIns="0" rIns="0" bIns="0" rtlCol="0" anchor="t">
            <a:normAutofit/>
          </a:bodyPr>
          <a:lstStyle/>
          <a:p>
            <a:pPr marL="0" indent="0" algn="l">
              <a:lnSpc>
                <a:spcPts val="1553"/>
              </a:lnSpc>
              <a:buNone/>
            </a:pPr>
            <a:r>
              <a:rPr lang="en-US" sz="1350" kern="0" spc="-13" dirty="0">
                <a:solidFill>
                  <a:srgbClr val="0F2A4A"/>
                </a:solidFill>
                <a:latin typeface="Tinos" pitchFamily="34" charset="0"/>
                <a:ea typeface="Tinos" pitchFamily="34" charset="-122"/>
                <a:cs typeface="Tinos" pitchFamily="34" charset="-120"/>
              </a:rPr>
              <a:t>Application Security — Layered Controls</a:t>
            </a:r>
            <a:endParaRPr lang="en-US" sz="1350" dirty="0"/>
          </a:p>
        </p:txBody>
      </p:sp>
      <p:sp>
        <p:nvSpPr>
          <p:cNvPr id="6" name="Text 3"/>
          <p:cNvSpPr/>
          <p:nvPr/>
        </p:nvSpPr>
        <p:spPr>
          <a:xfrm>
            <a:off x="457200" y="825773"/>
            <a:ext cx="8229600" cy="164592"/>
          </a:xfrm>
          <a:prstGeom prst="rect">
            <a:avLst/>
          </a:prstGeom>
          <a:noFill/>
          <a:ln/>
        </p:spPr>
        <p:txBody>
          <a:bodyPr wrap="square" lIns="0" tIns="0" rIns="0" bIns="0" rtlCol="0" anchor="t"/>
          <a:lstStyle/>
          <a:p>
            <a:pPr marL="0" indent="0" algn="l">
              <a:lnSpc>
                <a:spcPts val="1097"/>
              </a:lnSpc>
              <a:buNone/>
            </a:pPr>
            <a:r>
              <a:rPr lang="en-US" sz="800" dirty="0">
                <a:solidFill>
                  <a:srgbClr val="6B7280"/>
                </a:solidFill>
                <a:latin typeface="Carlito" pitchFamily="34" charset="0"/>
                <a:ea typeface="Carlito" pitchFamily="34" charset="-122"/>
                <a:cs typeface="Carlito" pitchFamily="34" charset="-120"/>
              </a:rPr>
              <a:t>A defense-in-depth stack — each layer is independently testable.</a:t>
            </a:r>
            <a:endParaRPr lang="en-US" sz="800" dirty="0"/>
          </a:p>
        </p:txBody>
      </p:sp>
      <p:sp>
        <p:nvSpPr>
          <p:cNvPr id="7" name="Text 4"/>
          <p:cNvSpPr/>
          <p:nvPr/>
        </p:nvSpPr>
        <p:spPr>
          <a:xfrm>
            <a:off x="460772" y="1125810"/>
            <a:ext cx="6350794" cy="435769"/>
          </a:xfrm>
          <a:prstGeom prst="roundRect">
            <a:avLst>
              <a:gd name="adj" fmla="val 13115"/>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8" name="Text 5"/>
          <p:cNvSpPr/>
          <p:nvPr/>
        </p:nvSpPr>
        <p:spPr>
          <a:xfrm>
            <a:off x="621506" y="1284759"/>
            <a:ext cx="1196645" cy="164592"/>
          </a:xfrm>
          <a:prstGeom prst="rect">
            <a:avLst/>
          </a:prstGeom>
          <a:noFill/>
          <a:ln/>
        </p:spPr>
        <p:txBody>
          <a:bodyPr wrap="none" lIns="0" tIns="0" rIns="0" bIns="0" rtlCol="0" anchor="t"/>
          <a:lstStyle/>
          <a:p>
            <a:pPr marL="0" indent="0" algn="l">
              <a:lnSpc>
                <a:spcPts val="928"/>
              </a:lnSpc>
              <a:buNone/>
            </a:pPr>
            <a:r>
              <a:rPr lang="en-US" sz="800" kern="0" spc="74" dirty="0">
                <a:solidFill>
                  <a:srgbClr val="C9A961"/>
                </a:solidFill>
                <a:latin typeface="Liberation Sans Narrow" pitchFamily="34" charset="0"/>
                <a:ea typeface="Liberation Sans Narrow" pitchFamily="34" charset="-122"/>
                <a:cs typeface="Liberation Sans Narrow" pitchFamily="34" charset="-120"/>
              </a:rPr>
              <a:t>LAYER 5</a:t>
            </a:r>
            <a:endParaRPr lang="en-US" sz="800" dirty="0"/>
          </a:p>
        </p:txBody>
      </p:sp>
      <p:sp>
        <p:nvSpPr>
          <p:cNvPr id="9" name="Text 6"/>
          <p:cNvSpPr/>
          <p:nvPr/>
        </p:nvSpPr>
        <p:spPr>
          <a:xfrm>
            <a:off x="1535906" y="1268685"/>
            <a:ext cx="2126772" cy="164592"/>
          </a:xfrm>
          <a:prstGeom prst="rect">
            <a:avLst/>
          </a:prstGeom>
          <a:noFill/>
          <a:ln/>
        </p:spPr>
        <p:txBody>
          <a:bodyPr wrap="none" lIns="0" tIns="0" rIns="0" bIns="0" rtlCol="0" anchor="t"/>
          <a:lstStyle/>
          <a:p>
            <a:pPr marL="0" indent="0" algn="l">
              <a:lnSpc>
                <a:spcPts val="1181"/>
              </a:lnSpc>
              <a:buNone/>
            </a:pPr>
            <a:r>
              <a:rPr lang="en-US" sz="800" b="1" kern="0" spc="24" dirty="0">
                <a:solidFill>
                  <a:srgbClr val="0F2A4A"/>
                </a:solidFill>
                <a:latin typeface="Carlito" pitchFamily="34" charset="0"/>
                <a:ea typeface="Carlito" pitchFamily="34" charset="-122"/>
                <a:cs typeface="Carlito" pitchFamily="34" charset="-120"/>
              </a:rPr>
              <a:t>IDENTITY &amp; ACCESS</a:t>
            </a:r>
            <a:endParaRPr lang="en-US" sz="800" dirty="0"/>
          </a:p>
        </p:txBody>
      </p:sp>
      <p:sp>
        <p:nvSpPr>
          <p:cNvPr id="10" name="Text 7"/>
          <p:cNvSpPr/>
          <p:nvPr/>
        </p:nvSpPr>
        <p:spPr>
          <a:xfrm>
            <a:off x="3060708" y="1279401"/>
            <a:ext cx="3590123" cy="164592"/>
          </a:xfrm>
          <a:prstGeom prst="rect">
            <a:avLst/>
          </a:prstGeom>
          <a:noFill/>
          <a:ln/>
        </p:spPr>
        <p:txBody>
          <a:bodyPr wrap="square" lIns="0" tIns="0" rIns="0" bIns="0" rtlCol="0" anchor="t"/>
          <a:lstStyle/>
          <a:p>
            <a:pPr marL="0" indent="0" algn="r">
              <a:lnSpc>
                <a:spcPts val="1013"/>
              </a:lnSpc>
              <a:buNone/>
            </a:pPr>
            <a:r>
              <a:rPr lang="en-US" sz="800" dirty="0">
                <a:solidFill>
                  <a:srgbClr val="4A5568"/>
                </a:solidFill>
                <a:latin typeface="Liberation Sans Narrow" pitchFamily="34" charset="0"/>
                <a:ea typeface="Liberation Sans Narrow" pitchFamily="34" charset="-122"/>
                <a:cs typeface="Liberation Sans Narrow" pitchFamily="34" charset="-120"/>
              </a:rPr>
              <a:t>OAuth 2.0 · OIDC · X.509 mTLS · SCIM</a:t>
            </a:r>
            <a:endParaRPr lang="en-US" sz="800" dirty="0"/>
          </a:p>
        </p:txBody>
      </p:sp>
      <p:sp>
        <p:nvSpPr>
          <p:cNvPr id="11" name="Text 8"/>
          <p:cNvSpPr/>
          <p:nvPr/>
        </p:nvSpPr>
        <p:spPr>
          <a:xfrm>
            <a:off x="3630811" y="1565151"/>
            <a:ext cx="10716" cy="128588"/>
          </a:xfrm>
          <a:prstGeom prst="rect">
            <a:avLst/>
          </a:prstGeom>
          <a:solidFill>
            <a:srgbClr val="0F2A4A"/>
          </a:solidFill>
          <a:ln/>
        </p:spPr>
        <p:txBody>
          <a:bodyPr wrap="square" rtlCol="0" anchor="ctr"/>
          <a:lstStyle/>
          <a:p>
            <a:pPr marL="0" indent="0">
              <a:buNone/>
            </a:pPr>
            <a:endParaRPr lang="en-US" dirty="0"/>
          </a:p>
        </p:txBody>
      </p:sp>
      <p:sp>
        <p:nvSpPr>
          <p:cNvPr id="12" name="Text 9"/>
          <p:cNvSpPr/>
          <p:nvPr/>
        </p:nvSpPr>
        <p:spPr>
          <a:xfrm>
            <a:off x="460772" y="1697310"/>
            <a:ext cx="6350794" cy="435769"/>
          </a:xfrm>
          <a:prstGeom prst="roundRect">
            <a:avLst>
              <a:gd name="adj" fmla="val 13115"/>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3" name="Text 10"/>
          <p:cNvSpPr/>
          <p:nvPr/>
        </p:nvSpPr>
        <p:spPr>
          <a:xfrm>
            <a:off x="621506" y="1856259"/>
            <a:ext cx="1196645" cy="164592"/>
          </a:xfrm>
          <a:prstGeom prst="rect">
            <a:avLst/>
          </a:prstGeom>
          <a:noFill/>
          <a:ln/>
        </p:spPr>
        <p:txBody>
          <a:bodyPr wrap="none" lIns="0" tIns="0" rIns="0" bIns="0" rtlCol="0" anchor="t"/>
          <a:lstStyle/>
          <a:p>
            <a:pPr marL="0" indent="0" algn="l">
              <a:lnSpc>
                <a:spcPts val="928"/>
              </a:lnSpc>
              <a:buNone/>
            </a:pPr>
            <a:r>
              <a:rPr lang="en-US" sz="800" kern="0" spc="74" dirty="0">
                <a:solidFill>
                  <a:srgbClr val="C9A961"/>
                </a:solidFill>
                <a:latin typeface="Liberation Sans Narrow" pitchFamily="34" charset="0"/>
                <a:ea typeface="Liberation Sans Narrow" pitchFamily="34" charset="-122"/>
                <a:cs typeface="Liberation Sans Narrow" pitchFamily="34" charset="-120"/>
              </a:rPr>
              <a:t>LAYER 4</a:t>
            </a:r>
            <a:endParaRPr lang="en-US" sz="800" dirty="0"/>
          </a:p>
        </p:txBody>
      </p:sp>
      <p:sp>
        <p:nvSpPr>
          <p:cNvPr id="14" name="Text 11"/>
          <p:cNvSpPr/>
          <p:nvPr/>
        </p:nvSpPr>
        <p:spPr>
          <a:xfrm>
            <a:off x="1535906" y="1840185"/>
            <a:ext cx="2126772" cy="164592"/>
          </a:xfrm>
          <a:prstGeom prst="rect">
            <a:avLst/>
          </a:prstGeom>
          <a:noFill/>
          <a:ln/>
        </p:spPr>
        <p:txBody>
          <a:bodyPr wrap="none" lIns="0" tIns="0" rIns="0" bIns="0" rtlCol="0" anchor="t"/>
          <a:lstStyle/>
          <a:p>
            <a:pPr marL="0" indent="0" algn="l">
              <a:lnSpc>
                <a:spcPts val="1181"/>
              </a:lnSpc>
              <a:buNone/>
            </a:pPr>
            <a:r>
              <a:rPr lang="en-US" sz="800" b="1" kern="0" spc="24" dirty="0">
                <a:solidFill>
                  <a:srgbClr val="0F2A4A"/>
                </a:solidFill>
                <a:latin typeface="Carlito" pitchFamily="34" charset="0"/>
                <a:ea typeface="Carlito" pitchFamily="34" charset="-122"/>
                <a:cs typeface="Carlito" pitchFamily="34" charset="-120"/>
              </a:rPr>
              <a:t>CRYPTOGRAPHY</a:t>
            </a:r>
            <a:endParaRPr lang="en-US" sz="800" dirty="0"/>
          </a:p>
        </p:txBody>
      </p:sp>
      <p:sp>
        <p:nvSpPr>
          <p:cNvPr id="15" name="Text 12"/>
          <p:cNvSpPr/>
          <p:nvPr/>
        </p:nvSpPr>
        <p:spPr>
          <a:xfrm>
            <a:off x="3060708" y="1850901"/>
            <a:ext cx="3590123" cy="164592"/>
          </a:xfrm>
          <a:prstGeom prst="rect">
            <a:avLst/>
          </a:prstGeom>
          <a:noFill/>
          <a:ln/>
        </p:spPr>
        <p:txBody>
          <a:bodyPr wrap="square" lIns="0" tIns="0" rIns="0" bIns="0" rtlCol="0" anchor="t"/>
          <a:lstStyle/>
          <a:p>
            <a:pPr marL="0" indent="0" algn="r">
              <a:lnSpc>
                <a:spcPts val="1013"/>
              </a:lnSpc>
              <a:buNone/>
            </a:pPr>
            <a:r>
              <a:rPr lang="en-US" sz="800" dirty="0">
                <a:solidFill>
                  <a:srgbClr val="4A5568"/>
                </a:solidFill>
                <a:latin typeface="Carlito" pitchFamily="34" charset="0"/>
                <a:ea typeface="Carlito" pitchFamily="34" charset="-122"/>
                <a:cs typeface="Carlito" pitchFamily="34" charset="-120"/>
              </a:rPr>
              <a:t>AES-256-GCM · TLS 1.3 · ECDSA P-256 · HKDF-SHA256</a:t>
            </a:r>
            <a:endParaRPr lang="en-US" sz="800" dirty="0"/>
          </a:p>
        </p:txBody>
      </p:sp>
      <p:sp>
        <p:nvSpPr>
          <p:cNvPr id="16" name="Text 13"/>
          <p:cNvSpPr/>
          <p:nvPr/>
        </p:nvSpPr>
        <p:spPr>
          <a:xfrm>
            <a:off x="3630811" y="2136651"/>
            <a:ext cx="10716" cy="128588"/>
          </a:xfrm>
          <a:prstGeom prst="rect">
            <a:avLst/>
          </a:prstGeom>
          <a:solidFill>
            <a:srgbClr val="0F2A4A"/>
          </a:solidFill>
          <a:ln/>
        </p:spPr>
        <p:txBody>
          <a:bodyPr wrap="square" rtlCol="0" anchor="ctr"/>
          <a:lstStyle/>
          <a:p>
            <a:pPr marL="0" indent="0">
              <a:buNone/>
            </a:pPr>
            <a:endParaRPr lang="en-US" dirty="0"/>
          </a:p>
        </p:txBody>
      </p:sp>
      <p:sp>
        <p:nvSpPr>
          <p:cNvPr id="17" name="Text 14"/>
          <p:cNvSpPr/>
          <p:nvPr/>
        </p:nvSpPr>
        <p:spPr>
          <a:xfrm>
            <a:off x="460772" y="2268810"/>
            <a:ext cx="6350794" cy="435769"/>
          </a:xfrm>
          <a:prstGeom prst="roundRect">
            <a:avLst>
              <a:gd name="adj" fmla="val 13115"/>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8" name="Text 15"/>
          <p:cNvSpPr/>
          <p:nvPr/>
        </p:nvSpPr>
        <p:spPr>
          <a:xfrm>
            <a:off x="621506" y="2427759"/>
            <a:ext cx="1196645" cy="164592"/>
          </a:xfrm>
          <a:prstGeom prst="rect">
            <a:avLst/>
          </a:prstGeom>
          <a:noFill/>
          <a:ln/>
        </p:spPr>
        <p:txBody>
          <a:bodyPr wrap="none" lIns="0" tIns="0" rIns="0" bIns="0" rtlCol="0" anchor="t"/>
          <a:lstStyle/>
          <a:p>
            <a:pPr marL="0" indent="0" algn="l">
              <a:lnSpc>
                <a:spcPts val="928"/>
              </a:lnSpc>
              <a:buNone/>
            </a:pPr>
            <a:r>
              <a:rPr lang="en-US" sz="800" kern="0" spc="74" dirty="0">
                <a:solidFill>
                  <a:srgbClr val="C9A961"/>
                </a:solidFill>
                <a:latin typeface="Liberation Sans Narrow" pitchFamily="34" charset="0"/>
                <a:ea typeface="Liberation Sans Narrow" pitchFamily="34" charset="-122"/>
                <a:cs typeface="Liberation Sans Narrow" pitchFamily="34" charset="-120"/>
              </a:rPr>
              <a:t>LAYER 3</a:t>
            </a:r>
            <a:endParaRPr lang="en-US" sz="800" dirty="0"/>
          </a:p>
        </p:txBody>
      </p:sp>
      <p:sp>
        <p:nvSpPr>
          <p:cNvPr id="19" name="Text 16"/>
          <p:cNvSpPr/>
          <p:nvPr/>
        </p:nvSpPr>
        <p:spPr>
          <a:xfrm>
            <a:off x="1535906" y="2411685"/>
            <a:ext cx="2126772" cy="164592"/>
          </a:xfrm>
          <a:prstGeom prst="rect">
            <a:avLst/>
          </a:prstGeom>
          <a:noFill/>
          <a:ln/>
        </p:spPr>
        <p:txBody>
          <a:bodyPr wrap="none" lIns="0" tIns="0" rIns="0" bIns="0" rtlCol="0" anchor="t"/>
          <a:lstStyle/>
          <a:p>
            <a:pPr marL="0" indent="0" algn="l">
              <a:lnSpc>
                <a:spcPts val="1181"/>
              </a:lnSpc>
              <a:buNone/>
            </a:pPr>
            <a:r>
              <a:rPr lang="en-US" sz="800" b="1" kern="0" spc="24" dirty="0">
                <a:solidFill>
                  <a:srgbClr val="0F2A4A"/>
                </a:solidFill>
                <a:latin typeface="Carlito" pitchFamily="34" charset="0"/>
                <a:ea typeface="Carlito" pitchFamily="34" charset="-122"/>
                <a:cs typeface="Carlito" pitchFamily="34" charset="-120"/>
              </a:rPr>
              <a:t>INPUT &amp; API</a:t>
            </a:r>
            <a:endParaRPr lang="en-US" sz="800" dirty="0"/>
          </a:p>
        </p:txBody>
      </p:sp>
      <p:sp>
        <p:nvSpPr>
          <p:cNvPr id="20" name="Text 17"/>
          <p:cNvSpPr/>
          <p:nvPr/>
        </p:nvSpPr>
        <p:spPr>
          <a:xfrm>
            <a:off x="3326643" y="2422401"/>
            <a:ext cx="3324188" cy="164592"/>
          </a:xfrm>
          <a:prstGeom prst="rect">
            <a:avLst/>
          </a:prstGeom>
          <a:noFill/>
          <a:ln/>
        </p:spPr>
        <p:txBody>
          <a:bodyPr wrap="square" lIns="0" tIns="0" rIns="0" bIns="0" rtlCol="0" anchor="t"/>
          <a:lstStyle/>
          <a:p>
            <a:pPr marL="0" indent="0" algn="r">
              <a:lnSpc>
                <a:spcPts val="1013"/>
              </a:lnSpc>
              <a:buNone/>
            </a:pPr>
            <a:r>
              <a:rPr lang="en-US" sz="800" dirty="0">
                <a:solidFill>
                  <a:srgbClr val="4A5568"/>
                </a:solidFill>
                <a:latin typeface="Carlito" pitchFamily="34" charset="0"/>
                <a:ea typeface="Carlito" pitchFamily="34" charset="-122"/>
                <a:cs typeface="Carlito" pitchFamily="34" charset="-120"/>
              </a:rPr>
              <a:t>JSON Schema · OpenAPI · regex allowlist · rate-limit</a:t>
            </a:r>
            <a:endParaRPr lang="en-US" sz="800" dirty="0"/>
          </a:p>
        </p:txBody>
      </p:sp>
      <p:sp>
        <p:nvSpPr>
          <p:cNvPr id="21" name="Text 18"/>
          <p:cNvSpPr/>
          <p:nvPr/>
        </p:nvSpPr>
        <p:spPr>
          <a:xfrm>
            <a:off x="3630811" y="2708151"/>
            <a:ext cx="10716" cy="128588"/>
          </a:xfrm>
          <a:prstGeom prst="rect">
            <a:avLst/>
          </a:prstGeom>
          <a:solidFill>
            <a:srgbClr val="0F2A4A"/>
          </a:solidFill>
          <a:ln/>
        </p:spPr>
        <p:txBody>
          <a:bodyPr wrap="square" rtlCol="0" anchor="ctr"/>
          <a:lstStyle/>
          <a:p>
            <a:pPr marL="0" indent="0">
              <a:buNone/>
            </a:pPr>
            <a:endParaRPr lang="en-US" dirty="0"/>
          </a:p>
        </p:txBody>
      </p:sp>
      <p:sp>
        <p:nvSpPr>
          <p:cNvPr id="22" name="Text 19"/>
          <p:cNvSpPr/>
          <p:nvPr/>
        </p:nvSpPr>
        <p:spPr>
          <a:xfrm>
            <a:off x="460772" y="2840310"/>
            <a:ext cx="6350794" cy="435769"/>
          </a:xfrm>
          <a:prstGeom prst="roundRect">
            <a:avLst>
              <a:gd name="adj" fmla="val 13115"/>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3" name="Text 20"/>
          <p:cNvSpPr/>
          <p:nvPr/>
        </p:nvSpPr>
        <p:spPr>
          <a:xfrm>
            <a:off x="621506" y="2999259"/>
            <a:ext cx="1196645" cy="164592"/>
          </a:xfrm>
          <a:prstGeom prst="rect">
            <a:avLst/>
          </a:prstGeom>
          <a:noFill/>
          <a:ln/>
        </p:spPr>
        <p:txBody>
          <a:bodyPr wrap="none" lIns="0" tIns="0" rIns="0" bIns="0" rtlCol="0" anchor="t"/>
          <a:lstStyle/>
          <a:p>
            <a:pPr marL="0" indent="0" algn="l">
              <a:lnSpc>
                <a:spcPts val="928"/>
              </a:lnSpc>
              <a:buNone/>
            </a:pPr>
            <a:r>
              <a:rPr lang="en-US" sz="800" kern="0" spc="74" dirty="0">
                <a:solidFill>
                  <a:srgbClr val="C9A961"/>
                </a:solidFill>
                <a:latin typeface="Liberation Sans Narrow" pitchFamily="34" charset="0"/>
                <a:ea typeface="Liberation Sans Narrow" pitchFamily="34" charset="-122"/>
                <a:cs typeface="Liberation Sans Narrow" pitchFamily="34" charset="-120"/>
              </a:rPr>
              <a:t>LAYER 2</a:t>
            </a:r>
            <a:endParaRPr lang="en-US" sz="800" dirty="0"/>
          </a:p>
        </p:txBody>
      </p:sp>
      <p:sp>
        <p:nvSpPr>
          <p:cNvPr id="24" name="Text 21"/>
          <p:cNvSpPr/>
          <p:nvPr/>
        </p:nvSpPr>
        <p:spPr>
          <a:xfrm>
            <a:off x="1535906" y="2983185"/>
            <a:ext cx="2126772" cy="164592"/>
          </a:xfrm>
          <a:prstGeom prst="rect">
            <a:avLst/>
          </a:prstGeom>
          <a:noFill/>
          <a:ln/>
        </p:spPr>
        <p:txBody>
          <a:bodyPr wrap="none" lIns="0" tIns="0" rIns="0" bIns="0" rtlCol="0" anchor="t"/>
          <a:lstStyle/>
          <a:p>
            <a:pPr marL="0" indent="0" algn="l">
              <a:lnSpc>
                <a:spcPts val="1181"/>
              </a:lnSpc>
              <a:buNone/>
            </a:pPr>
            <a:r>
              <a:rPr lang="en-US" sz="800" b="1" kern="0" spc="24" dirty="0">
                <a:solidFill>
                  <a:srgbClr val="0F2A4A"/>
                </a:solidFill>
                <a:latin typeface="Carlito" pitchFamily="34" charset="0"/>
                <a:ea typeface="Carlito" pitchFamily="34" charset="-122"/>
                <a:cs typeface="Carlito" pitchFamily="34" charset="-120"/>
              </a:rPr>
              <a:t>UPDATE &amp; OTA</a:t>
            </a:r>
            <a:endParaRPr lang="en-US" sz="800" dirty="0"/>
          </a:p>
        </p:txBody>
      </p:sp>
      <p:sp>
        <p:nvSpPr>
          <p:cNvPr id="25" name="Text 22"/>
          <p:cNvSpPr/>
          <p:nvPr/>
        </p:nvSpPr>
        <p:spPr>
          <a:xfrm>
            <a:off x="3060708" y="2993901"/>
            <a:ext cx="3590123" cy="164592"/>
          </a:xfrm>
          <a:prstGeom prst="rect">
            <a:avLst/>
          </a:prstGeom>
          <a:noFill/>
          <a:ln/>
        </p:spPr>
        <p:txBody>
          <a:bodyPr wrap="square" lIns="0" tIns="0" rIns="0" bIns="0" rtlCol="0" anchor="t"/>
          <a:lstStyle/>
          <a:p>
            <a:pPr marL="0" indent="0" algn="r">
              <a:lnSpc>
                <a:spcPts val="1013"/>
              </a:lnSpc>
              <a:buNone/>
            </a:pPr>
            <a:r>
              <a:rPr lang="en-US" sz="800" dirty="0">
                <a:solidFill>
                  <a:srgbClr val="4A5568"/>
                </a:solidFill>
                <a:latin typeface="Carlito" pitchFamily="34" charset="0"/>
                <a:ea typeface="Carlito" pitchFamily="34" charset="-122"/>
                <a:cs typeface="Carlito" pitchFamily="34" charset="-120"/>
              </a:rPr>
              <a:t>Signed manifests · TUF · Uptane · A/B partitions</a:t>
            </a:r>
            <a:endParaRPr lang="en-US" sz="800" dirty="0"/>
          </a:p>
        </p:txBody>
      </p:sp>
      <p:sp>
        <p:nvSpPr>
          <p:cNvPr id="26" name="Text 23"/>
          <p:cNvSpPr/>
          <p:nvPr/>
        </p:nvSpPr>
        <p:spPr>
          <a:xfrm>
            <a:off x="3630811" y="3279651"/>
            <a:ext cx="10716" cy="128588"/>
          </a:xfrm>
          <a:prstGeom prst="rect">
            <a:avLst/>
          </a:prstGeom>
          <a:solidFill>
            <a:srgbClr val="0F2A4A"/>
          </a:solidFill>
          <a:ln/>
        </p:spPr>
        <p:txBody>
          <a:bodyPr wrap="square" rtlCol="0" anchor="ctr"/>
          <a:lstStyle/>
          <a:p>
            <a:pPr marL="0" indent="0">
              <a:buNone/>
            </a:pPr>
            <a:endParaRPr lang="en-US" dirty="0"/>
          </a:p>
        </p:txBody>
      </p:sp>
      <p:sp>
        <p:nvSpPr>
          <p:cNvPr id="27" name="Text 24"/>
          <p:cNvSpPr/>
          <p:nvPr/>
        </p:nvSpPr>
        <p:spPr>
          <a:xfrm>
            <a:off x="460772" y="3411810"/>
            <a:ext cx="6350794" cy="435769"/>
          </a:xfrm>
          <a:prstGeom prst="roundRect">
            <a:avLst>
              <a:gd name="adj" fmla="val 13115"/>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28" name="Text 25"/>
          <p:cNvSpPr/>
          <p:nvPr/>
        </p:nvSpPr>
        <p:spPr>
          <a:xfrm>
            <a:off x="621506" y="3570759"/>
            <a:ext cx="1196645" cy="164592"/>
          </a:xfrm>
          <a:prstGeom prst="rect">
            <a:avLst/>
          </a:prstGeom>
          <a:noFill/>
          <a:ln/>
        </p:spPr>
        <p:txBody>
          <a:bodyPr wrap="none" lIns="0" tIns="0" rIns="0" bIns="0" rtlCol="0" anchor="t"/>
          <a:lstStyle/>
          <a:p>
            <a:pPr marL="0" indent="0" algn="l">
              <a:lnSpc>
                <a:spcPts val="928"/>
              </a:lnSpc>
              <a:buNone/>
            </a:pPr>
            <a:r>
              <a:rPr lang="en-US" sz="800" kern="0" spc="74" dirty="0">
                <a:solidFill>
                  <a:srgbClr val="C9A961"/>
                </a:solidFill>
                <a:latin typeface="Liberation Sans Narrow" pitchFamily="34" charset="0"/>
                <a:ea typeface="Liberation Sans Narrow" pitchFamily="34" charset="-122"/>
                <a:cs typeface="Liberation Sans Narrow" pitchFamily="34" charset="-120"/>
              </a:rPr>
              <a:t>LAYER 1</a:t>
            </a:r>
            <a:endParaRPr lang="en-US" sz="800" dirty="0"/>
          </a:p>
        </p:txBody>
      </p:sp>
      <p:sp>
        <p:nvSpPr>
          <p:cNvPr id="29" name="Text 26"/>
          <p:cNvSpPr/>
          <p:nvPr/>
        </p:nvSpPr>
        <p:spPr>
          <a:xfrm>
            <a:off x="1535906" y="3554685"/>
            <a:ext cx="2126772" cy="164592"/>
          </a:xfrm>
          <a:prstGeom prst="rect">
            <a:avLst/>
          </a:prstGeom>
          <a:noFill/>
          <a:ln/>
        </p:spPr>
        <p:txBody>
          <a:bodyPr wrap="none" lIns="0" tIns="0" rIns="0" bIns="0" rtlCol="0" anchor="t"/>
          <a:lstStyle/>
          <a:p>
            <a:pPr marL="0" indent="0" algn="l">
              <a:lnSpc>
                <a:spcPts val="1181"/>
              </a:lnSpc>
              <a:buNone/>
            </a:pPr>
            <a:r>
              <a:rPr lang="en-US" sz="800" b="1" kern="0" spc="24" dirty="0">
                <a:solidFill>
                  <a:srgbClr val="FFFFFF"/>
                </a:solidFill>
                <a:latin typeface="Carlito" pitchFamily="34" charset="0"/>
                <a:ea typeface="Carlito" pitchFamily="34" charset="-122"/>
                <a:cs typeface="Carlito" pitchFamily="34" charset="-120"/>
              </a:rPr>
              <a:t>LOGGING &amp; AUDIT</a:t>
            </a:r>
            <a:endParaRPr lang="en-US" sz="800" dirty="0"/>
          </a:p>
        </p:txBody>
      </p:sp>
      <p:sp>
        <p:nvSpPr>
          <p:cNvPr id="30" name="Text 27"/>
          <p:cNvSpPr/>
          <p:nvPr/>
        </p:nvSpPr>
        <p:spPr>
          <a:xfrm>
            <a:off x="3060708" y="3565401"/>
            <a:ext cx="3590123" cy="164592"/>
          </a:xfrm>
          <a:prstGeom prst="rect">
            <a:avLst/>
          </a:prstGeom>
          <a:noFill/>
          <a:ln/>
        </p:spPr>
        <p:txBody>
          <a:bodyPr wrap="square" lIns="0" tIns="0" rIns="0" bIns="0" rtlCol="0" anchor="t"/>
          <a:lstStyle/>
          <a:p>
            <a:pPr marL="0" indent="0" algn="r">
              <a:lnSpc>
                <a:spcPts val="1013"/>
              </a:lnSpc>
              <a:buNone/>
            </a:pPr>
            <a:r>
              <a:rPr lang="en-US" sz="800" dirty="0">
                <a:solidFill>
                  <a:srgbClr val="FFFFFF">
                    <a:alpha val="85000"/>
                  </a:srgbClr>
                </a:solidFill>
                <a:latin typeface="Carlito" pitchFamily="34" charset="0"/>
                <a:ea typeface="Carlito" pitchFamily="34" charset="-122"/>
                <a:cs typeface="Carlito" pitchFamily="34" charset="-120"/>
              </a:rPr>
              <a:t>Append-only log · SIEM · immutable WORM storage</a:t>
            </a:r>
            <a:endParaRPr lang="en-US" sz="800" dirty="0"/>
          </a:p>
        </p:txBody>
      </p:sp>
      <p:sp>
        <p:nvSpPr>
          <p:cNvPr id="31" name="Text 28"/>
          <p:cNvSpPr/>
          <p:nvPr/>
        </p:nvSpPr>
        <p:spPr>
          <a:xfrm>
            <a:off x="6972300" y="1122238"/>
            <a:ext cx="1714500" cy="2728913"/>
          </a:xfrm>
          <a:prstGeom prst="roundRect">
            <a:avLst>
              <a:gd name="adj" fmla="val 4444"/>
            </a:avLst>
          </a:prstGeom>
          <a:solidFill>
            <a:srgbClr val="FFFFFF"/>
          </a:solidFill>
          <a:ln/>
        </p:spPr>
        <p:txBody>
          <a:bodyPr wrap="square" rtlCol="0" anchor="ctr"/>
          <a:lstStyle/>
          <a:p>
            <a:pPr marL="0" indent="0">
              <a:buNone/>
            </a:pPr>
            <a:endParaRPr lang="en-US" dirty="0"/>
          </a:p>
        </p:txBody>
      </p:sp>
      <p:sp>
        <p:nvSpPr>
          <p:cNvPr id="32" name="Shape 29"/>
          <p:cNvSpPr/>
          <p:nvPr/>
        </p:nvSpPr>
        <p:spPr>
          <a:xfrm>
            <a:off x="6972300" y="1125810"/>
            <a:ext cx="1714500" cy="0"/>
          </a:xfrm>
          <a:prstGeom prst="line">
            <a:avLst/>
          </a:prstGeom>
          <a:noFill/>
          <a:ln w="7144">
            <a:solidFill>
              <a:srgbClr val="D8DEE6"/>
            </a:solidFill>
            <a:prstDash val="solid"/>
          </a:ln>
        </p:spPr>
      </p:sp>
      <p:sp>
        <p:nvSpPr>
          <p:cNvPr id="33" name="Shape 30"/>
          <p:cNvSpPr/>
          <p:nvPr/>
        </p:nvSpPr>
        <p:spPr>
          <a:xfrm>
            <a:off x="8683228" y="1122238"/>
            <a:ext cx="0" cy="2728913"/>
          </a:xfrm>
          <a:prstGeom prst="line">
            <a:avLst/>
          </a:prstGeom>
          <a:noFill/>
          <a:ln w="7144">
            <a:solidFill>
              <a:srgbClr val="D8DEE6"/>
            </a:solidFill>
            <a:prstDash val="solid"/>
          </a:ln>
        </p:spPr>
      </p:sp>
      <p:sp>
        <p:nvSpPr>
          <p:cNvPr id="34" name="Shape 31"/>
          <p:cNvSpPr/>
          <p:nvPr/>
        </p:nvSpPr>
        <p:spPr>
          <a:xfrm>
            <a:off x="6972300" y="3847579"/>
            <a:ext cx="1714500" cy="0"/>
          </a:xfrm>
          <a:prstGeom prst="line">
            <a:avLst/>
          </a:prstGeom>
          <a:noFill/>
          <a:ln w="7144">
            <a:solidFill>
              <a:srgbClr val="D8DEE6"/>
            </a:solidFill>
            <a:prstDash val="solid"/>
          </a:ln>
        </p:spPr>
      </p:sp>
      <p:sp>
        <p:nvSpPr>
          <p:cNvPr id="35" name="Shape 32"/>
          <p:cNvSpPr/>
          <p:nvPr/>
        </p:nvSpPr>
        <p:spPr>
          <a:xfrm>
            <a:off x="6983016" y="1122238"/>
            <a:ext cx="0" cy="2728913"/>
          </a:xfrm>
          <a:prstGeom prst="line">
            <a:avLst/>
          </a:prstGeom>
          <a:noFill/>
          <a:ln w="21431">
            <a:solidFill>
              <a:srgbClr val="C9A961"/>
            </a:solidFill>
            <a:prstDash val="solid"/>
          </a:ln>
        </p:spPr>
      </p:sp>
      <p:sp>
        <p:nvSpPr>
          <p:cNvPr id="36" name="Text 33"/>
          <p:cNvSpPr/>
          <p:nvPr/>
        </p:nvSpPr>
        <p:spPr>
          <a:xfrm>
            <a:off x="7136606" y="1257970"/>
            <a:ext cx="1400175" cy="161877"/>
          </a:xfrm>
          <a:prstGeom prst="rect">
            <a:avLst/>
          </a:prstGeom>
          <a:noFill/>
          <a:ln/>
        </p:spPr>
        <p:txBody>
          <a:bodyPr wrap="none" lIns="0" tIns="0" rIns="0" bIns="0" rtlCol="0" anchor="t">
            <a:normAutofit/>
          </a:bodyPr>
          <a:lstStyle/>
          <a:p>
            <a:pPr marL="0" indent="0" algn="l">
              <a:lnSpc>
                <a:spcPts val="928"/>
              </a:lnSpc>
              <a:buNone/>
            </a:pPr>
            <a:r>
              <a:rPr lang="en-US" sz="800" kern="0" spc="74" dirty="0">
                <a:solidFill>
                  <a:srgbClr val="C9A961"/>
                </a:solidFill>
                <a:latin typeface="Carlito" pitchFamily="34" charset="0"/>
                <a:ea typeface="Carlito" pitchFamily="34" charset="-122"/>
                <a:cs typeface="Carlito" pitchFamily="34" charset="-120"/>
              </a:rPr>
              <a:t>LIVE EXAMPLE</a:t>
            </a:r>
            <a:endParaRPr lang="en-US" sz="800" dirty="0"/>
          </a:p>
        </p:txBody>
      </p:sp>
      <p:sp>
        <p:nvSpPr>
          <p:cNvPr id="37" name="Text 34"/>
          <p:cNvSpPr/>
          <p:nvPr/>
        </p:nvSpPr>
        <p:spPr>
          <a:xfrm>
            <a:off x="7136606" y="1447279"/>
            <a:ext cx="1400175" cy="1190549"/>
          </a:xfrm>
          <a:prstGeom prst="rect">
            <a:avLst/>
          </a:prstGeom>
          <a:noFill/>
          <a:ln/>
        </p:spPr>
        <p:txBody>
          <a:bodyPr wrap="square" lIns="0" tIns="0" rIns="0" bIns="0" rtlCol="0" anchor="t"/>
          <a:lstStyle/>
          <a:p>
            <a:pPr marL="0" indent="0" algn="l">
              <a:lnSpc>
                <a:spcPts val="1090"/>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Stuxnet (2010)</a:t>
            </a:r>
            <a:r>
              <a:rPr lang="en-US" sz="800" dirty="0">
                <a:solidFill>
                  <a:srgbClr val="4A5568"/>
                </a:solidFill>
                <a:latin typeface="Carlito" pitchFamily="34" charset="0"/>
                <a:ea typeface="Carlito" pitchFamily="34" charset="-122"/>
                <a:cs typeface="Carlito" pitchFamily="34" charset="-120"/>
              </a:rPr>
              <a:t> exploited weak update verification on Siemens S7-300 PLCs. The worm presented a forged WinCC driver signature, bypassing </a:t>
            </a:r>
            <a:r>
              <a:rPr lang="en-US" sz="800" dirty="0">
                <a:solidFill>
                  <a:srgbClr val="0F2A4A"/>
                </a:solidFill>
                <a:latin typeface="Liberation Sans Narrow" pitchFamily="34" charset="0"/>
                <a:ea typeface="Liberation Sans Narrow" pitchFamily="34" charset="-122"/>
                <a:cs typeface="Liberation Sans Narrow" pitchFamily="34" charset="-120"/>
              </a:rPr>
              <a:t>Layer 2</a:t>
            </a:r>
            <a:r>
              <a:rPr lang="en-US" sz="800" dirty="0">
                <a:solidFill>
                  <a:srgbClr val="4A5568"/>
                </a:solidFill>
                <a:latin typeface="Carlito" pitchFamily="34" charset="0"/>
                <a:ea typeface="Carlito" pitchFamily="34" charset="-122"/>
                <a:cs typeface="Carlito" pitchFamily="34" charset="-120"/>
              </a:rPr>
              <a:t> controls and ultimately damaging ~1,000 centrifuges at the Natanz facility.</a:t>
            </a:r>
            <a:endParaRPr lang="en-US" sz="800" dirty="0"/>
          </a:p>
        </p:txBody>
      </p:sp>
      <p:sp>
        <p:nvSpPr>
          <p:cNvPr id="38" name="Text 35"/>
          <p:cNvSpPr/>
          <p:nvPr/>
        </p:nvSpPr>
        <p:spPr>
          <a:xfrm>
            <a:off x="7113746" y="3492035"/>
            <a:ext cx="1243191" cy="236030"/>
          </a:xfrm>
          <a:prstGeom prst="roundRect">
            <a:avLst>
              <a:gd name="adj" fmla="val 4031468"/>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39" name="Text 36"/>
          <p:cNvSpPr/>
          <p:nvPr/>
        </p:nvSpPr>
        <p:spPr>
          <a:xfrm>
            <a:off x="7136606" y="3504679"/>
            <a:ext cx="1197471" cy="210741"/>
          </a:xfrm>
          <a:prstGeom prst="rect">
            <a:avLst/>
          </a:prstGeom>
          <a:noFill/>
          <a:ln/>
        </p:spPr>
        <p:txBody>
          <a:bodyPr wrap="none" lIns="0" tIns="0" rIns="0" bIns="0" rtlCol="0" anchor="ctr"/>
          <a:lstStyle/>
          <a:p>
            <a:pPr marL="0" indent="0" algn="ctr">
              <a:lnSpc>
                <a:spcPts val="1097"/>
              </a:lnSpc>
              <a:buNone/>
            </a:pPr>
            <a:r>
              <a:rPr lang="en-US" sz="800" dirty="0">
                <a:solidFill>
                  <a:srgbClr val="0F2A4A"/>
                </a:solidFill>
                <a:latin typeface="Carlito" pitchFamily="34" charset="0"/>
                <a:ea typeface="Carlito" pitchFamily="34" charset="-122"/>
                <a:cs typeface="Carlito" pitchFamily="34" charset="-120"/>
              </a:rPr>
              <a:t>App — Industrial Control</a:t>
            </a:r>
            <a:endParaRPr lang="en-US" sz="800" dirty="0"/>
          </a:p>
        </p:txBody>
      </p:sp>
      <p:sp>
        <p:nvSpPr>
          <p:cNvPr id="40" name="Text 37"/>
          <p:cNvSpPr/>
          <p:nvPr/>
        </p:nvSpPr>
        <p:spPr>
          <a:xfrm>
            <a:off x="457200" y="4897041"/>
            <a:ext cx="3365376"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Liberation Sans Narrow" pitchFamily="34" charset="0"/>
                <a:ea typeface="Liberation Sans Narrow" pitchFamily="34" charset="-122"/>
                <a:cs typeface="Liberation Sans Narrow" pitchFamily="34" charset="-120"/>
              </a:rPr>
              <a:t>IOT-SEC · 2026</a:t>
            </a:r>
            <a:endParaRPr lang="en-US" sz="800" dirty="0"/>
          </a:p>
        </p:txBody>
      </p:sp>
      <p:sp>
        <p:nvSpPr>
          <p:cNvPr id="41" name="Text 38"/>
          <p:cNvSpPr/>
          <p:nvPr/>
        </p:nvSpPr>
        <p:spPr>
          <a:xfrm>
            <a:off x="3836863" y="4897041"/>
            <a:ext cx="4533044"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Carlito" pitchFamily="34" charset="0"/>
                <a:ea typeface="Carlito" pitchFamily="34" charset="-122"/>
                <a:cs typeface="Carlito" pitchFamily="34" charset="-120"/>
              </a:rPr>
              <a:t>APPLICATION SECURITY · LAYERED STACK</a:t>
            </a:r>
            <a:endParaRPr lang="en-US" sz="800" dirty="0"/>
          </a:p>
        </p:txBody>
      </p:sp>
      <p:sp>
        <p:nvSpPr>
          <p:cNvPr id="42" name="Text 39"/>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10 / 21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464344"/>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416123"/>
            <a:ext cx="3505338" cy="164592"/>
          </a:xfrm>
          <a:prstGeom prst="rect">
            <a:avLst/>
          </a:prstGeom>
          <a:noFill/>
          <a:ln/>
        </p:spPr>
        <p:txBody>
          <a:bodyPr wrap="square" lIns="0" tIns="0" rIns="0" bIns="0" rtlCol="0" anchor="t"/>
          <a:lstStyle/>
          <a:p>
            <a:pPr marL="0" indent="0" algn="l">
              <a:lnSpc>
                <a:spcPts val="1097"/>
              </a:lnSpc>
              <a:buNone/>
            </a:pPr>
            <a:r>
              <a:rPr lang="en-US" sz="800" kern="0" spc="110" dirty="0">
                <a:solidFill>
                  <a:srgbClr val="C9A961"/>
                </a:solidFill>
                <a:latin typeface="Carlito" pitchFamily="34" charset="0"/>
                <a:ea typeface="Carlito" pitchFamily="34" charset="-122"/>
                <a:cs typeface="Carlito" pitchFamily="34" charset="-120"/>
              </a:rPr>
              <a:t>05 · APPLICATION PROCESS SECURITY &amp; SAFETY</a:t>
            </a:r>
            <a:endParaRPr lang="en-US" sz="800" dirty="0"/>
          </a:p>
        </p:txBody>
      </p:sp>
      <p:sp>
        <p:nvSpPr>
          <p:cNvPr id="5" name="Text 2"/>
          <p:cNvSpPr/>
          <p:nvPr/>
        </p:nvSpPr>
        <p:spPr>
          <a:xfrm>
            <a:off x="457200" y="628650"/>
            <a:ext cx="5431438" cy="277749"/>
          </a:xfrm>
          <a:prstGeom prst="rect">
            <a:avLst/>
          </a:prstGeom>
          <a:noFill/>
          <a:ln/>
        </p:spPr>
        <p:txBody>
          <a:bodyPr wrap="square" lIns="0" tIns="0" rIns="0" bIns="0" rtlCol="0" anchor="t"/>
          <a:lstStyle/>
          <a:p>
            <a:pPr marL="0" indent="0" algn="l">
              <a:lnSpc>
                <a:spcPts val="2025"/>
              </a:lnSpc>
              <a:buNone/>
            </a:pPr>
            <a:r>
              <a:rPr lang="en-US" sz="1688" kern="0" spc="-17" dirty="0">
                <a:solidFill>
                  <a:srgbClr val="0F2A4A"/>
                </a:solidFill>
                <a:latin typeface="Tinos" pitchFamily="34" charset="0"/>
                <a:ea typeface="Tinos" pitchFamily="34" charset="-122"/>
                <a:cs typeface="Tinos" pitchFamily="34" charset="-120"/>
              </a:rPr>
              <a:t>Security Meets Functional Safety</a:t>
            </a:r>
            <a:endParaRPr lang="en-US" sz="1688" dirty="0"/>
          </a:p>
        </p:txBody>
      </p:sp>
      <p:sp>
        <p:nvSpPr>
          <p:cNvPr id="6" name="Text 3"/>
          <p:cNvSpPr/>
          <p:nvPr/>
        </p:nvSpPr>
        <p:spPr>
          <a:xfrm>
            <a:off x="457200" y="971550"/>
            <a:ext cx="4572000" cy="509941"/>
          </a:xfrm>
          <a:prstGeom prst="rect">
            <a:avLst/>
          </a:prstGeom>
          <a:noFill/>
          <a:ln/>
        </p:spPr>
        <p:txBody>
          <a:bodyPr wrap="square" lIns="0" tIns="0" rIns="0" bIns="0" rtlCol="0" anchor="t"/>
          <a:lstStyle/>
          <a:p>
            <a:pPr marL="0" indent="0" algn="l">
              <a:lnSpc>
                <a:spcPts val="1221"/>
              </a:lnSpc>
              <a:buNone/>
            </a:pPr>
            <a:r>
              <a:rPr lang="en-US" sz="800" dirty="0">
                <a:solidFill>
                  <a:srgbClr val="4A5568"/>
                </a:solidFill>
                <a:latin typeface="Carlito" pitchFamily="34" charset="0"/>
                <a:ea typeface="Carlito" pitchFamily="34" charset="-122"/>
                <a:cs typeface="Carlito" pitchFamily="34" charset="-120"/>
              </a:rPr>
              <a:t>Process security is the discipline of preventing application-layer failures from causing physical harm. It is where cybersecurity meets functional safety — combining </a:t>
            </a:r>
            <a:r>
              <a:rPr lang="en-US" sz="800" b="1" dirty="0">
                <a:solidFill>
                  <a:srgbClr val="0F2A4A"/>
                </a:solidFill>
                <a:latin typeface="Liberation Sans Narrow" pitchFamily="34" charset="0"/>
                <a:ea typeface="Liberation Sans Narrow" pitchFamily="34" charset="-122"/>
                <a:cs typeface="Liberation Sans Narrow" pitchFamily="34" charset="-120"/>
              </a:rPr>
              <a:t>IEC 61508</a:t>
            </a:r>
            <a:r>
              <a:rPr lang="en-US" sz="800" dirty="0">
                <a:solidFill>
                  <a:srgbClr val="4A5568"/>
                </a:solidFill>
                <a:latin typeface="Carlito" pitchFamily="34" charset="0"/>
                <a:ea typeface="Carlito" pitchFamily="34" charset="-122"/>
                <a:cs typeface="Carlito" pitchFamily="34" charset="-120"/>
              </a:rPr>
              <a:t> (industrial) and </a:t>
            </a:r>
            <a:r>
              <a:rPr lang="en-US" sz="800" b="1" dirty="0">
                <a:solidFill>
                  <a:srgbClr val="0F2A4A"/>
                </a:solidFill>
                <a:latin typeface="Liberation Sans Narrow" pitchFamily="34" charset="0"/>
                <a:ea typeface="Liberation Sans Narrow" pitchFamily="34" charset="-122"/>
                <a:cs typeface="Liberation Sans Narrow" pitchFamily="34" charset="-120"/>
              </a:rPr>
              <a:t>ISO 26262</a:t>
            </a:r>
            <a:r>
              <a:rPr lang="en-US" sz="800" dirty="0">
                <a:solidFill>
                  <a:srgbClr val="4A5568"/>
                </a:solidFill>
                <a:latin typeface="Carlito" pitchFamily="34" charset="0"/>
                <a:ea typeface="Carlito" pitchFamily="34" charset="-122"/>
                <a:cs typeface="Carlito" pitchFamily="34" charset="-120"/>
              </a:rPr>
              <a:t> (automotive) with security controls to ensure that a hacked device fails safe, not dangerous.</a:t>
            </a:r>
            <a:endParaRPr lang="en-US" sz="800" dirty="0"/>
          </a:p>
        </p:txBody>
      </p:sp>
      <p:sp>
        <p:nvSpPr>
          <p:cNvPr id="7" name="Text 4"/>
          <p:cNvSpPr/>
          <p:nvPr/>
        </p:nvSpPr>
        <p:spPr>
          <a:xfrm>
            <a:off x="457200" y="1629221"/>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8" name="Text 5"/>
          <p:cNvSpPr/>
          <p:nvPr/>
        </p:nvSpPr>
        <p:spPr>
          <a:xfrm>
            <a:off x="671513" y="1622078"/>
            <a:ext cx="4723358" cy="164592"/>
          </a:xfrm>
          <a:prstGeom prst="rect">
            <a:avLst/>
          </a:prstGeom>
          <a:noFill/>
          <a:ln/>
        </p:spPr>
        <p:txBody>
          <a:bodyPr wrap="square" lIns="0" tIns="0" rIns="0" bIns="0" rtlCol="0" anchor="t"/>
          <a:lstStyle/>
          <a:p>
            <a:pPr marL="0" indent="0" algn="l">
              <a:lnSpc>
                <a:spcPts val="1139"/>
              </a:lnSpc>
              <a:buNone/>
            </a:pPr>
            <a:r>
              <a:rPr lang="en-US" sz="759" dirty="0">
                <a:solidFill>
                  <a:srgbClr val="0F2A4A"/>
                </a:solidFill>
                <a:latin typeface="Carlito" pitchFamily="34" charset="0"/>
                <a:ea typeface="Carlito" pitchFamily="34" charset="-122"/>
                <a:cs typeface="Carlito" pitchFamily="34" charset="-120"/>
              </a:rPr>
              <a:t>SIL</a:t>
            </a:r>
            <a:r>
              <a:rPr lang="en-US" sz="759" dirty="0">
                <a:solidFill>
                  <a:srgbClr val="4A5568"/>
                </a:solidFill>
                <a:latin typeface="Carlito" pitchFamily="34" charset="0"/>
                <a:ea typeface="Carlito" pitchFamily="34" charset="-122"/>
                <a:cs typeface="Carlito" pitchFamily="34" charset="-120"/>
              </a:rPr>
              <a:t> — Safety Integrity Level (1–4) sets the maximum tolerated probability of dangerous failure per hour.</a:t>
            </a:r>
            <a:endParaRPr lang="en-US" sz="759" dirty="0"/>
          </a:p>
        </p:txBody>
      </p:sp>
      <p:sp>
        <p:nvSpPr>
          <p:cNvPr id="9" name="Text 6"/>
          <p:cNvSpPr/>
          <p:nvPr/>
        </p:nvSpPr>
        <p:spPr>
          <a:xfrm>
            <a:off x="457200" y="1888182"/>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10" name="Text 7"/>
          <p:cNvSpPr/>
          <p:nvPr/>
        </p:nvSpPr>
        <p:spPr>
          <a:xfrm>
            <a:off x="671513" y="1881039"/>
            <a:ext cx="4723358" cy="329184"/>
          </a:xfrm>
          <a:prstGeom prst="rect">
            <a:avLst/>
          </a:prstGeom>
          <a:noFill/>
          <a:ln/>
        </p:spPr>
        <p:txBody>
          <a:bodyPr wrap="square" lIns="0" tIns="0" rIns="0" bIns="0" rtlCol="0" anchor="t"/>
          <a:lstStyle/>
          <a:p>
            <a:pPr marL="0" indent="0" algn="l">
              <a:lnSpc>
                <a:spcPts val="1139"/>
              </a:lnSpc>
              <a:buNone/>
            </a:pPr>
            <a:r>
              <a:rPr lang="en-US" sz="800" dirty="0">
                <a:solidFill>
                  <a:srgbClr val="0F2A4A"/>
                </a:solidFill>
                <a:latin typeface="Carlito" pitchFamily="34" charset="0"/>
                <a:ea typeface="Carlito" pitchFamily="34" charset="-122"/>
                <a:cs typeface="Carlito" pitchFamily="34" charset="-120"/>
              </a:rPr>
              <a:t>SIF</a:t>
            </a:r>
            <a:r>
              <a:rPr lang="en-US" sz="800" dirty="0">
                <a:solidFill>
                  <a:srgbClr val="4A5568"/>
                </a:solidFill>
                <a:latin typeface="Carlito" pitchFamily="34" charset="0"/>
                <a:ea typeface="Carlito" pitchFamily="34" charset="-122"/>
                <a:cs typeface="Carlito" pitchFamily="34" charset="-120"/>
              </a:rPr>
              <a:t> — Safety Instrumented Function is the specific function (e.g. emergency stop) that must execute on demand.</a:t>
            </a:r>
            <a:endParaRPr lang="en-US" sz="800" dirty="0"/>
          </a:p>
        </p:txBody>
      </p:sp>
      <p:sp>
        <p:nvSpPr>
          <p:cNvPr id="11" name="Text 8"/>
          <p:cNvSpPr/>
          <p:nvPr/>
        </p:nvSpPr>
        <p:spPr>
          <a:xfrm>
            <a:off x="457200" y="2291804"/>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12" name="Text 9"/>
          <p:cNvSpPr/>
          <p:nvPr/>
        </p:nvSpPr>
        <p:spPr>
          <a:xfrm>
            <a:off x="671513" y="2284661"/>
            <a:ext cx="4723358" cy="164592"/>
          </a:xfrm>
          <a:prstGeom prst="rect">
            <a:avLst/>
          </a:prstGeom>
          <a:noFill/>
          <a:ln/>
        </p:spPr>
        <p:txBody>
          <a:bodyPr wrap="square" lIns="0" tIns="0" rIns="0" bIns="0" rtlCol="0" anchor="t"/>
          <a:lstStyle/>
          <a:p>
            <a:pPr marL="0" indent="0" algn="l">
              <a:lnSpc>
                <a:spcPts val="1139"/>
              </a:lnSpc>
              <a:buNone/>
            </a:pPr>
            <a:r>
              <a:rPr lang="en-US" sz="759" dirty="0">
                <a:solidFill>
                  <a:srgbClr val="0F2A4A"/>
                </a:solidFill>
                <a:latin typeface="Carlito" pitchFamily="34" charset="0"/>
                <a:ea typeface="Carlito" pitchFamily="34" charset="-122"/>
                <a:cs typeface="Carlito" pitchFamily="34" charset="-120"/>
              </a:rPr>
              <a:t>Hazard Analysis</a:t>
            </a:r>
            <a:r>
              <a:rPr lang="en-US" sz="759" dirty="0">
                <a:solidFill>
                  <a:srgbClr val="4A5568"/>
                </a:solidFill>
                <a:latin typeface="Carlito" pitchFamily="34" charset="0"/>
                <a:ea typeface="Carlito" pitchFamily="34" charset="-122"/>
                <a:cs typeface="Carlito" pitchFamily="34" charset="-120"/>
              </a:rPr>
              <a:t> — HAZOP / FMEA identify failure modes; security threats are then layered on top.</a:t>
            </a:r>
            <a:endParaRPr lang="en-US" sz="759" dirty="0"/>
          </a:p>
        </p:txBody>
      </p:sp>
      <p:sp>
        <p:nvSpPr>
          <p:cNvPr id="13" name="Text 10"/>
          <p:cNvSpPr/>
          <p:nvPr/>
        </p:nvSpPr>
        <p:spPr>
          <a:xfrm>
            <a:off x="5655618" y="389334"/>
            <a:ext cx="3027611" cy="2093565"/>
          </a:xfrm>
          <a:prstGeom prst="roundRect">
            <a:avLst>
              <a:gd name="adj" fmla="val 3640"/>
            </a:avLst>
          </a:prstGeom>
          <a:solidFill>
            <a:srgbClr val="FFFFFF"/>
          </a:solidFill>
          <a:ln w="7144">
            <a:solidFill>
              <a:srgbClr val="D8DEE6"/>
            </a:solidFill>
            <a:prstDash val="solid"/>
          </a:ln>
        </p:spPr>
        <p:txBody>
          <a:bodyPr wrap="square" rtlCol="0" anchor="ctr"/>
          <a:lstStyle/>
          <a:p>
            <a:pPr marL="0" indent="0">
              <a:buNone/>
            </a:pPr>
            <a:endParaRPr lang="en-US" dirty="0"/>
          </a:p>
        </p:txBody>
      </p:sp>
      <p:sp>
        <p:nvSpPr>
          <p:cNvPr id="14" name="Shape 11"/>
          <p:cNvSpPr/>
          <p:nvPr/>
        </p:nvSpPr>
        <p:spPr>
          <a:xfrm>
            <a:off x="5802064" y="753666"/>
            <a:ext cx="2734717" cy="0"/>
          </a:xfrm>
          <a:prstGeom prst="line">
            <a:avLst/>
          </a:prstGeom>
          <a:noFill/>
          <a:ln w="7144">
            <a:solidFill>
              <a:srgbClr val="D8DEE6"/>
            </a:solidFill>
            <a:prstDash val="solid"/>
          </a:ln>
        </p:spPr>
      </p:sp>
      <p:sp>
        <p:nvSpPr>
          <p:cNvPr id="15" name="Text 12"/>
          <p:cNvSpPr/>
          <p:nvPr/>
        </p:nvSpPr>
        <p:spPr>
          <a:xfrm>
            <a:off x="5802064" y="535781"/>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16" name="Text 13"/>
          <p:cNvSpPr/>
          <p:nvPr/>
        </p:nvSpPr>
        <p:spPr>
          <a:xfrm>
            <a:off x="5987802" y="541139"/>
            <a:ext cx="2548979" cy="123230"/>
          </a:xfrm>
          <a:prstGeom prst="rect">
            <a:avLst/>
          </a:prstGeom>
          <a:noFill/>
          <a:ln/>
        </p:spPr>
        <p:txBody>
          <a:bodyPr wrap="square" lIns="0" tIns="0" rIns="0" bIns="0" rtlCol="0" anchor="t"/>
          <a:lstStyle/>
          <a:p>
            <a:pPr marL="0" indent="0" algn="l">
              <a:lnSpc>
                <a:spcPts val="928"/>
              </a:lnSpc>
              <a:buNone/>
            </a:pPr>
            <a:r>
              <a:rPr lang="en-US" sz="800" kern="0" spc="50" dirty="0">
                <a:solidFill>
                  <a:srgbClr val="C9A961"/>
                </a:solidFill>
                <a:latin typeface="Carlito" pitchFamily="34" charset="0"/>
                <a:ea typeface="Carlito" pitchFamily="34" charset="-122"/>
                <a:cs typeface="Carlito" pitchFamily="34" charset="-120"/>
              </a:rPr>
              <a:t>SIL CLASSIFICATION</a:t>
            </a:r>
            <a:endParaRPr lang="en-US" sz="800" dirty="0"/>
          </a:p>
        </p:txBody>
      </p:sp>
      <p:sp>
        <p:nvSpPr>
          <p:cNvPr id="17" name="Shape 14"/>
          <p:cNvSpPr/>
          <p:nvPr/>
        </p:nvSpPr>
        <p:spPr>
          <a:xfrm>
            <a:off x="5802064" y="1146572"/>
            <a:ext cx="2734717" cy="0"/>
          </a:xfrm>
          <a:prstGeom prst="line">
            <a:avLst/>
          </a:prstGeom>
          <a:noFill/>
          <a:ln w="7144">
            <a:solidFill>
              <a:srgbClr val="E5E9EE"/>
            </a:solidFill>
            <a:prstDash val="solid"/>
          </a:ln>
        </p:spPr>
      </p:sp>
      <p:sp>
        <p:nvSpPr>
          <p:cNvPr id="18" name="Text 15"/>
          <p:cNvSpPr/>
          <p:nvPr/>
        </p:nvSpPr>
        <p:spPr>
          <a:xfrm>
            <a:off x="5830639" y="864394"/>
            <a:ext cx="428625" cy="200025"/>
          </a:xfrm>
          <a:prstGeom prst="roundRect">
            <a:avLst>
              <a:gd name="adj" fmla="val 19048"/>
            </a:avLst>
          </a:prstGeom>
          <a:solidFill>
            <a:srgbClr val="B91C1C"/>
          </a:solidFill>
          <a:ln/>
        </p:spPr>
        <p:txBody>
          <a:bodyPr wrap="square" rtlCol="0" anchor="ctr"/>
          <a:lstStyle/>
          <a:p>
            <a:pPr marL="0" indent="0">
              <a:buNone/>
            </a:pPr>
            <a:endParaRPr lang="en-US" dirty="0"/>
          </a:p>
        </p:txBody>
      </p:sp>
      <p:sp>
        <p:nvSpPr>
          <p:cNvPr id="19" name="Text 16"/>
          <p:cNvSpPr/>
          <p:nvPr/>
        </p:nvSpPr>
        <p:spPr>
          <a:xfrm>
            <a:off x="5830639" y="864394"/>
            <a:ext cx="428625" cy="200025"/>
          </a:xfrm>
          <a:prstGeom prst="rect">
            <a:avLst/>
          </a:prstGeom>
          <a:noFill/>
          <a:ln/>
        </p:spPr>
        <p:txBody>
          <a:bodyPr wrap="none" lIns="0" tIns="0" rIns="0" bIns="0" rtlCol="0" anchor="ctr"/>
          <a:lstStyle/>
          <a:p>
            <a:pPr marL="0" indent="0" algn="ctr">
              <a:lnSpc>
                <a:spcPts val="1097"/>
              </a:lnSpc>
              <a:buNone/>
            </a:pPr>
            <a:r>
              <a:rPr lang="en-US" sz="800" b="1" kern="0" spc="29" dirty="0">
                <a:solidFill>
                  <a:srgbClr val="FFFFFF"/>
                </a:solidFill>
                <a:latin typeface="Liberation Sans Narrow" pitchFamily="34" charset="0"/>
                <a:ea typeface="Liberation Sans Narrow" pitchFamily="34" charset="-122"/>
                <a:cs typeface="Liberation Sans Narrow" pitchFamily="34" charset="-120"/>
              </a:rPr>
              <a:t>SIL 4</a:t>
            </a:r>
            <a:endParaRPr lang="en-US" sz="800" dirty="0"/>
          </a:p>
        </p:txBody>
      </p:sp>
      <p:sp>
        <p:nvSpPr>
          <p:cNvPr id="20" name="Text 17"/>
          <p:cNvSpPr/>
          <p:nvPr/>
        </p:nvSpPr>
        <p:spPr>
          <a:xfrm>
            <a:off x="6416427" y="901898"/>
            <a:ext cx="1739186" cy="153619"/>
          </a:xfrm>
          <a:prstGeom prst="rect">
            <a:avLst/>
          </a:prstGeom>
          <a:noFill/>
          <a:ln/>
        </p:spPr>
        <p:txBody>
          <a:bodyPr wrap="square" lIns="0" tIns="0" rIns="0" bIns="0" rtlCol="0" anchor="t"/>
          <a:lstStyle/>
          <a:p>
            <a:pPr marL="0" indent="0" algn="l">
              <a:lnSpc>
                <a:spcPts val="984"/>
              </a:lnSpc>
              <a:buNone/>
            </a:pPr>
            <a:r>
              <a:rPr lang="en-US" sz="703" dirty="0">
                <a:solidFill>
                  <a:srgbClr val="0F2A4A"/>
                </a:solidFill>
                <a:latin typeface="Carlito" pitchFamily="34" charset="0"/>
                <a:ea typeface="Carlito" pitchFamily="34" charset="-122"/>
                <a:cs typeface="Carlito" pitchFamily="34" charset="-120"/>
              </a:rPr>
              <a:t>Catastrophic</a:t>
            </a:r>
            <a:r>
              <a:rPr lang="en-US" sz="703" dirty="0">
                <a:solidFill>
                  <a:srgbClr val="4A5568"/>
                </a:solidFill>
                <a:latin typeface="Carlito" pitchFamily="34" charset="0"/>
                <a:ea typeface="Carlito" pitchFamily="34" charset="-122"/>
                <a:cs typeface="Carlito" pitchFamily="34" charset="-120"/>
              </a:rPr>
              <a:t> · Nuclear, aviation</a:t>
            </a:r>
            <a:endParaRPr lang="en-US" sz="703" dirty="0"/>
          </a:p>
        </p:txBody>
      </p:sp>
      <p:sp>
        <p:nvSpPr>
          <p:cNvPr id="21" name="Text 18"/>
          <p:cNvSpPr/>
          <p:nvPr/>
        </p:nvSpPr>
        <p:spPr>
          <a:xfrm>
            <a:off x="8064328" y="905470"/>
            <a:ext cx="492060" cy="158948"/>
          </a:xfrm>
          <a:prstGeom prst="rect">
            <a:avLst/>
          </a:prstGeom>
          <a:noFill/>
          <a:ln/>
        </p:spPr>
        <p:txBody>
          <a:bodyPr wrap="none" lIns="0" tIns="0" rIns="0" bIns="0" rtlCol="0" anchor="t"/>
          <a:lstStyle/>
          <a:p>
            <a:pPr marL="0" indent="0" algn="l">
              <a:lnSpc>
                <a:spcPts val="928"/>
              </a:lnSpc>
              <a:buNone/>
            </a:pPr>
            <a:r>
              <a:rPr lang="en-US" sz="619" kern="0" spc="19" dirty="0">
                <a:solidFill>
                  <a:srgbClr val="6B7280"/>
                </a:solidFill>
                <a:latin typeface="Courier New" pitchFamily="34" charset="0"/>
                <a:ea typeface="Courier New" pitchFamily="34" charset="-122"/>
                <a:cs typeface="Courier New" pitchFamily="34" charset="-120"/>
              </a:rPr>
              <a:t>PFD &lt; 10⁻⁴</a:t>
            </a:r>
            <a:endParaRPr lang="en-US" sz="619" dirty="0"/>
          </a:p>
        </p:txBody>
      </p:sp>
      <p:sp>
        <p:nvSpPr>
          <p:cNvPr id="22" name="Shape 19"/>
          <p:cNvSpPr/>
          <p:nvPr/>
        </p:nvSpPr>
        <p:spPr>
          <a:xfrm>
            <a:off x="5802064" y="1510903"/>
            <a:ext cx="2734717" cy="0"/>
          </a:xfrm>
          <a:prstGeom prst="line">
            <a:avLst/>
          </a:prstGeom>
          <a:noFill/>
          <a:ln w="7144">
            <a:solidFill>
              <a:srgbClr val="E5E9EE"/>
            </a:solidFill>
            <a:prstDash val="solid"/>
          </a:ln>
        </p:spPr>
      </p:sp>
      <p:sp>
        <p:nvSpPr>
          <p:cNvPr id="23" name="Text 20"/>
          <p:cNvSpPr/>
          <p:nvPr/>
        </p:nvSpPr>
        <p:spPr>
          <a:xfrm>
            <a:off x="5830639" y="1228725"/>
            <a:ext cx="428625" cy="200025"/>
          </a:xfrm>
          <a:prstGeom prst="roundRect">
            <a:avLst>
              <a:gd name="adj" fmla="val 19048"/>
            </a:avLst>
          </a:prstGeom>
          <a:solidFill>
            <a:srgbClr val="B45309"/>
          </a:solidFill>
          <a:ln/>
        </p:spPr>
        <p:txBody>
          <a:bodyPr wrap="square" rtlCol="0" anchor="ctr"/>
          <a:lstStyle/>
          <a:p>
            <a:pPr marL="0" indent="0">
              <a:buNone/>
            </a:pPr>
            <a:endParaRPr lang="en-US" dirty="0"/>
          </a:p>
        </p:txBody>
      </p:sp>
      <p:sp>
        <p:nvSpPr>
          <p:cNvPr id="24" name="Text 21"/>
          <p:cNvSpPr/>
          <p:nvPr/>
        </p:nvSpPr>
        <p:spPr>
          <a:xfrm>
            <a:off x="5830639" y="1228725"/>
            <a:ext cx="428625" cy="200025"/>
          </a:xfrm>
          <a:prstGeom prst="rect">
            <a:avLst/>
          </a:prstGeom>
          <a:noFill/>
          <a:ln/>
        </p:spPr>
        <p:txBody>
          <a:bodyPr wrap="none" lIns="0" tIns="0" rIns="0" bIns="0" rtlCol="0" anchor="ctr"/>
          <a:lstStyle/>
          <a:p>
            <a:pPr marL="0" indent="0" algn="ctr">
              <a:lnSpc>
                <a:spcPts val="1097"/>
              </a:lnSpc>
              <a:buNone/>
            </a:pPr>
            <a:r>
              <a:rPr lang="en-US" sz="800" b="1" kern="0" spc="29" dirty="0">
                <a:solidFill>
                  <a:srgbClr val="FFFFFF"/>
                </a:solidFill>
                <a:latin typeface="Liberation Sans Narrow" pitchFamily="34" charset="0"/>
                <a:ea typeface="Liberation Sans Narrow" pitchFamily="34" charset="-122"/>
                <a:cs typeface="Liberation Sans Narrow" pitchFamily="34" charset="-120"/>
              </a:rPr>
              <a:t>SIL 3</a:t>
            </a:r>
            <a:endParaRPr lang="en-US" sz="800" dirty="0"/>
          </a:p>
        </p:txBody>
      </p:sp>
      <p:sp>
        <p:nvSpPr>
          <p:cNvPr id="25" name="Text 22"/>
          <p:cNvSpPr/>
          <p:nvPr/>
        </p:nvSpPr>
        <p:spPr>
          <a:xfrm>
            <a:off x="6416427" y="1266230"/>
            <a:ext cx="1740151" cy="153619"/>
          </a:xfrm>
          <a:prstGeom prst="rect">
            <a:avLst/>
          </a:prstGeom>
          <a:noFill/>
          <a:ln/>
        </p:spPr>
        <p:txBody>
          <a:bodyPr wrap="square" lIns="0" tIns="0" rIns="0" bIns="0" rtlCol="0" anchor="t"/>
          <a:lstStyle/>
          <a:p>
            <a:pPr marL="0" indent="0" algn="l">
              <a:lnSpc>
                <a:spcPts val="984"/>
              </a:lnSpc>
              <a:buNone/>
            </a:pPr>
            <a:r>
              <a:rPr lang="en-US" sz="703" dirty="0">
                <a:solidFill>
                  <a:srgbClr val="0F2A4A"/>
                </a:solidFill>
                <a:latin typeface="Carlito" pitchFamily="34" charset="0"/>
                <a:ea typeface="Carlito" pitchFamily="34" charset="-122"/>
                <a:cs typeface="Carlito" pitchFamily="34" charset="-120"/>
              </a:rPr>
              <a:t>Severe</a:t>
            </a:r>
            <a:r>
              <a:rPr lang="en-US" sz="703" dirty="0">
                <a:solidFill>
                  <a:srgbClr val="4A5568"/>
                </a:solidFill>
                <a:latin typeface="Carlito" pitchFamily="34" charset="0"/>
                <a:ea typeface="Carlito" pitchFamily="34" charset="-122"/>
                <a:cs typeface="Carlito" pitchFamily="34" charset="-120"/>
              </a:rPr>
              <a:t> · Railway signalling, refinery</a:t>
            </a:r>
            <a:endParaRPr lang="en-US" sz="703" dirty="0"/>
          </a:p>
        </p:txBody>
      </p:sp>
      <p:sp>
        <p:nvSpPr>
          <p:cNvPr id="26" name="Text 23"/>
          <p:cNvSpPr/>
          <p:nvPr/>
        </p:nvSpPr>
        <p:spPr>
          <a:xfrm>
            <a:off x="8064774" y="1269802"/>
            <a:ext cx="492060" cy="158948"/>
          </a:xfrm>
          <a:prstGeom prst="rect">
            <a:avLst/>
          </a:prstGeom>
          <a:noFill/>
          <a:ln/>
        </p:spPr>
        <p:txBody>
          <a:bodyPr wrap="none" lIns="0" tIns="0" rIns="0" bIns="0" rtlCol="0" anchor="t"/>
          <a:lstStyle/>
          <a:p>
            <a:pPr marL="0" indent="0" algn="l">
              <a:lnSpc>
                <a:spcPts val="928"/>
              </a:lnSpc>
              <a:buNone/>
            </a:pPr>
            <a:r>
              <a:rPr lang="en-US" sz="619" kern="0" spc="19" dirty="0">
                <a:solidFill>
                  <a:srgbClr val="6B7280"/>
                </a:solidFill>
                <a:latin typeface="Courier New" pitchFamily="34" charset="0"/>
                <a:ea typeface="Courier New" pitchFamily="34" charset="-122"/>
                <a:cs typeface="Courier New" pitchFamily="34" charset="-120"/>
              </a:rPr>
              <a:t>PFD &lt; 10⁻³</a:t>
            </a:r>
            <a:endParaRPr lang="en-US" sz="619" dirty="0"/>
          </a:p>
        </p:txBody>
      </p:sp>
      <p:sp>
        <p:nvSpPr>
          <p:cNvPr id="27" name="Shape 24"/>
          <p:cNvSpPr/>
          <p:nvPr/>
        </p:nvSpPr>
        <p:spPr>
          <a:xfrm>
            <a:off x="5802064" y="1875234"/>
            <a:ext cx="2734717" cy="0"/>
          </a:xfrm>
          <a:prstGeom prst="line">
            <a:avLst/>
          </a:prstGeom>
          <a:noFill/>
          <a:ln w="7144">
            <a:solidFill>
              <a:srgbClr val="E5E9EE"/>
            </a:solidFill>
            <a:prstDash val="solid"/>
          </a:ln>
        </p:spPr>
      </p:sp>
      <p:sp>
        <p:nvSpPr>
          <p:cNvPr id="28" name="Text 25"/>
          <p:cNvSpPr/>
          <p:nvPr/>
        </p:nvSpPr>
        <p:spPr>
          <a:xfrm>
            <a:off x="5830639" y="1593056"/>
            <a:ext cx="428625" cy="200025"/>
          </a:xfrm>
          <a:prstGeom prst="roundRect">
            <a:avLst>
              <a:gd name="adj" fmla="val 19048"/>
            </a:avLst>
          </a:prstGeom>
          <a:solidFill>
            <a:srgbClr val="C9A961"/>
          </a:solidFill>
          <a:ln/>
        </p:spPr>
        <p:txBody>
          <a:bodyPr wrap="square" rtlCol="0" anchor="ctr"/>
          <a:lstStyle/>
          <a:p>
            <a:pPr marL="0" indent="0">
              <a:buNone/>
            </a:pPr>
            <a:endParaRPr lang="en-US" dirty="0"/>
          </a:p>
        </p:txBody>
      </p:sp>
      <p:sp>
        <p:nvSpPr>
          <p:cNvPr id="29" name="Text 26"/>
          <p:cNvSpPr/>
          <p:nvPr/>
        </p:nvSpPr>
        <p:spPr>
          <a:xfrm>
            <a:off x="5830639" y="1593056"/>
            <a:ext cx="428625" cy="200025"/>
          </a:xfrm>
          <a:prstGeom prst="rect">
            <a:avLst/>
          </a:prstGeom>
          <a:noFill/>
          <a:ln/>
        </p:spPr>
        <p:txBody>
          <a:bodyPr wrap="none" lIns="0" tIns="0" rIns="0" bIns="0" rtlCol="0" anchor="ctr"/>
          <a:lstStyle/>
          <a:p>
            <a:pPr marL="0" indent="0" algn="ctr">
              <a:lnSpc>
                <a:spcPts val="1097"/>
              </a:lnSpc>
              <a:buNone/>
            </a:pPr>
            <a:r>
              <a:rPr lang="en-US" sz="800" b="1" kern="0" spc="29" dirty="0">
                <a:solidFill>
                  <a:srgbClr val="0F2A4A"/>
                </a:solidFill>
                <a:latin typeface="Liberation Sans Narrow" pitchFamily="34" charset="0"/>
                <a:ea typeface="Liberation Sans Narrow" pitchFamily="34" charset="-122"/>
                <a:cs typeface="Liberation Sans Narrow" pitchFamily="34" charset="-120"/>
              </a:rPr>
              <a:t>SIL 2</a:t>
            </a:r>
            <a:endParaRPr lang="en-US" sz="800" dirty="0"/>
          </a:p>
        </p:txBody>
      </p:sp>
      <p:sp>
        <p:nvSpPr>
          <p:cNvPr id="30" name="Text 27"/>
          <p:cNvSpPr/>
          <p:nvPr/>
        </p:nvSpPr>
        <p:spPr>
          <a:xfrm>
            <a:off x="6416427" y="1630561"/>
            <a:ext cx="1740151" cy="153619"/>
          </a:xfrm>
          <a:prstGeom prst="rect">
            <a:avLst/>
          </a:prstGeom>
          <a:noFill/>
          <a:ln/>
        </p:spPr>
        <p:txBody>
          <a:bodyPr wrap="square" lIns="0" tIns="0" rIns="0" bIns="0" rtlCol="0" anchor="t"/>
          <a:lstStyle/>
          <a:p>
            <a:pPr marL="0" indent="0" algn="l">
              <a:lnSpc>
                <a:spcPts val="984"/>
              </a:lnSpc>
              <a:buNone/>
            </a:pPr>
            <a:r>
              <a:rPr lang="en-US" sz="703" dirty="0">
                <a:solidFill>
                  <a:srgbClr val="0F2A4A"/>
                </a:solidFill>
                <a:latin typeface="Carlito" pitchFamily="34" charset="0"/>
                <a:ea typeface="Carlito" pitchFamily="34" charset="-122"/>
                <a:cs typeface="Carlito" pitchFamily="34" charset="-120"/>
              </a:rPr>
              <a:t>Serious</a:t>
            </a:r>
            <a:r>
              <a:rPr lang="en-US" sz="703" dirty="0">
                <a:solidFill>
                  <a:srgbClr val="4A5568"/>
                </a:solidFill>
                <a:latin typeface="Carlito" pitchFamily="34" charset="0"/>
                <a:ea typeface="Carlito" pitchFamily="34" charset="-122"/>
                <a:cs typeface="Carlito" pitchFamily="34" charset="-120"/>
              </a:rPr>
              <a:t> · Industrial boiler, escalator</a:t>
            </a:r>
            <a:endParaRPr lang="en-US" sz="703" dirty="0"/>
          </a:p>
        </p:txBody>
      </p:sp>
      <p:sp>
        <p:nvSpPr>
          <p:cNvPr id="31" name="Text 28"/>
          <p:cNvSpPr/>
          <p:nvPr/>
        </p:nvSpPr>
        <p:spPr>
          <a:xfrm>
            <a:off x="8064774" y="1634133"/>
            <a:ext cx="492060" cy="158948"/>
          </a:xfrm>
          <a:prstGeom prst="rect">
            <a:avLst/>
          </a:prstGeom>
          <a:noFill/>
          <a:ln/>
        </p:spPr>
        <p:txBody>
          <a:bodyPr wrap="none" lIns="0" tIns="0" rIns="0" bIns="0" rtlCol="0" anchor="t"/>
          <a:lstStyle/>
          <a:p>
            <a:pPr marL="0" indent="0" algn="l">
              <a:lnSpc>
                <a:spcPts val="928"/>
              </a:lnSpc>
              <a:buNone/>
            </a:pPr>
            <a:r>
              <a:rPr lang="en-US" sz="619" kern="0" spc="19" dirty="0">
                <a:solidFill>
                  <a:srgbClr val="6B7280"/>
                </a:solidFill>
                <a:latin typeface="Courier New" pitchFamily="34" charset="0"/>
                <a:ea typeface="Courier New" pitchFamily="34" charset="-122"/>
                <a:cs typeface="Courier New" pitchFamily="34" charset="-120"/>
              </a:rPr>
              <a:t>PFD &lt; 10⁻²</a:t>
            </a:r>
            <a:endParaRPr lang="en-US" sz="619" dirty="0"/>
          </a:p>
        </p:txBody>
      </p:sp>
      <p:sp>
        <p:nvSpPr>
          <p:cNvPr id="32" name="Text 29"/>
          <p:cNvSpPr/>
          <p:nvPr/>
        </p:nvSpPr>
        <p:spPr>
          <a:xfrm>
            <a:off x="5830639" y="1957388"/>
            <a:ext cx="428625" cy="200025"/>
          </a:xfrm>
          <a:prstGeom prst="roundRect">
            <a:avLst>
              <a:gd name="adj" fmla="val 19048"/>
            </a:avLst>
          </a:prstGeom>
          <a:solidFill>
            <a:srgbClr val="0F2A4A"/>
          </a:solidFill>
          <a:ln/>
        </p:spPr>
        <p:txBody>
          <a:bodyPr wrap="square" rtlCol="0" anchor="ctr"/>
          <a:lstStyle/>
          <a:p>
            <a:pPr marL="0" indent="0">
              <a:buNone/>
            </a:pPr>
            <a:endParaRPr lang="en-US" dirty="0"/>
          </a:p>
        </p:txBody>
      </p:sp>
      <p:sp>
        <p:nvSpPr>
          <p:cNvPr id="33" name="Text 30"/>
          <p:cNvSpPr/>
          <p:nvPr/>
        </p:nvSpPr>
        <p:spPr>
          <a:xfrm>
            <a:off x="5830639" y="1957388"/>
            <a:ext cx="428625" cy="200025"/>
          </a:xfrm>
          <a:prstGeom prst="rect">
            <a:avLst/>
          </a:prstGeom>
          <a:noFill/>
          <a:ln/>
        </p:spPr>
        <p:txBody>
          <a:bodyPr wrap="none" lIns="0" tIns="0" rIns="0" bIns="0" rtlCol="0" anchor="ctr"/>
          <a:lstStyle/>
          <a:p>
            <a:pPr marL="0" indent="0" algn="ctr">
              <a:lnSpc>
                <a:spcPts val="1097"/>
              </a:lnSpc>
              <a:buNone/>
            </a:pPr>
            <a:r>
              <a:rPr lang="en-US" sz="800" b="1" kern="0" spc="29" dirty="0">
                <a:solidFill>
                  <a:srgbClr val="FFFFFF"/>
                </a:solidFill>
                <a:latin typeface="Liberation Sans Narrow" pitchFamily="34" charset="0"/>
                <a:ea typeface="Liberation Sans Narrow" pitchFamily="34" charset="-122"/>
                <a:cs typeface="Liberation Sans Narrow" pitchFamily="34" charset="-120"/>
              </a:rPr>
              <a:t>SIL 1</a:t>
            </a:r>
            <a:endParaRPr lang="en-US" sz="800" dirty="0"/>
          </a:p>
        </p:txBody>
      </p:sp>
      <p:sp>
        <p:nvSpPr>
          <p:cNvPr id="34" name="Text 31"/>
          <p:cNvSpPr/>
          <p:nvPr/>
        </p:nvSpPr>
        <p:spPr>
          <a:xfrm>
            <a:off x="6416427" y="1994892"/>
            <a:ext cx="1691813" cy="153619"/>
          </a:xfrm>
          <a:prstGeom prst="rect">
            <a:avLst/>
          </a:prstGeom>
          <a:noFill/>
          <a:ln/>
        </p:spPr>
        <p:txBody>
          <a:bodyPr wrap="none" lIns="0" tIns="0" rIns="0" bIns="0" rtlCol="0" anchor="t"/>
          <a:lstStyle/>
          <a:p>
            <a:pPr marL="0" indent="0" algn="l">
              <a:lnSpc>
                <a:spcPts val="984"/>
              </a:lnSpc>
              <a:buNone/>
            </a:pPr>
            <a:r>
              <a:rPr lang="en-US" sz="800" dirty="0">
                <a:solidFill>
                  <a:srgbClr val="0F2A4A"/>
                </a:solidFill>
                <a:latin typeface="Carlito" pitchFamily="34" charset="0"/>
                <a:ea typeface="Carlito" pitchFamily="34" charset="-122"/>
                <a:cs typeface="Carlito" pitchFamily="34" charset="-120"/>
              </a:rPr>
              <a:t>Minor</a:t>
            </a:r>
            <a:r>
              <a:rPr lang="en-US" sz="800" dirty="0">
                <a:solidFill>
                  <a:srgbClr val="4A5568"/>
                </a:solidFill>
                <a:latin typeface="Carlito" pitchFamily="34" charset="0"/>
                <a:ea typeface="Carlito" pitchFamily="34" charset="-122"/>
                <a:cs typeface="Carlito" pitchFamily="34" charset="-120"/>
              </a:rPr>
              <a:t> · HVAC, lighting</a:t>
            </a:r>
            <a:endParaRPr lang="en-US" sz="800" dirty="0"/>
          </a:p>
        </p:txBody>
      </p:sp>
      <p:sp>
        <p:nvSpPr>
          <p:cNvPr id="35" name="Text 32"/>
          <p:cNvSpPr/>
          <p:nvPr/>
        </p:nvSpPr>
        <p:spPr>
          <a:xfrm>
            <a:off x="8079062" y="1998464"/>
            <a:ext cx="492060" cy="164592"/>
          </a:xfrm>
          <a:prstGeom prst="rect">
            <a:avLst/>
          </a:prstGeom>
          <a:noFill/>
          <a:ln/>
        </p:spPr>
        <p:txBody>
          <a:bodyPr wrap="none" lIns="0" tIns="0" rIns="0" bIns="0" rtlCol="0" anchor="t"/>
          <a:lstStyle/>
          <a:p>
            <a:pPr marL="0" indent="0" algn="l">
              <a:lnSpc>
                <a:spcPts val="928"/>
              </a:lnSpc>
              <a:buNone/>
            </a:pPr>
            <a:r>
              <a:rPr lang="en-US" sz="619" kern="0" spc="19" dirty="0">
                <a:solidFill>
                  <a:srgbClr val="6B7280"/>
                </a:solidFill>
                <a:latin typeface="Courier New" pitchFamily="34" charset="0"/>
                <a:ea typeface="Courier New" pitchFamily="34" charset="-122"/>
                <a:cs typeface="Courier New" pitchFamily="34" charset="-120"/>
              </a:rPr>
              <a:t>PFD &lt; 10⁻¹</a:t>
            </a:r>
            <a:endParaRPr lang="en-US" sz="619" dirty="0"/>
          </a:p>
        </p:txBody>
      </p:sp>
      <p:sp>
        <p:nvSpPr>
          <p:cNvPr id="36" name="Text 33"/>
          <p:cNvSpPr/>
          <p:nvPr/>
        </p:nvSpPr>
        <p:spPr>
          <a:xfrm>
            <a:off x="457200" y="2615059"/>
            <a:ext cx="8229600" cy="453628"/>
          </a:xfrm>
          <a:prstGeom prst="roundRect">
            <a:avLst>
              <a:gd name="adj" fmla="val 16798"/>
            </a:avLst>
          </a:prstGeom>
          <a:solidFill>
            <a:srgbClr val="FFFFFF"/>
          </a:solidFill>
          <a:ln/>
        </p:spPr>
        <p:txBody>
          <a:bodyPr wrap="square" rtlCol="0" anchor="ctr"/>
          <a:lstStyle/>
          <a:p>
            <a:pPr marL="0" indent="0">
              <a:buNone/>
            </a:pPr>
            <a:endParaRPr lang="en-US" dirty="0"/>
          </a:p>
        </p:txBody>
      </p:sp>
      <p:sp>
        <p:nvSpPr>
          <p:cNvPr id="37" name="Shape 34"/>
          <p:cNvSpPr/>
          <p:nvPr/>
        </p:nvSpPr>
        <p:spPr>
          <a:xfrm>
            <a:off x="457200" y="2618631"/>
            <a:ext cx="8229600" cy="0"/>
          </a:xfrm>
          <a:prstGeom prst="line">
            <a:avLst/>
          </a:prstGeom>
          <a:noFill/>
          <a:ln w="7144">
            <a:solidFill>
              <a:srgbClr val="D8DEE6"/>
            </a:solidFill>
            <a:prstDash val="solid"/>
          </a:ln>
        </p:spPr>
      </p:sp>
      <p:sp>
        <p:nvSpPr>
          <p:cNvPr id="38" name="Shape 35"/>
          <p:cNvSpPr/>
          <p:nvPr/>
        </p:nvSpPr>
        <p:spPr>
          <a:xfrm>
            <a:off x="8683228" y="2615059"/>
            <a:ext cx="0" cy="453628"/>
          </a:xfrm>
          <a:prstGeom prst="line">
            <a:avLst/>
          </a:prstGeom>
          <a:noFill/>
          <a:ln w="7144">
            <a:solidFill>
              <a:srgbClr val="D8DEE6"/>
            </a:solidFill>
            <a:prstDash val="solid"/>
          </a:ln>
        </p:spPr>
      </p:sp>
      <p:sp>
        <p:nvSpPr>
          <p:cNvPr id="39" name="Shape 36"/>
          <p:cNvSpPr/>
          <p:nvPr/>
        </p:nvSpPr>
        <p:spPr>
          <a:xfrm>
            <a:off x="457200" y="3065115"/>
            <a:ext cx="8229600" cy="0"/>
          </a:xfrm>
          <a:prstGeom prst="line">
            <a:avLst/>
          </a:prstGeom>
          <a:noFill/>
          <a:ln w="7144">
            <a:solidFill>
              <a:srgbClr val="D8DEE6"/>
            </a:solidFill>
            <a:prstDash val="solid"/>
          </a:ln>
        </p:spPr>
      </p:sp>
      <p:sp>
        <p:nvSpPr>
          <p:cNvPr id="40" name="Shape 37"/>
          <p:cNvSpPr/>
          <p:nvPr/>
        </p:nvSpPr>
        <p:spPr>
          <a:xfrm>
            <a:off x="467916" y="2615059"/>
            <a:ext cx="0" cy="453628"/>
          </a:xfrm>
          <a:prstGeom prst="line">
            <a:avLst/>
          </a:prstGeom>
          <a:noFill/>
          <a:ln w="21431">
            <a:solidFill>
              <a:srgbClr val="C9A961"/>
            </a:solidFill>
            <a:prstDash val="solid"/>
          </a:ln>
        </p:spPr>
      </p:sp>
      <p:sp>
        <p:nvSpPr>
          <p:cNvPr id="41" name="Text 38"/>
          <p:cNvSpPr/>
          <p:nvPr/>
        </p:nvSpPr>
        <p:spPr>
          <a:xfrm>
            <a:off x="607219" y="2763292"/>
            <a:ext cx="157163" cy="157163"/>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42" name="Text 39"/>
          <p:cNvSpPr/>
          <p:nvPr/>
        </p:nvSpPr>
        <p:spPr>
          <a:xfrm>
            <a:off x="864394" y="2707928"/>
            <a:ext cx="7686675" cy="267891"/>
          </a:xfrm>
          <a:prstGeom prst="rect">
            <a:avLst/>
          </a:prstGeom>
          <a:noFill/>
          <a:ln/>
        </p:spPr>
        <p:txBody>
          <a:bodyPr wrap="square" lIns="0" tIns="0" rIns="0" bIns="0" rtlCol="0" anchor="t"/>
          <a:lstStyle/>
          <a:p>
            <a:pPr marL="0" indent="0" algn="l">
              <a:lnSpc>
                <a:spcPts val="1055"/>
              </a:lnSpc>
              <a:buNone/>
            </a:pPr>
            <a:r>
              <a:rPr lang="en-US" sz="800" b="1" kern="0" spc="50" dirty="0">
                <a:solidFill>
                  <a:srgbClr val="0F2A4A"/>
                </a:solidFill>
                <a:latin typeface="Carlito" pitchFamily="34" charset="0"/>
                <a:ea typeface="Carlito" pitchFamily="34" charset="-122"/>
                <a:cs typeface="Carlito" pitchFamily="34" charset="-120"/>
              </a:rPr>
              <a:t>LIVE EXAMPLE</a:t>
            </a:r>
            <a:r>
              <a:rPr lang="en-US" sz="800" dirty="0">
                <a:solidFill>
                  <a:srgbClr val="4A5568"/>
                </a:solidFill>
                <a:latin typeface="Carlito" pitchFamily="34" charset="0"/>
                <a:ea typeface="Carlito" pitchFamily="34" charset="-122"/>
                <a:cs typeface="Carlito" pitchFamily="34" charset="-120"/>
              </a:rPr>
              <a:t> — </a:t>
            </a:r>
            <a:r>
              <a:rPr lang="en-US" sz="800" b="1" dirty="0">
                <a:solidFill>
                  <a:srgbClr val="0F2A4A"/>
                </a:solidFill>
                <a:latin typeface="Liberation Sans Narrow" pitchFamily="34" charset="0"/>
                <a:ea typeface="Liberation Sans Narrow" pitchFamily="34" charset="-122"/>
                <a:cs typeface="Liberation Sans Narrow" pitchFamily="34" charset="-120"/>
              </a:rPr>
              <a:t>Therac-25 (1986):</a:t>
            </a:r>
            <a:r>
              <a:rPr lang="en-US" sz="800" dirty="0">
                <a:solidFill>
                  <a:srgbClr val="4A5568"/>
                </a:solidFill>
                <a:latin typeface="Carlito" pitchFamily="34" charset="0"/>
                <a:ea typeface="Carlito" pitchFamily="34" charset="-122"/>
                <a:cs typeface="Carlito" pitchFamily="34" charset="-120"/>
              </a:rPr>
              <a:t> a software race condition in a radiation-therapy machine delivered lethal overdoses to 6 patients. No hardware interlock existed because developers trusted software alone — a SIL-4 system built without defense in depth.</a:t>
            </a:r>
            <a:endParaRPr lang="en-US" sz="800" dirty="0"/>
          </a:p>
        </p:txBody>
      </p:sp>
      <p:sp>
        <p:nvSpPr>
          <p:cNvPr id="43" name="Text 40"/>
          <p:cNvSpPr/>
          <p:nvPr/>
        </p:nvSpPr>
        <p:spPr>
          <a:xfrm>
            <a:off x="457200" y="4897041"/>
            <a:ext cx="3626904"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Liberation Sans Narrow" pitchFamily="34" charset="0"/>
                <a:ea typeface="Liberation Sans Narrow" pitchFamily="34" charset="-122"/>
                <a:cs typeface="Liberation Sans Narrow" pitchFamily="34" charset="-120"/>
              </a:rPr>
              <a:t>IOT-SEC · 2026</a:t>
            </a:r>
            <a:endParaRPr lang="en-US" sz="800" dirty="0"/>
          </a:p>
        </p:txBody>
      </p:sp>
      <p:sp>
        <p:nvSpPr>
          <p:cNvPr id="44" name="Text 41"/>
          <p:cNvSpPr/>
          <p:nvPr/>
        </p:nvSpPr>
        <p:spPr>
          <a:xfrm>
            <a:off x="4098392" y="4897041"/>
            <a:ext cx="4271516"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6B7280"/>
                </a:solidFill>
                <a:latin typeface="Carlito" pitchFamily="34" charset="0"/>
                <a:ea typeface="Carlito" pitchFamily="34" charset="-122"/>
                <a:cs typeface="Carlito" pitchFamily="34" charset="-120"/>
              </a:rPr>
              <a:t>PROCESS SAFETY · CONCEPT</a:t>
            </a:r>
            <a:endParaRPr lang="en-US" sz="800" dirty="0"/>
          </a:p>
        </p:txBody>
      </p:sp>
      <p:sp>
        <p:nvSpPr>
          <p:cNvPr id="45" name="Text 42"/>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11 / 21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464344"/>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416123"/>
            <a:ext cx="1950247" cy="156520"/>
          </a:xfrm>
          <a:prstGeom prst="rect">
            <a:avLst/>
          </a:prstGeom>
          <a:noFill/>
          <a:ln/>
        </p:spPr>
        <p:txBody>
          <a:bodyPr wrap="non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05 · PROCESS SAFETY</a:t>
            </a:r>
            <a:endParaRPr lang="en-US" sz="800" dirty="0"/>
          </a:p>
        </p:txBody>
      </p:sp>
      <p:sp>
        <p:nvSpPr>
          <p:cNvPr id="5" name="Text 2"/>
          <p:cNvSpPr/>
          <p:nvPr/>
        </p:nvSpPr>
        <p:spPr>
          <a:xfrm>
            <a:off x="457200" y="600075"/>
            <a:ext cx="8636000" cy="198266"/>
          </a:xfrm>
          <a:prstGeom prst="rect">
            <a:avLst/>
          </a:prstGeom>
          <a:noFill/>
          <a:ln/>
        </p:spPr>
        <p:txBody>
          <a:bodyPr wrap="square" lIns="0" tIns="0" rIns="0" bIns="0" rtlCol="0" anchor="t">
            <a:normAutofit/>
          </a:bodyPr>
          <a:lstStyle/>
          <a:p>
            <a:pPr marL="0" indent="0" algn="l">
              <a:lnSpc>
                <a:spcPts val="1553"/>
              </a:lnSpc>
              <a:buNone/>
            </a:pPr>
            <a:r>
              <a:rPr lang="en-US" sz="1350" kern="0" spc="-13" dirty="0">
                <a:solidFill>
                  <a:srgbClr val="0F2A4A"/>
                </a:solidFill>
                <a:latin typeface="Liberation Sans Narrow" pitchFamily="34" charset="0"/>
                <a:ea typeface="Liberation Sans Narrow" pitchFamily="34" charset="-122"/>
                <a:cs typeface="Liberation Sans Narrow" pitchFamily="34" charset="-120"/>
              </a:rPr>
              <a:t>IEC 61508 Safety Lifecycle</a:t>
            </a:r>
            <a:endParaRPr lang="en-US" sz="1350" dirty="0"/>
          </a:p>
        </p:txBody>
      </p:sp>
      <p:sp>
        <p:nvSpPr>
          <p:cNvPr id="6" name="Text 3"/>
          <p:cNvSpPr/>
          <p:nvPr/>
        </p:nvSpPr>
        <p:spPr>
          <a:xfrm>
            <a:off x="457200" y="825773"/>
            <a:ext cx="8229600" cy="164592"/>
          </a:xfrm>
          <a:prstGeom prst="rect">
            <a:avLst/>
          </a:prstGeom>
          <a:noFill/>
          <a:ln/>
        </p:spPr>
        <p:txBody>
          <a:bodyPr wrap="square" lIns="0" tIns="0" rIns="0" bIns="0" rtlCol="0" anchor="t"/>
          <a:lstStyle/>
          <a:p>
            <a:pPr marL="0" indent="0" algn="l">
              <a:lnSpc>
                <a:spcPts val="1097"/>
              </a:lnSpc>
              <a:buNone/>
            </a:pPr>
            <a:r>
              <a:rPr lang="en-US" sz="800" dirty="0">
                <a:solidFill>
                  <a:srgbClr val="6B7280"/>
                </a:solidFill>
                <a:latin typeface="Carlito" pitchFamily="34" charset="0"/>
                <a:ea typeface="Carlito" pitchFamily="34" charset="-122"/>
                <a:cs typeface="Carlito" pitchFamily="34" charset="-120"/>
              </a:rPr>
              <a:t>From hazard discovery to decommissioning — security and safety are joined throughout.</a:t>
            </a:r>
            <a:endParaRPr lang="en-US" sz="800" dirty="0"/>
          </a:p>
        </p:txBody>
      </p:sp>
      <p:sp>
        <p:nvSpPr>
          <p:cNvPr id="7" name="Text 4"/>
          <p:cNvSpPr/>
          <p:nvPr/>
        </p:nvSpPr>
        <p:spPr>
          <a:xfrm>
            <a:off x="460772" y="1125810"/>
            <a:ext cx="935831" cy="992981"/>
          </a:xfrm>
          <a:prstGeom prst="roundRect">
            <a:avLst>
              <a:gd name="adj" fmla="val 6107"/>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8" name="Text 5"/>
          <p:cNvSpPr/>
          <p:nvPr/>
        </p:nvSpPr>
        <p:spPr>
          <a:xfrm>
            <a:off x="691444" y="1191819"/>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9" name="Text 6"/>
          <p:cNvSpPr/>
          <p:nvPr/>
        </p:nvSpPr>
        <p:spPr>
          <a:xfrm>
            <a:off x="671132" y="1200820"/>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1</a:t>
            </a:r>
            <a:endParaRPr lang="en-US" sz="800" dirty="0"/>
          </a:p>
        </p:txBody>
      </p:sp>
      <p:sp>
        <p:nvSpPr>
          <p:cNvPr id="10" name="Text 7"/>
          <p:cNvSpPr/>
          <p:nvPr/>
        </p:nvSpPr>
        <p:spPr>
          <a:xfrm>
            <a:off x="814388" y="1405644"/>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11" name="Text 8"/>
          <p:cNvSpPr/>
          <p:nvPr/>
        </p:nvSpPr>
        <p:spPr>
          <a:xfrm>
            <a:off x="596745" y="1688939"/>
            <a:ext cx="663773" cy="127386"/>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HAZARD ID</a:t>
            </a:r>
            <a:endParaRPr lang="en-US" sz="800" dirty="0"/>
          </a:p>
        </p:txBody>
      </p:sp>
      <p:sp>
        <p:nvSpPr>
          <p:cNvPr id="12" name="Text 9"/>
          <p:cNvSpPr/>
          <p:nvPr/>
        </p:nvSpPr>
        <p:spPr>
          <a:xfrm>
            <a:off x="521494" y="1843757"/>
            <a:ext cx="814388"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HAZOP / FMEA workshop</a:t>
            </a:r>
            <a:endParaRPr lang="en-US" sz="800" dirty="0"/>
          </a:p>
        </p:txBody>
      </p:sp>
      <p:sp>
        <p:nvSpPr>
          <p:cNvPr id="13" name="Text 10"/>
          <p:cNvSpPr/>
          <p:nvPr/>
        </p:nvSpPr>
        <p:spPr>
          <a:xfrm>
            <a:off x="1404417" y="1616943"/>
            <a:ext cx="157163" cy="10716"/>
          </a:xfrm>
          <a:prstGeom prst="rect">
            <a:avLst/>
          </a:prstGeom>
          <a:solidFill>
            <a:srgbClr val="0F2A4A"/>
          </a:solidFill>
          <a:ln/>
        </p:spPr>
        <p:txBody>
          <a:bodyPr wrap="square" rtlCol="0" anchor="ctr"/>
          <a:lstStyle/>
          <a:p>
            <a:pPr marL="0" indent="0">
              <a:buNone/>
            </a:pPr>
            <a:endParaRPr lang="en-US" dirty="0"/>
          </a:p>
        </p:txBody>
      </p:sp>
      <p:sp>
        <p:nvSpPr>
          <p:cNvPr id="14" name="Text 11"/>
          <p:cNvSpPr/>
          <p:nvPr/>
        </p:nvSpPr>
        <p:spPr>
          <a:xfrm>
            <a:off x="1569504" y="1125810"/>
            <a:ext cx="935831" cy="992981"/>
          </a:xfrm>
          <a:prstGeom prst="roundRect">
            <a:avLst>
              <a:gd name="adj" fmla="val 6107"/>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5" name="Text 12"/>
          <p:cNvSpPr/>
          <p:nvPr/>
        </p:nvSpPr>
        <p:spPr>
          <a:xfrm>
            <a:off x="1800176" y="1191819"/>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16" name="Text 13"/>
          <p:cNvSpPr/>
          <p:nvPr/>
        </p:nvSpPr>
        <p:spPr>
          <a:xfrm>
            <a:off x="1779864" y="1200820"/>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2</a:t>
            </a:r>
            <a:endParaRPr lang="en-US" sz="800" dirty="0"/>
          </a:p>
        </p:txBody>
      </p:sp>
      <p:sp>
        <p:nvSpPr>
          <p:cNvPr id="17" name="Text 14"/>
          <p:cNvSpPr/>
          <p:nvPr/>
        </p:nvSpPr>
        <p:spPr>
          <a:xfrm>
            <a:off x="1923120" y="1438908"/>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18" name="Text 15"/>
          <p:cNvSpPr/>
          <p:nvPr/>
        </p:nvSpPr>
        <p:spPr>
          <a:xfrm>
            <a:off x="1677246" y="1755688"/>
            <a:ext cx="720348" cy="160650"/>
          </a:xfrm>
          <a:prstGeom prst="rect">
            <a:avLst/>
          </a:prstGeom>
          <a:noFill/>
          <a:ln/>
        </p:spPr>
        <p:txBody>
          <a:bodyPr wrap="none" lIns="0" tIns="0" rIns="0" bIns="0" rtlCol="0" anchor="t">
            <a:normAutofit/>
          </a:bodyPr>
          <a:lstStyle/>
          <a:p>
            <a:pPr marL="0" indent="0" algn="ctr">
              <a:lnSpc>
                <a:spcPts val="1013"/>
              </a:lnSpc>
              <a:buNone/>
            </a:pPr>
            <a:r>
              <a:rPr lang="en-US" sz="675" b="1" kern="0" spc="20" dirty="0">
                <a:solidFill>
                  <a:srgbClr val="0F2A4A"/>
                </a:solidFill>
                <a:latin typeface="Carlito" pitchFamily="34" charset="0"/>
                <a:ea typeface="Carlito" pitchFamily="34" charset="-122"/>
                <a:cs typeface="Carlito" pitchFamily="34" charset="-120"/>
              </a:rPr>
              <a:t>RISK ASSESS</a:t>
            </a:r>
            <a:endParaRPr lang="en-US" sz="675" dirty="0"/>
          </a:p>
        </p:txBody>
      </p:sp>
      <p:sp>
        <p:nvSpPr>
          <p:cNvPr id="19" name="Text 16"/>
          <p:cNvSpPr/>
          <p:nvPr/>
        </p:nvSpPr>
        <p:spPr>
          <a:xfrm>
            <a:off x="1672171" y="1943770"/>
            <a:ext cx="730498" cy="100013"/>
          </a:xfrm>
          <a:prstGeom prst="rect">
            <a:avLst/>
          </a:prstGeom>
          <a:noFill/>
          <a:ln/>
        </p:spPr>
        <p:txBody>
          <a:bodyPr wrap="square" lIns="0" tIns="0" rIns="0" bIns="0" rtlCol="0" anchor="t"/>
          <a:lstStyle/>
          <a:p>
            <a:pPr marL="0" indent="0" algn="ctr">
              <a:lnSpc>
                <a:spcPts val="788"/>
              </a:lnSpc>
              <a:buNone/>
            </a:pPr>
            <a:r>
              <a:rPr lang="en-US" sz="600" dirty="0">
                <a:solidFill>
                  <a:srgbClr val="4A5568"/>
                </a:solidFill>
                <a:latin typeface="Carlito" pitchFamily="34" charset="0"/>
                <a:ea typeface="Carlito" pitchFamily="34" charset="-122"/>
                <a:cs typeface="Carlito" pitchFamily="34" charset="-120"/>
              </a:rPr>
              <a:t>Risk matrix, ALARP</a:t>
            </a:r>
            <a:endParaRPr lang="en-US" sz="600" dirty="0"/>
          </a:p>
        </p:txBody>
      </p:sp>
      <p:sp>
        <p:nvSpPr>
          <p:cNvPr id="20" name="Text 17"/>
          <p:cNvSpPr/>
          <p:nvPr/>
        </p:nvSpPr>
        <p:spPr>
          <a:xfrm>
            <a:off x="2513149" y="1616943"/>
            <a:ext cx="157163" cy="10716"/>
          </a:xfrm>
          <a:prstGeom prst="rect">
            <a:avLst/>
          </a:prstGeom>
          <a:solidFill>
            <a:srgbClr val="0F2A4A"/>
          </a:solidFill>
          <a:ln/>
        </p:spPr>
        <p:txBody>
          <a:bodyPr wrap="square" rtlCol="0" anchor="ctr"/>
          <a:lstStyle/>
          <a:p>
            <a:pPr marL="0" indent="0">
              <a:buNone/>
            </a:pPr>
            <a:endParaRPr lang="en-US" dirty="0"/>
          </a:p>
        </p:txBody>
      </p:sp>
      <p:sp>
        <p:nvSpPr>
          <p:cNvPr id="21" name="Text 18"/>
          <p:cNvSpPr/>
          <p:nvPr/>
        </p:nvSpPr>
        <p:spPr>
          <a:xfrm>
            <a:off x="2678237" y="1125810"/>
            <a:ext cx="935831" cy="992981"/>
          </a:xfrm>
          <a:prstGeom prst="roundRect">
            <a:avLst>
              <a:gd name="adj" fmla="val 6107"/>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2" name="Text 19"/>
          <p:cNvSpPr/>
          <p:nvPr/>
        </p:nvSpPr>
        <p:spPr>
          <a:xfrm>
            <a:off x="2908908" y="1191819"/>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23" name="Text 20"/>
          <p:cNvSpPr/>
          <p:nvPr/>
        </p:nvSpPr>
        <p:spPr>
          <a:xfrm>
            <a:off x="2888596" y="1200820"/>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3</a:t>
            </a:r>
            <a:endParaRPr lang="en-US" sz="800" dirty="0"/>
          </a:p>
        </p:txBody>
      </p:sp>
      <p:sp>
        <p:nvSpPr>
          <p:cNvPr id="24" name="Text 21"/>
          <p:cNvSpPr/>
          <p:nvPr/>
        </p:nvSpPr>
        <p:spPr>
          <a:xfrm>
            <a:off x="3031852" y="1405644"/>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25" name="Text 22"/>
          <p:cNvSpPr/>
          <p:nvPr/>
        </p:nvSpPr>
        <p:spPr>
          <a:xfrm>
            <a:off x="2814266" y="1688939"/>
            <a:ext cx="663773" cy="127386"/>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SIL ALLOC</a:t>
            </a:r>
            <a:endParaRPr lang="en-US" sz="800" dirty="0"/>
          </a:p>
        </p:txBody>
      </p:sp>
      <p:sp>
        <p:nvSpPr>
          <p:cNvPr id="26" name="Text 23"/>
          <p:cNvSpPr/>
          <p:nvPr/>
        </p:nvSpPr>
        <p:spPr>
          <a:xfrm>
            <a:off x="2738958" y="1843757"/>
            <a:ext cx="814388"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Liberation Sans Narrow" pitchFamily="34" charset="0"/>
                <a:ea typeface="Liberation Sans Narrow" pitchFamily="34" charset="-122"/>
                <a:cs typeface="Liberation Sans Narrow" pitchFamily="34" charset="-120"/>
              </a:rPr>
              <a:t>Assign SIL 1–4 to each SIF</a:t>
            </a:r>
            <a:endParaRPr lang="en-US" sz="800" dirty="0"/>
          </a:p>
        </p:txBody>
      </p:sp>
      <p:sp>
        <p:nvSpPr>
          <p:cNvPr id="27" name="Text 24"/>
          <p:cNvSpPr/>
          <p:nvPr/>
        </p:nvSpPr>
        <p:spPr>
          <a:xfrm>
            <a:off x="3621881" y="1616943"/>
            <a:ext cx="157163" cy="10716"/>
          </a:xfrm>
          <a:prstGeom prst="rect">
            <a:avLst/>
          </a:prstGeom>
          <a:solidFill>
            <a:srgbClr val="0F2A4A"/>
          </a:solidFill>
          <a:ln/>
        </p:spPr>
        <p:txBody>
          <a:bodyPr wrap="square" rtlCol="0" anchor="ctr"/>
          <a:lstStyle/>
          <a:p>
            <a:pPr marL="0" indent="0">
              <a:buNone/>
            </a:pPr>
            <a:endParaRPr lang="en-US" dirty="0"/>
          </a:p>
        </p:txBody>
      </p:sp>
      <p:sp>
        <p:nvSpPr>
          <p:cNvPr id="28" name="Text 25"/>
          <p:cNvSpPr/>
          <p:nvPr/>
        </p:nvSpPr>
        <p:spPr>
          <a:xfrm>
            <a:off x="3786857" y="1125810"/>
            <a:ext cx="935831" cy="992981"/>
          </a:xfrm>
          <a:prstGeom prst="roundRect">
            <a:avLst>
              <a:gd name="adj" fmla="val 6107"/>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9" name="Text 26"/>
          <p:cNvSpPr/>
          <p:nvPr/>
        </p:nvSpPr>
        <p:spPr>
          <a:xfrm>
            <a:off x="4017529" y="1191819"/>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30" name="Text 27"/>
          <p:cNvSpPr/>
          <p:nvPr/>
        </p:nvSpPr>
        <p:spPr>
          <a:xfrm>
            <a:off x="3997217" y="1200820"/>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4</a:t>
            </a:r>
            <a:endParaRPr lang="en-US" sz="800" dirty="0"/>
          </a:p>
        </p:txBody>
      </p:sp>
      <p:sp>
        <p:nvSpPr>
          <p:cNvPr id="31" name="Text 28"/>
          <p:cNvSpPr/>
          <p:nvPr/>
        </p:nvSpPr>
        <p:spPr>
          <a:xfrm>
            <a:off x="4140473" y="1405644"/>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32" name="Text 29"/>
          <p:cNvSpPr/>
          <p:nvPr/>
        </p:nvSpPr>
        <p:spPr>
          <a:xfrm>
            <a:off x="4013945" y="1688939"/>
            <a:ext cx="481543" cy="127386"/>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DESIGN</a:t>
            </a:r>
            <a:endParaRPr lang="en-US" sz="800" dirty="0"/>
          </a:p>
        </p:txBody>
      </p:sp>
      <p:sp>
        <p:nvSpPr>
          <p:cNvPr id="33" name="Text 30"/>
          <p:cNvSpPr/>
          <p:nvPr/>
        </p:nvSpPr>
        <p:spPr>
          <a:xfrm>
            <a:off x="3847579" y="1843757"/>
            <a:ext cx="838819"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Sensors, logic solver, final element</a:t>
            </a:r>
            <a:endParaRPr lang="en-US" sz="800" dirty="0"/>
          </a:p>
        </p:txBody>
      </p:sp>
      <p:sp>
        <p:nvSpPr>
          <p:cNvPr id="34" name="Text 31"/>
          <p:cNvSpPr/>
          <p:nvPr/>
        </p:nvSpPr>
        <p:spPr>
          <a:xfrm>
            <a:off x="4730614" y="1616943"/>
            <a:ext cx="157163" cy="10716"/>
          </a:xfrm>
          <a:prstGeom prst="rect">
            <a:avLst/>
          </a:prstGeom>
          <a:solidFill>
            <a:srgbClr val="0F2A4A"/>
          </a:solidFill>
          <a:ln/>
        </p:spPr>
        <p:txBody>
          <a:bodyPr wrap="square" rtlCol="0" anchor="ctr"/>
          <a:lstStyle/>
          <a:p>
            <a:pPr marL="0" indent="0">
              <a:buNone/>
            </a:pPr>
            <a:endParaRPr lang="en-US" dirty="0"/>
          </a:p>
        </p:txBody>
      </p:sp>
      <p:sp>
        <p:nvSpPr>
          <p:cNvPr id="35" name="Text 32"/>
          <p:cNvSpPr/>
          <p:nvPr/>
        </p:nvSpPr>
        <p:spPr>
          <a:xfrm>
            <a:off x="4895590" y="1125810"/>
            <a:ext cx="935831" cy="992981"/>
          </a:xfrm>
          <a:prstGeom prst="roundRect">
            <a:avLst>
              <a:gd name="adj" fmla="val 6107"/>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36" name="Text 33"/>
          <p:cNvSpPr/>
          <p:nvPr/>
        </p:nvSpPr>
        <p:spPr>
          <a:xfrm>
            <a:off x="5126261" y="1191819"/>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37" name="Text 34"/>
          <p:cNvSpPr/>
          <p:nvPr/>
        </p:nvSpPr>
        <p:spPr>
          <a:xfrm>
            <a:off x="5105949" y="1200820"/>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5</a:t>
            </a:r>
            <a:endParaRPr lang="en-US" sz="800" dirty="0"/>
          </a:p>
        </p:txBody>
      </p:sp>
      <p:sp>
        <p:nvSpPr>
          <p:cNvPr id="38" name="Text 35"/>
          <p:cNvSpPr/>
          <p:nvPr/>
        </p:nvSpPr>
        <p:spPr>
          <a:xfrm>
            <a:off x="5249205" y="1438908"/>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39" name="Text 36"/>
          <p:cNvSpPr/>
          <p:nvPr/>
        </p:nvSpPr>
        <p:spPr>
          <a:xfrm>
            <a:off x="5048347" y="1755688"/>
            <a:ext cx="630204" cy="160650"/>
          </a:xfrm>
          <a:prstGeom prst="rect">
            <a:avLst/>
          </a:prstGeom>
          <a:noFill/>
          <a:ln/>
        </p:spPr>
        <p:txBody>
          <a:bodyPr wrap="squar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VALIDATE</a:t>
            </a:r>
            <a:endParaRPr lang="en-US" sz="800" dirty="0"/>
          </a:p>
        </p:txBody>
      </p:sp>
      <p:sp>
        <p:nvSpPr>
          <p:cNvPr id="40" name="Text 37"/>
          <p:cNvSpPr/>
          <p:nvPr/>
        </p:nvSpPr>
        <p:spPr>
          <a:xfrm>
            <a:off x="4969622" y="1943770"/>
            <a:ext cx="787654" cy="100013"/>
          </a:xfrm>
          <a:prstGeom prst="rect">
            <a:avLst/>
          </a:prstGeom>
          <a:noFill/>
          <a:ln/>
        </p:spPr>
        <p:txBody>
          <a:bodyPr wrap="square" lIns="0" tIns="0" rIns="0" bIns="0" rtlCol="0" anchor="t"/>
          <a:lstStyle/>
          <a:p>
            <a:pPr marL="0" indent="0" algn="ctr">
              <a:lnSpc>
                <a:spcPts val="788"/>
              </a:lnSpc>
              <a:buNone/>
            </a:pPr>
            <a:r>
              <a:rPr lang="en-US" sz="600" dirty="0">
                <a:solidFill>
                  <a:srgbClr val="4A5568"/>
                </a:solidFill>
                <a:latin typeface="Carlito" pitchFamily="34" charset="0"/>
                <a:ea typeface="Carlito" pitchFamily="34" charset="-122"/>
                <a:cs typeface="Carlito" pitchFamily="34" charset="-120"/>
              </a:rPr>
              <a:t>FAT, SAT, proof testing</a:t>
            </a:r>
            <a:endParaRPr lang="en-US" sz="600" dirty="0"/>
          </a:p>
        </p:txBody>
      </p:sp>
      <p:sp>
        <p:nvSpPr>
          <p:cNvPr id="41" name="Text 38"/>
          <p:cNvSpPr/>
          <p:nvPr/>
        </p:nvSpPr>
        <p:spPr>
          <a:xfrm>
            <a:off x="5839346" y="1616943"/>
            <a:ext cx="157163" cy="10716"/>
          </a:xfrm>
          <a:prstGeom prst="rect">
            <a:avLst/>
          </a:prstGeom>
          <a:solidFill>
            <a:srgbClr val="0F2A4A"/>
          </a:solidFill>
          <a:ln/>
        </p:spPr>
        <p:txBody>
          <a:bodyPr wrap="square" rtlCol="0" anchor="ctr"/>
          <a:lstStyle/>
          <a:p>
            <a:pPr marL="0" indent="0">
              <a:buNone/>
            </a:pPr>
            <a:endParaRPr lang="en-US" dirty="0"/>
          </a:p>
        </p:txBody>
      </p:sp>
      <p:sp>
        <p:nvSpPr>
          <p:cNvPr id="42" name="Text 39"/>
          <p:cNvSpPr/>
          <p:nvPr/>
        </p:nvSpPr>
        <p:spPr>
          <a:xfrm>
            <a:off x="6004322" y="1125810"/>
            <a:ext cx="935831" cy="992981"/>
          </a:xfrm>
          <a:prstGeom prst="roundRect">
            <a:avLst>
              <a:gd name="adj" fmla="val 6107"/>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43" name="Text 40"/>
          <p:cNvSpPr/>
          <p:nvPr/>
        </p:nvSpPr>
        <p:spPr>
          <a:xfrm>
            <a:off x="6234994" y="1191819"/>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44" name="Text 41"/>
          <p:cNvSpPr/>
          <p:nvPr/>
        </p:nvSpPr>
        <p:spPr>
          <a:xfrm>
            <a:off x="6214682" y="1200820"/>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6</a:t>
            </a:r>
            <a:endParaRPr lang="en-US" sz="800" dirty="0"/>
          </a:p>
        </p:txBody>
      </p:sp>
      <p:sp>
        <p:nvSpPr>
          <p:cNvPr id="45" name="Text 42"/>
          <p:cNvSpPr/>
          <p:nvPr/>
        </p:nvSpPr>
        <p:spPr>
          <a:xfrm>
            <a:off x="6357938" y="1405644"/>
            <a:ext cx="228600" cy="228600"/>
          </a:xfrm>
          <a:prstGeom prst="rect">
            <a:avLst/>
          </a:prstGeom>
          <a:noFill/>
          <a:ln/>
        </p:spPr>
        <p:txBody>
          <a:bodyPr wrap="none" lIns="0" tIns="0" rIns="0" bIns="0" rtlCol="0" anchor="ctr"/>
          <a:lstStyle/>
          <a:p>
            <a:pPr marL="0" indent="0" algn="ctr">
              <a:buNone/>
            </a:pPr>
            <a:r>
              <a:rPr lang="en-US" sz="2250" dirty="0">
                <a:solidFill>
                  <a:srgbClr val="C9A961"/>
                </a:solidFill>
                <a:latin typeface="Segoe UI Symbol" pitchFamily="34" charset="0"/>
                <a:ea typeface="Segoe UI Symbol" pitchFamily="34" charset="-122"/>
                <a:cs typeface="Segoe UI Symbol" pitchFamily="34" charset="-120"/>
              </a:rPr>
              <a:t>▶</a:t>
            </a:r>
            <a:endParaRPr lang="en-US" sz="2250" dirty="0"/>
          </a:p>
        </p:txBody>
      </p:sp>
      <p:sp>
        <p:nvSpPr>
          <p:cNvPr id="46" name="Text 43"/>
          <p:cNvSpPr/>
          <p:nvPr/>
        </p:nvSpPr>
        <p:spPr>
          <a:xfrm>
            <a:off x="6194112" y="1688939"/>
            <a:ext cx="556138" cy="127386"/>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FFFFFF"/>
                </a:solidFill>
                <a:latin typeface="Carlito" pitchFamily="34" charset="0"/>
                <a:ea typeface="Carlito" pitchFamily="34" charset="-122"/>
                <a:cs typeface="Carlito" pitchFamily="34" charset="-120"/>
              </a:rPr>
              <a:t>OPERATE</a:t>
            </a:r>
            <a:endParaRPr lang="en-US" sz="800" dirty="0"/>
          </a:p>
        </p:txBody>
      </p:sp>
      <p:sp>
        <p:nvSpPr>
          <p:cNvPr id="47" name="Text 44"/>
          <p:cNvSpPr/>
          <p:nvPr/>
        </p:nvSpPr>
        <p:spPr>
          <a:xfrm>
            <a:off x="6065044" y="1843757"/>
            <a:ext cx="814388" cy="200025"/>
          </a:xfrm>
          <a:prstGeom prst="rect">
            <a:avLst/>
          </a:prstGeom>
          <a:noFill/>
          <a:ln/>
        </p:spPr>
        <p:txBody>
          <a:bodyPr wrap="square" lIns="0" tIns="0" rIns="0" bIns="0" rtlCol="0" anchor="t"/>
          <a:lstStyle/>
          <a:p>
            <a:pPr marL="0" indent="0" algn="ctr">
              <a:lnSpc>
                <a:spcPts val="788"/>
              </a:lnSpc>
              <a:buNone/>
            </a:pPr>
            <a:r>
              <a:rPr lang="en-US" sz="800" dirty="0">
                <a:solidFill>
                  <a:srgbClr val="FFFFFF">
                    <a:alpha val="85000"/>
                  </a:srgbClr>
                </a:solidFill>
                <a:latin typeface="Carlito" pitchFamily="34" charset="0"/>
                <a:ea typeface="Carlito" pitchFamily="34" charset="-122"/>
                <a:cs typeface="Carlito" pitchFamily="34" charset="-120"/>
              </a:rPr>
              <a:t>Maintain, audit, decommission</a:t>
            </a:r>
            <a:endParaRPr lang="en-US" sz="800" dirty="0"/>
          </a:p>
        </p:txBody>
      </p:sp>
      <p:sp>
        <p:nvSpPr>
          <p:cNvPr id="48" name="Shape 45"/>
          <p:cNvSpPr/>
          <p:nvPr/>
        </p:nvSpPr>
        <p:spPr>
          <a:xfrm>
            <a:off x="6804422" y="2250951"/>
            <a:ext cx="0" cy="114300"/>
          </a:xfrm>
          <a:prstGeom prst="line">
            <a:avLst/>
          </a:prstGeom>
          <a:noFill/>
          <a:ln w="7144">
            <a:solidFill>
              <a:srgbClr val="2C5282"/>
            </a:solidFill>
            <a:prstDash val="dash"/>
          </a:ln>
        </p:spPr>
      </p:sp>
      <p:sp>
        <p:nvSpPr>
          <p:cNvPr id="49" name="Shape 46"/>
          <p:cNvSpPr/>
          <p:nvPr/>
        </p:nvSpPr>
        <p:spPr>
          <a:xfrm>
            <a:off x="500063" y="2354535"/>
            <a:ext cx="6400800" cy="0"/>
          </a:xfrm>
          <a:prstGeom prst="line">
            <a:avLst/>
          </a:prstGeom>
          <a:noFill/>
          <a:ln w="7144">
            <a:solidFill>
              <a:srgbClr val="2C5282"/>
            </a:solidFill>
            <a:prstDash val="dash"/>
          </a:ln>
        </p:spPr>
      </p:sp>
      <p:sp>
        <p:nvSpPr>
          <p:cNvPr id="50" name="Shape 47"/>
          <p:cNvSpPr/>
          <p:nvPr/>
        </p:nvSpPr>
        <p:spPr>
          <a:xfrm>
            <a:off x="503634" y="2250951"/>
            <a:ext cx="0" cy="114300"/>
          </a:xfrm>
          <a:prstGeom prst="line">
            <a:avLst/>
          </a:prstGeom>
          <a:noFill/>
          <a:ln w="7144">
            <a:solidFill>
              <a:srgbClr val="2C5282"/>
            </a:solidFill>
            <a:prstDash val="dash"/>
          </a:ln>
        </p:spPr>
      </p:sp>
      <p:sp>
        <p:nvSpPr>
          <p:cNvPr id="51" name="Text 48"/>
          <p:cNvSpPr/>
          <p:nvPr/>
        </p:nvSpPr>
        <p:spPr>
          <a:xfrm>
            <a:off x="1849785" y="2513091"/>
            <a:ext cx="1452972" cy="174022"/>
          </a:xfrm>
          <a:prstGeom prst="roundRect">
            <a:avLst>
              <a:gd name="adj" fmla="val 21894"/>
            </a:avLst>
          </a:prstGeom>
          <a:solidFill>
            <a:srgbClr val="0F2A4A"/>
          </a:solidFill>
          <a:ln/>
        </p:spPr>
        <p:txBody>
          <a:bodyPr wrap="square" rtlCol="0" anchor="ctr"/>
          <a:lstStyle/>
          <a:p>
            <a:pPr marL="0" indent="0">
              <a:buNone/>
            </a:pPr>
            <a:endParaRPr lang="en-US" dirty="0"/>
          </a:p>
        </p:txBody>
      </p:sp>
      <p:sp>
        <p:nvSpPr>
          <p:cNvPr id="52" name="Text 49"/>
          <p:cNvSpPr/>
          <p:nvPr/>
        </p:nvSpPr>
        <p:spPr>
          <a:xfrm>
            <a:off x="1849785" y="2522413"/>
            <a:ext cx="1452972" cy="155377"/>
          </a:xfrm>
          <a:prstGeom prst="rect">
            <a:avLst/>
          </a:prstGeom>
          <a:noFill/>
          <a:ln/>
        </p:spPr>
        <p:txBody>
          <a:bodyPr wrap="none" lIns="0" tIns="0" rIns="0" bIns="0" rtlCol="0" anchor="ctr"/>
          <a:lstStyle/>
          <a:p>
            <a:pPr marL="0" indent="0" algn="ctr">
              <a:lnSpc>
                <a:spcPts val="886"/>
              </a:lnSpc>
              <a:buNone/>
            </a:pPr>
            <a:r>
              <a:rPr lang="en-US" sz="800" kern="0" spc="71" dirty="0">
                <a:solidFill>
                  <a:srgbClr val="FFFFFF"/>
                </a:solidFill>
                <a:latin typeface="Carlito" pitchFamily="34" charset="0"/>
                <a:ea typeface="Carlito" pitchFamily="34" charset="-122"/>
                <a:cs typeface="Carlito" pitchFamily="34" charset="-120"/>
              </a:rPr>
              <a:t>CONTINUOUS IMPROVEMENT</a:t>
            </a:r>
            <a:endParaRPr lang="en-US" sz="800" dirty="0"/>
          </a:p>
        </p:txBody>
      </p:sp>
      <p:sp>
        <p:nvSpPr>
          <p:cNvPr id="53" name="Text 50"/>
          <p:cNvSpPr/>
          <p:nvPr/>
        </p:nvSpPr>
        <p:spPr>
          <a:xfrm>
            <a:off x="3402769" y="2541166"/>
            <a:ext cx="3540956"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6B7280"/>
                </a:solidFill>
                <a:latin typeface="Carlito" pitchFamily="34" charset="0"/>
                <a:ea typeface="Carlito" pitchFamily="34" charset="-122"/>
                <a:cs typeface="Carlito" pitchFamily="34" charset="-120"/>
              </a:rPr>
              <a:t>RE-EVALUATE ON INCIDENT / FIRMWARE UPDATE</a:t>
            </a:r>
            <a:endParaRPr lang="en-US" sz="800" dirty="0"/>
          </a:p>
        </p:txBody>
      </p:sp>
      <p:sp>
        <p:nvSpPr>
          <p:cNvPr id="54" name="Text 51"/>
          <p:cNvSpPr/>
          <p:nvPr/>
        </p:nvSpPr>
        <p:spPr>
          <a:xfrm>
            <a:off x="7115175" y="1122238"/>
            <a:ext cx="1571625" cy="2218134"/>
          </a:xfrm>
          <a:prstGeom prst="roundRect">
            <a:avLst>
              <a:gd name="adj" fmla="val 4848"/>
            </a:avLst>
          </a:prstGeom>
          <a:solidFill>
            <a:srgbClr val="FFFFFF"/>
          </a:solidFill>
          <a:ln/>
        </p:spPr>
        <p:txBody>
          <a:bodyPr wrap="square" rtlCol="0" anchor="ctr"/>
          <a:lstStyle/>
          <a:p>
            <a:pPr marL="0" indent="0">
              <a:buNone/>
            </a:pPr>
            <a:endParaRPr lang="en-US" dirty="0"/>
          </a:p>
        </p:txBody>
      </p:sp>
      <p:sp>
        <p:nvSpPr>
          <p:cNvPr id="55" name="Shape 52"/>
          <p:cNvSpPr/>
          <p:nvPr/>
        </p:nvSpPr>
        <p:spPr>
          <a:xfrm>
            <a:off x="7115175" y="1125810"/>
            <a:ext cx="1571625" cy="0"/>
          </a:xfrm>
          <a:prstGeom prst="line">
            <a:avLst/>
          </a:prstGeom>
          <a:noFill/>
          <a:ln w="7144">
            <a:solidFill>
              <a:srgbClr val="D8DEE6"/>
            </a:solidFill>
            <a:prstDash val="solid"/>
          </a:ln>
        </p:spPr>
      </p:sp>
      <p:sp>
        <p:nvSpPr>
          <p:cNvPr id="56" name="Shape 53"/>
          <p:cNvSpPr/>
          <p:nvPr/>
        </p:nvSpPr>
        <p:spPr>
          <a:xfrm>
            <a:off x="8683228" y="1122238"/>
            <a:ext cx="0" cy="2218134"/>
          </a:xfrm>
          <a:prstGeom prst="line">
            <a:avLst/>
          </a:prstGeom>
          <a:noFill/>
          <a:ln w="7144">
            <a:solidFill>
              <a:srgbClr val="D8DEE6"/>
            </a:solidFill>
            <a:prstDash val="solid"/>
          </a:ln>
        </p:spPr>
      </p:sp>
      <p:sp>
        <p:nvSpPr>
          <p:cNvPr id="57" name="Shape 54"/>
          <p:cNvSpPr/>
          <p:nvPr/>
        </p:nvSpPr>
        <p:spPr>
          <a:xfrm>
            <a:off x="7115175" y="3336801"/>
            <a:ext cx="1571625" cy="0"/>
          </a:xfrm>
          <a:prstGeom prst="line">
            <a:avLst/>
          </a:prstGeom>
          <a:noFill/>
          <a:ln w="7144">
            <a:solidFill>
              <a:srgbClr val="D8DEE6"/>
            </a:solidFill>
            <a:prstDash val="solid"/>
          </a:ln>
        </p:spPr>
      </p:sp>
      <p:sp>
        <p:nvSpPr>
          <p:cNvPr id="58" name="Shape 55"/>
          <p:cNvSpPr/>
          <p:nvPr/>
        </p:nvSpPr>
        <p:spPr>
          <a:xfrm>
            <a:off x="7125891" y="1122238"/>
            <a:ext cx="0" cy="2218134"/>
          </a:xfrm>
          <a:prstGeom prst="line">
            <a:avLst/>
          </a:prstGeom>
          <a:noFill/>
          <a:ln w="21431">
            <a:solidFill>
              <a:srgbClr val="C9A961"/>
            </a:solidFill>
            <a:prstDash val="solid"/>
          </a:ln>
        </p:spPr>
      </p:sp>
      <p:sp>
        <p:nvSpPr>
          <p:cNvPr id="59" name="Text 56"/>
          <p:cNvSpPr/>
          <p:nvPr/>
        </p:nvSpPr>
        <p:spPr>
          <a:xfrm>
            <a:off x="7265194" y="1257970"/>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60" name="Text 57"/>
          <p:cNvSpPr/>
          <p:nvPr/>
        </p:nvSpPr>
        <p:spPr>
          <a:xfrm>
            <a:off x="7450931" y="1263328"/>
            <a:ext cx="1100138" cy="164592"/>
          </a:xfrm>
          <a:prstGeom prst="rect">
            <a:avLst/>
          </a:prstGeom>
          <a:noFill/>
          <a:ln/>
        </p:spPr>
        <p:txBody>
          <a:bodyPr wrap="none" lIns="0" tIns="0" rIns="0" bIns="0" rtlCol="0" anchor="t"/>
          <a:lstStyle/>
          <a:p>
            <a:pPr marL="0" indent="0" algn="l">
              <a:lnSpc>
                <a:spcPts val="928"/>
              </a:lnSpc>
              <a:buNone/>
            </a:pPr>
            <a:r>
              <a:rPr lang="en-US" sz="800" kern="0" spc="74" dirty="0">
                <a:solidFill>
                  <a:srgbClr val="C9A961"/>
                </a:solidFill>
                <a:latin typeface="Carlito" pitchFamily="34" charset="0"/>
                <a:ea typeface="Carlito" pitchFamily="34" charset="-122"/>
                <a:cs typeface="Carlito" pitchFamily="34" charset="-120"/>
              </a:rPr>
              <a:t>APPLICATIONS</a:t>
            </a:r>
            <a:endParaRPr lang="en-US" sz="800" dirty="0"/>
          </a:p>
        </p:txBody>
      </p:sp>
      <p:sp>
        <p:nvSpPr>
          <p:cNvPr id="61" name="Shape 58"/>
          <p:cNvSpPr/>
          <p:nvPr/>
        </p:nvSpPr>
        <p:spPr>
          <a:xfrm>
            <a:off x="7265194" y="1961629"/>
            <a:ext cx="1285875" cy="0"/>
          </a:xfrm>
          <a:prstGeom prst="line">
            <a:avLst/>
          </a:prstGeom>
          <a:noFill/>
          <a:ln w="7144">
            <a:solidFill>
              <a:srgbClr val="D8DEE6"/>
            </a:solidFill>
            <a:prstDash val="dash"/>
          </a:ln>
        </p:spPr>
      </p:sp>
      <p:sp>
        <p:nvSpPr>
          <p:cNvPr id="62" name="Text 59"/>
          <p:cNvSpPr/>
          <p:nvPr/>
        </p:nvSpPr>
        <p:spPr>
          <a:xfrm>
            <a:off x="7265194" y="1457995"/>
            <a:ext cx="1363028" cy="551212"/>
          </a:xfrm>
          <a:prstGeom prst="rect">
            <a:avLst/>
          </a:prstGeom>
          <a:noFill/>
          <a:ln/>
        </p:spPr>
        <p:txBody>
          <a:bodyPr wrap="square" lIns="0" tIns="57150" rIns="0" bIns="57150" rtlCol="0" anchor="t">
            <a:normAutofit/>
          </a:bodyPr>
          <a:lstStyle/>
          <a:p>
            <a:pPr marL="0" indent="0" algn="l">
              <a:lnSpc>
                <a:spcPts val="1013"/>
              </a:lnSpc>
              <a:buNone/>
            </a:pPr>
            <a:r>
              <a:rPr lang="en-US" sz="800" dirty="0">
                <a:solidFill>
                  <a:srgbClr val="0F2A4A"/>
                </a:solidFill>
                <a:latin typeface="Carlito" pitchFamily="34" charset="0"/>
                <a:ea typeface="Carlito" pitchFamily="34" charset="-122"/>
                <a:cs typeface="Carlito" pitchFamily="34" charset="-120"/>
              </a:rPr>
              <a:t>Oil &amp; Gas</a:t>
            </a:r>
            <a:r>
              <a:rPr lang="en-US" sz="800" dirty="0">
                <a:solidFill>
                  <a:srgbClr val="4A5568"/>
                </a:solidFill>
                <a:latin typeface="Carlito" pitchFamily="34" charset="0"/>
                <a:ea typeface="Carlito" pitchFamily="34" charset="-122"/>
                <a:cs typeface="Carlito" pitchFamily="34" charset="-120"/>
              </a:rPr>
              <a:t> — Emergency Shutdown (ESD) systems at SIL 3.</a:t>
            </a:r>
            <a:endParaRPr lang="en-US" sz="800" dirty="0"/>
          </a:p>
        </p:txBody>
      </p:sp>
      <p:sp>
        <p:nvSpPr>
          <p:cNvPr id="63" name="Shape 60"/>
          <p:cNvSpPr/>
          <p:nvPr/>
        </p:nvSpPr>
        <p:spPr>
          <a:xfrm>
            <a:off x="7265194" y="2411685"/>
            <a:ext cx="1285875" cy="0"/>
          </a:xfrm>
          <a:prstGeom prst="line">
            <a:avLst/>
          </a:prstGeom>
          <a:noFill/>
          <a:ln w="7144">
            <a:solidFill>
              <a:srgbClr val="D8DEE6"/>
            </a:solidFill>
            <a:prstDash val="dash"/>
          </a:ln>
        </p:spPr>
      </p:sp>
      <p:sp>
        <p:nvSpPr>
          <p:cNvPr id="64" name="Text 61"/>
          <p:cNvSpPr/>
          <p:nvPr/>
        </p:nvSpPr>
        <p:spPr>
          <a:xfrm>
            <a:off x="7265194" y="2036638"/>
            <a:ext cx="1363028" cy="422624"/>
          </a:xfrm>
          <a:prstGeom prst="rect">
            <a:avLst/>
          </a:prstGeom>
          <a:noFill/>
          <a:ln/>
        </p:spPr>
        <p:txBody>
          <a:bodyPr wrap="square" lIns="0" tIns="57150" rIns="0" bIns="57150" rtlCol="0" anchor="t">
            <a:normAutofit/>
          </a:bodyPr>
          <a:lstStyle/>
          <a:p>
            <a:pPr marL="0" indent="0" algn="l">
              <a:lnSpc>
                <a:spcPts val="1013"/>
              </a:lnSpc>
              <a:buNone/>
            </a:pPr>
            <a:r>
              <a:rPr lang="en-US" sz="800" dirty="0">
                <a:solidFill>
                  <a:srgbClr val="0F2A4A"/>
                </a:solidFill>
                <a:latin typeface="Carlito" pitchFamily="34" charset="0"/>
                <a:ea typeface="Carlito" pitchFamily="34" charset="-122"/>
                <a:cs typeface="Carlito" pitchFamily="34" charset="-120"/>
              </a:rPr>
              <a:t>Automotive</a:t>
            </a:r>
            <a:r>
              <a:rPr lang="en-US" sz="800" dirty="0">
                <a:solidFill>
                  <a:srgbClr val="4A5568"/>
                </a:solidFill>
                <a:latin typeface="Carlito" pitchFamily="34" charset="0"/>
                <a:ea typeface="Carlito" pitchFamily="34" charset="-122"/>
                <a:cs typeface="Carlito" pitchFamily="34" charset="-120"/>
              </a:rPr>
              <a:t> — ISO 26262 ASIL derived from IEC 61508.</a:t>
            </a:r>
            <a:endParaRPr lang="en-US" sz="800" dirty="0"/>
          </a:p>
        </p:txBody>
      </p:sp>
      <p:sp>
        <p:nvSpPr>
          <p:cNvPr id="65" name="Shape 62"/>
          <p:cNvSpPr/>
          <p:nvPr/>
        </p:nvSpPr>
        <p:spPr>
          <a:xfrm>
            <a:off x="7265194" y="2861742"/>
            <a:ext cx="1285875" cy="0"/>
          </a:xfrm>
          <a:prstGeom prst="line">
            <a:avLst/>
          </a:prstGeom>
          <a:noFill/>
          <a:ln w="7144">
            <a:solidFill>
              <a:srgbClr val="D8DEE6"/>
            </a:solidFill>
            <a:prstDash val="dash"/>
          </a:ln>
        </p:spPr>
      </p:sp>
      <p:sp>
        <p:nvSpPr>
          <p:cNvPr id="66" name="Text 63"/>
          <p:cNvSpPr/>
          <p:nvPr/>
        </p:nvSpPr>
        <p:spPr>
          <a:xfrm>
            <a:off x="7265194" y="2486695"/>
            <a:ext cx="1363028" cy="422624"/>
          </a:xfrm>
          <a:prstGeom prst="rect">
            <a:avLst/>
          </a:prstGeom>
          <a:noFill/>
          <a:ln/>
        </p:spPr>
        <p:txBody>
          <a:bodyPr wrap="square" lIns="0" tIns="57150" rIns="0" bIns="57150" rtlCol="0" anchor="t">
            <a:normAutofit/>
          </a:bodyPr>
          <a:lstStyle/>
          <a:p>
            <a:pPr marL="0" indent="0" algn="l">
              <a:lnSpc>
                <a:spcPts val="1013"/>
              </a:lnSpc>
              <a:buNone/>
            </a:pPr>
            <a:r>
              <a:rPr lang="en-US" sz="800" dirty="0">
                <a:solidFill>
                  <a:srgbClr val="0F2A4A"/>
                </a:solidFill>
                <a:latin typeface="Carlito" pitchFamily="34" charset="0"/>
                <a:ea typeface="Carlito" pitchFamily="34" charset="-122"/>
                <a:cs typeface="Carlito" pitchFamily="34" charset="-120"/>
              </a:rPr>
              <a:t>Medical</a:t>
            </a:r>
            <a:r>
              <a:rPr lang="en-US" sz="800" dirty="0">
                <a:solidFill>
                  <a:srgbClr val="4A5568"/>
                </a:solidFill>
                <a:latin typeface="Carlito" pitchFamily="34" charset="0"/>
                <a:ea typeface="Carlito" pitchFamily="34" charset="-122"/>
                <a:cs typeface="Carlito" pitchFamily="34" charset="-120"/>
              </a:rPr>
              <a:t> — IEC 62304 lifecycle for medical device software.</a:t>
            </a:r>
            <a:endParaRPr lang="en-US" sz="800" dirty="0"/>
          </a:p>
        </p:txBody>
      </p:sp>
      <p:sp>
        <p:nvSpPr>
          <p:cNvPr id="67" name="Text 64"/>
          <p:cNvSpPr/>
          <p:nvPr/>
        </p:nvSpPr>
        <p:spPr>
          <a:xfrm>
            <a:off x="7242334" y="2981257"/>
            <a:ext cx="1191845" cy="236030"/>
          </a:xfrm>
          <a:prstGeom prst="roundRect">
            <a:avLst>
              <a:gd name="adj" fmla="val 4031468"/>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68" name="Text 65"/>
          <p:cNvSpPr/>
          <p:nvPr/>
        </p:nvSpPr>
        <p:spPr>
          <a:xfrm>
            <a:off x="7265194" y="2993901"/>
            <a:ext cx="1146125" cy="210741"/>
          </a:xfrm>
          <a:prstGeom prst="rect">
            <a:avLst/>
          </a:prstGeom>
          <a:noFill/>
          <a:ln/>
        </p:spPr>
        <p:txBody>
          <a:bodyPr wrap="none" lIns="0" tIns="0" rIns="0" bIns="0" rtlCol="0" anchor="ctr"/>
          <a:lstStyle/>
          <a:p>
            <a:pPr marL="0" indent="0" algn="ctr">
              <a:lnSpc>
                <a:spcPts val="1097"/>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IEC 61508 / ISO 26262</a:t>
            </a:r>
            <a:endParaRPr lang="en-US" sz="800" dirty="0"/>
          </a:p>
        </p:txBody>
      </p:sp>
      <p:sp>
        <p:nvSpPr>
          <p:cNvPr id="69" name="Text 66"/>
          <p:cNvSpPr/>
          <p:nvPr/>
        </p:nvSpPr>
        <p:spPr>
          <a:xfrm>
            <a:off x="457200" y="4897041"/>
            <a:ext cx="3601120"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Liberation Sans Narrow" pitchFamily="34" charset="0"/>
                <a:ea typeface="Liberation Sans Narrow" pitchFamily="34" charset="-122"/>
                <a:cs typeface="Liberation Sans Narrow" pitchFamily="34" charset="-120"/>
              </a:rPr>
              <a:t>IOT-SEC · 2026</a:t>
            </a:r>
            <a:endParaRPr lang="en-US" sz="800" dirty="0"/>
          </a:p>
        </p:txBody>
      </p:sp>
      <p:sp>
        <p:nvSpPr>
          <p:cNvPr id="70" name="Text 67"/>
          <p:cNvSpPr/>
          <p:nvPr/>
        </p:nvSpPr>
        <p:spPr>
          <a:xfrm>
            <a:off x="4072607" y="4897041"/>
            <a:ext cx="4297300"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Carlito" pitchFamily="34" charset="0"/>
                <a:ea typeface="Carlito" pitchFamily="34" charset="-122"/>
                <a:cs typeface="Carlito" pitchFamily="34" charset="-120"/>
              </a:rPr>
              <a:t>PROCESS SAFETY · LIFECYCLE</a:t>
            </a:r>
            <a:endParaRPr lang="en-US" sz="800" dirty="0"/>
          </a:p>
        </p:txBody>
      </p:sp>
      <p:sp>
        <p:nvSpPr>
          <p:cNvPr id="71" name="Text 68"/>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12 / 21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3449092" y="4500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3449092" y="401836"/>
            <a:ext cx="2245816" cy="139303"/>
          </a:xfrm>
          <a:prstGeom prst="rect">
            <a:avLst/>
          </a:prstGeom>
          <a:noFill/>
          <a:ln/>
        </p:spPr>
        <p:txBody>
          <a:bodyPr wrap="none" lIns="0" tIns="0" rIns="0" bIns="0" rtlCol="0" anchor="ctr"/>
          <a:lstStyle/>
          <a:p>
            <a:pPr marL="0" indent="0" algn="ctr">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06 · RELIABLE &amp; SECURE BY DESIGN</a:t>
            </a:r>
            <a:endParaRPr lang="en-US" sz="800" dirty="0"/>
          </a:p>
        </p:txBody>
      </p:sp>
      <p:sp>
        <p:nvSpPr>
          <p:cNvPr id="5" name="Text 2"/>
          <p:cNvSpPr/>
          <p:nvPr/>
        </p:nvSpPr>
        <p:spPr>
          <a:xfrm>
            <a:off x="45720" y="600075"/>
            <a:ext cx="8636000" cy="296193"/>
          </a:xfrm>
          <a:prstGeom prst="rect">
            <a:avLst/>
          </a:prstGeom>
          <a:noFill/>
          <a:ln/>
        </p:spPr>
        <p:txBody>
          <a:bodyPr wrap="square" lIns="0" tIns="0" rIns="0" bIns="0" rtlCol="0" anchor="t"/>
          <a:lstStyle/>
          <a:p>
            <a:pPr marL="0" indent="0" algn="ctr">
              <a:lnSpc>
                <a:spcPts val="2160"/>
              </a:lnSpc>
              <a:buNone/>
            </a:pPr>
            <a:r>
              <a:rPr lang="en-US" sz="1800" kern="0" spc="-18" dirty="0">
                <a:solidFill>
                  <a:srgbClr val="0F2A4A"/>
                </a:solidFill>
                <a:latin typeface="Tinos" pitchFamily="34" charset="0"/>
                <a:ea typeface="Tinos" pitchFamily="34" charset="-122"/>
                <a:cs typeface="Tinos" pitchFamily="34" charset="-120"/>
              </a:rPr>
              <a:t>Shift Security Left — Build It In, Don't Bolt It On</a:t>
            </a:r>
            <a:endParaRPr lang="en-US" sz="1800" dirty="0"/>
          </a:p>
        </p:txBody>
      </p:sp>
      <p:sp>
        <p:nvSpPr>
          <p:cNvPr id="6" name="Text 3"/>
          <p:cNvSpPr/>
          <p:nvPr/>
        </p:nvSpPr>
        <p:spPr>
          <a:xfrm>
            <a:off x="1357313" y="931478"/>
            <a:ext cx="6429375" cy="339961"/>
          </a:xfrm>
          <a:prstGeom prst="rect">
            <a:avLst/>
          </a:prstGeom>
          <a:noFill/>
          <a:ln/>
        </p:spPr>
        <p:txBody>
          <a:bodyPr wrap="square" lIns="0" tIns="0" rIns="0" bIns="0" rtlCol="0" anchor="t"/>
          <a:lstStyle/>
          <a:p>
            <a:pPr marL="0" indent="0" algn="ctr">
              <a:lnSpc>
                <a:spcPts val="1221"/>
              </a:lnSpc>
              <a:buNone/>
            </a:pPr>
            <a:r>
              <a:rPr lang="en-US" sz="800" dirty="0">
                <a:solidFill>
                  <a:srgbClr val="4A5568"/>
                </a:solidFill>
                <a:latin typeface="Carlito" pitchFamily="34" charset="0"/>
                <a:ea typeface="Carlito" pitchFamily="34" charset="-122"/>
                <a:cs typeface="Carlito" pitchFamily="34" charset="-120"/>
              </a:rPr>
              <a:t>Secure-by-design treats security and reliability as architectural first principles, not as patches applied after shipping. The cost of fixing a vulnerability grows ~30× from design to deployment.</a:t>
            </a:r>
            <a:endParaRPr lang="en-US" sz="800" dirty="0"/>
          </a:p>
        </p:txBody>
      </p:sp>
      <p:sp>
        <p:nvSpPr>
          <p:cNvPr id="7" name="Text 4"/>
          <p:cNvSpPr/>
          <p:nvPr/>
        </p:nvSpPr>
        <p:spPr>
          <a:xfrm>
            <a:off x="460772" y="1402073"/>
            <a:ext cx="8222456" cy="1338560"/>
          </a:xfrm>
          <a:prstGeom prst="roundRect">
            <a:avLst>
              <a:gd name="adj" fmla="val 5693"/>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8" name="Text 5"/>
          <p:cNvSpPr/>
          <p:nvPr/>
        </p:nvSpPr>
        <p:spPr>
          <a:xfrm>
            <a:off x="1026590" y="1605669"/>
            <a:ext cx="132695" cy="122587"/>
          </a:xfrm>
          <a:prstGeom prst="rect">
            <a:avLst/>
          </a:prstGeom>
          <a:noFill/>
          <a:ln/>
        </p:spPr>
        <p:txBody>
          <a:bodyPr wrap="none" lIns="0" tIns="0" rIns="0" bIns="0" rtlCol="0" anchor="t">
            <a:normAutofit/>
          </a:bodyPr>
          <a:lstStyle/>
          <a:p>
            <a:pPr marL="0" indent="0" algn="ctr">
              <a:lnSpc>
                <a:spcPts val="844"/>
              </a:lnSpc>
              <a:buNone/>
            </a:pPr>
            <a:r>
              <a:rPr lang="en-US" sz="600" kern="0" spc="45" dirty="0">
                <a:solidFill>
                  <a:srgbClr val="C9A961"/>
                </a:solidFill>
                <a:latin typeface="Liberation Sans Narrow" pitchFamily="34" charset="0"/>
                <a:ea typeface="Liberation Sans Narrow" pitchFamily="34" charset="-122"/>
                <a:cs typeface="Liberation Sans Narrow" pitchFamily="34" charset="-120"/>
              </a:rPr>
              <a:t>01</a:t>
            </a:r>
            <a:endParaRPr lang="en-US" sz="600" dirty="0"/>
          </a:p>
        </p:txBody>
      </p:sp>
      <p:sp>
        <p:nvSpPr>
          <p:cNvPr id="9" name="Text 6"/>
          <p:cNvSpPr/>
          <p:nvPr/>
        </p:nvSpPr>
        <p:spPr>
          <a:xfrm>
            <a:off x="935831" y="1755688"/>
            <a:ext cx="314325" cy="314325"/>
          </a:xfrm>
          <a:prstGeom prst="ellipse">
            <a:avLst/>
          </a:prstGeom>
          <a:solidFill>
            <a:srgbClr val="0F2A4A"/>
          </a:solidFill>
          <a:ln/>
          <a:effectLst>
            <a:outerShdw blurRad="114300" dist="38100" dir="5400000" algn="bl" rotWithShape="0">
              <a:srgbClr val="0F2A4A">
                <a:alpha val="18000"/>
              </a:srgbClr>
            </a:outerShdw>
          </a:effectLst>
        </p:spPr>
        <p:txBody>
          <a:bodyPr wrap="square" rtlCol="0" anchor="ctr"/>
          <a:lstStyle/>
          <a:p>
            <a:pPr marL="0" indent="0">
              <a:buNone/>
            </a:pPr>
            <a:endParaRPr lang="en-US" dirty="0"/>
          </a:p>
        </p:txBody>
      </p:sp>
      <p:sp>
        <p:nvSpPr>
          <p:cNvPr id="10" name="Text 7"/>
          <p:cNvSpPr/>
          <p:nvPr/>
        </p:nvSpPr>
        <p:spPr>
          <a:xfrm>
            <a:off x="979051" y="1798908"/>
            <a:ext cx="227886" cy="227886"/>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11" name="Text 8"/>
          <p:cNvSpPr/>
          <p:nvPr/>
        </p:nvSpPr>
        <p:spPr>
          <a:xfrm>
            <a:off x="737028" y="2141451"/>
            <a:ext cx="711932" cy="140446"/>
          </a:xfrm>
          <a:prstGeom prst="rect">
            <a:avLst/>
          </a:prstGeom>
          <a:noFill/>
          <a:ln/>
        </p:spPr>
        <p:txBody>
          <a:bodyPr wrap="none" lIns="0" tIns="0" rIns="0" bIns="0" rtlCol="0" anchor="t">
            <a:normAutofit/>
          </a:bodyPr>
          <a:lstStyle/>
          <a:p>
            <a:pPr marL="0" indent="0" algn="ctr">
              <a:lnSpc>
                <a:spcPts val="1097"/>
              </a:lnSpc>
              <a:buNone/>
            </a:pPr>
            <a:r>
              <a:rPr lang="en-US" sz="731" kern="0" spc="7" dirty="0">
                <a:solidFill>
                  <a:srgbClr val="0F2A4A"/>
                </a:solidFill>
                <a:latin typeface="Carlito" pitchFamily="34" charset="0"/>
                <a:ea typeface="Carlito" pitchFamily="34" charset="-122"/>
                <a:cs typeface="Carlito" pitchFamily="34" charset="-120"/>
              </a:rPr>
              <a:t>Threat Model</a:t>
            </a:r>
            <a:endParaRPr lang="en-US" sz="731" dirty="0"/>
          </a:p>
        </p:txBody>
      </p:sp>
      <p:sp>
        <p:nvSpPr>
          <p:cNvPr id="12" name="Text 9"/>
          <p:cNvSpPr/>
          <p:nvPr/>
        </p:nvSpPr>
        <p:spPr>
          <a:xfrm>
            <a:off x="635794" y="2309329"/>
            <a:ext cx="914400" cy="256282"/>
          </a:xfrm>
          <a:prstGeom prst="rect">
            <a:avLst/>
          </a:prstGeom>
          <a:noFill/>
          <a:ln/>
        </p:spPr>
        <p:txBody>
          <a:bodyPr wrap="square" lIns="0" tIns="0" rIns="0" bIns="0" rtlCol="0" anchor="t"/>
          <a:lstStyle/>
          <a:p>
            <a:pPr marL="0" indent="0" algn="ctr">
              <a:lnSpc>
                <a:spcPts val="897"/>
              </a:lnSpc>
              <a:buNone/>
            </a:pPr>
            <a:r>
              <a:rPr lang="en-US" sz="800" dirty="0">
                <a:solidFill>
                  <a:srgbClr val="4A5568"/>
                </a:solidFill>
                <a:latin typeface="Carlito" pitchFamily="34" charset="0"/>
                <a:ea typeface="Carlito" pitchFamily="34" charset="-122"/>
                <a:cs typeface="Carlito" pitchFamily="34" charset="-120"/>
              </a:rPr>
              <a:t>STRIDE / DREAD before code</a:t>
            </a:r>
            <a:endParaRPr lang="en-US" sz="800" dirty="0"/>
          </a:p>
        </p:txBody>
      </p:sp>
      <p:sp>
        <p:nvSpPr>
          <p:cNvPr id="13" name="Text 10"/>
          <p:cNvSpPr/>
          <p:nvPr/>
        </p:nvSpPr>
        <p:spPr>
          <a:xfrm>
            <a:off x="2186222" y="1605669"/>
            <a:ext cx="132695" cy="122587"/>
          </a:xfrm>
          <a:prstGeom prst="rect">
            <a:avLst/>
          </a:prstGeom>
          <a:noFill/>
          <a:ln/>
        </p:spPr>
        <p:txBody>
          <a:bodyPr wrap="none" lIns="0" tIns="0" rIns="0" bIns="0" rtlCol="0" anchor="t">
            <a:normAutofit/>
          </a:bodyPr>
          <a:lstStyle/>
          <a:p>
            <a:pPr marL="0" indent="0" algn="ctr">
              <a:lnSpc>
                <a:spcPts val="844"/>
              </a:lnSpc>
              <a:buNone/>
            </a:pPr>
            <a:r>
              <a:rPr lang="en-US" sz="600" kern="0" spc="45" dirty="0">
                <a:solidFill>
                  <a:srgbClr val="C9A961"/>
                </a:solidFill>
                <a:latin typeface="Liberation Sans Narrow" pitchFamily="34" charset="0"/>
                <a:ea typeface="Liberation Sans Narrow" pitchFamily="34" charset="-122"/>
                <a:cs typeface="Liberation Sans Narrow" pitchFamily="34" charset="-120"/>
              </a:rPr>
              <a:t>02</a:t>
            </a:r>
            <a:endParaRPr lang="en-US" sz="600" dirty="0"/>
          </a:p>
        </p:txBody>
      </p:sp>
      <p:sp>
        <p:nvSpPr>
          <p:cNvPr id="14" name="Text 11"/>
          <p:cNvSpPr/>
          <p:nvPr/>
        </p:nvSpPr>
        <p:spPr>
          <a:xfrm>
            <a:off x="2095463" y="1755688"/>
            <a:ext cx="314325" cy="314325"/>
          </a:xfrm>
          <a:prstGeom prst="ellipse">
            <a:avLst/>
          </a:prstGeom>
          <a:solidFill>
            <a:srgbClr val="0F2A4A"/>
          </a:solidFill>
          <a:ln/>
          <a:effectLst>
            <a:outerShdw blurRad="114300" dist="38100" dir="5400000" algn="bl" rotWithShape="0">
              <a:srgbClr val="0F2A4A">
                <a:alpha val="18000"/>
              </a:srgbClr>
            </a:outerShdw>
          </a:effectLst>
        </p:spPr>
        <p:txBody>
          <a:bodyPr wrap="square" rtlCol="0" anchor="ctr"/>
          <a:lstStyle/>
          <a:p>
            <a:pPr marL="0" indent="0">
              <a:buNone/>
            </a:pPr>
            <a:endParaRPr lang="en-US" dirty="0"/>
          </a:p>
        </p:txBody>
      </p:sp>
      <p:sp>
        <p:nvSpPr>
          <p:cNvPr id="15" name="Text 12"/>
          <p:cNvSpPr/>
          <p:nvPr/>
        </p:nvSpPr>
        <p:spPr>
          <a:xfrm>
            <a:off x="2138682" y="1798908"/>
            <a:ext cx="227886" cy="227886"/>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16" name="Text 13"/>
          <p:cNvSpPr/>
          <p:nvPr/>
        </p:nvSpPr>
        <p:spPr>
          <a:xfrm>
            <a:off x="1860296" y="2141451"/>
            <a:ext cx="784658" cy="140446"/>
          </a:xfrm>
          <a:prstGeom prst="rect">
            <a:avLst/>
          </a:prstGeom>
          <a:noFill/>
          <a:ln/>
        </p:spPr>
        <p:txBody>
          <a:bodyPr wrap="none" lIns="0" tIns="0" rIns="0" bIns="0" rtlCol="0" anchor="t">
            <a:normAutofit/>
          </a:bodyPr>
          <a:lstStyle/>
          <a:p>
            <a:pPr marL="0" indent="0" algn="ctr">
              <a:lnSpc>
                <a:spcPts val="1097"/>
              </a:lnSpc>
              <a:buNone/>
            </a:pPr>
            <a:r>
              <a:rPr lang="en-US" sz="731" kern="0" spc="7" dirty="0">
                <a:solidFill>
                  <a:srgbClr val="0F2A4A"/>
                </a:solidFill>
                <a:latin typeface="Carlito" pitchFamily="34" charset="0"/>
                <a:ea typeface="Carlito" pitchFamily="34" charset="-122"/>
                <a:cs typeface="Carlito" pitchFamily="34" charset="-120"/>
              </a:rPr>
              <a:t>Least Privilege</a:t>
            </a:r>
            <a:endParaRPr lang="en-US" sz="731" dirty="0"/>
          </a:p>
        </p:txBody>
      </p:sp>
      <p:sp>
        <p:nvSpPr>
          <p:cNvPr id="17" name="Text 14"/>
          <p:cNvSpPr/>
          <p:nvPr/>
        </p:nvSpPr>
        <p:spPr>
          <a:xfrm>
            <a:off x="1767993" y="2309329"/>
            <a:ext cx="969264" cy="256282"/>
          </a:xfrm>
          <a:prstGeom prst="rect">
            <a:avLst/>
          </a:prstGeom>
          <a:noFill/>
          <a:ln/>
        </p:spPr>
        <p:txBody>
          <a:bodyPr wrap="square" lIns="0" tIns="0" rIns="0" bIns="0" rtlCol="0" anchor="t"/>
          <a:lstStyle/>
          <a:p>
            <a:pPr marL="0" indent="0" algn="ctr">
              <a:lnSpc>
                <a:spcPts val="897"/>
              </a:lnSpc>
              <a:buNone/>
            </a:pPr>
            <a:r>
              <a:rPr lang="en-US" sz="800" dirty="0">
                <a:solidFill>
                  <a:srgbClr val="4A5568"/>
                </a:solidFill>
                <a:latin typeface="Carlito" pitchFamily="34" charset="0"/>
                <a:ea typeface="Carlito" pitchFamily="34" charset="-122"/>
                <a:cs typeface="Carlito" pitchFamily="34" charset="-120"/>
              </a:rPr>
              <a:t>Minimal permissions, minimal surface</a:t>
            </a:r>
            <a:endParaRPr lang="en-US" sz="800" dirty="0"/>
          </a:p>
        </p:txBody>
      </p:sp>
      <p:sp>
        <p:nvSpPr>
          <p:cNvPr id="18" name="Text 15"/>
          <p:cNvSpPr/>
          <p:nvPr/>
        </p:nvSpPr>
        <p:spPr>
          <a:xfrm>
            <a:off x="3345965" y="1605669"/>
            <a:ext cx="132695" cy="122587"/>
          </a:xfrm>
          <a:prstGeom prst="rect">
            <a:avLst/>
          </a:prstGeom>
          <a:noFill/>
          <a:ln/>
        </p:spPr>
        <p:txBody>
          <a:bodyPr wrap="none" lIns="0" tIns="0" rIns="0" bIns="0" rtlCol="0" anchor="t">
            <a:normAutofit/>
          </a:bodyPr>
          <a:lstStyle/>
          <a:p>
            <a:pPr marL="0" indent="0" algn="ctr">
              <a:lnSpc>
                <a:spcPts val="844"/>
              </a:lnSpc>
              <a:buNone/>
            </a:pPr>
            <a:r>
              <a:rPr lang="en-US" sz="600" kern="0" spc="45" dirty="0">
                <a:solidFill>
                  <a:srgbClr val="C9A961"/>
                </a:solidFill>
                <a:latin typeface="Liberation Sans Narrow" pitchFamily="34" charset="0"/>
                <a:ea typeface="Liberation Sans Narrow" pitchFamily="34" charset="-122"/>
                <a:cs typeface="Liberation Sans Narrow" pitchFamily="34" charset="-120"/>
              </a:rPr>
              <a:t>03</a:t>
            </a:r>
            <a:endParaRPr lang="en-US" sz="600" dirty="0"/>
          </a:p>
        </p:txBody>
      </p:sp>
      <p:sp>
        <p:nvSpPr>
          <p:cNvPr id="19" name="Text 16"/>
          <p:cNvSpPr/>
          <p:nvPr/>
        </p:nvSpPr>
        <p:spPr>
          <a:xfrm>
            <a:off x="3255206" y="1755688"/>
            <a:ext cx="314325" cy="314325"/>
          </a:xfrm>
          <a:prstGeom prst="ellipse">
            <a:avLst/>
          </a:prstGeom>
          <a:solidFill>
            <a:srgbClr val="0F2A4A"/>
          </a:solidFill>
          <a:ln/>
          <a:effectLst>
            <a:outerShdw blurRad="114300" dist="38100" dir="5400000" algn="bl" rotWithShape="0">
              <a:srgbClr val="0F2A4A">
                <a:alpha val="18000"/>
              </a:srgbClr>
            </a:outerShdw>
          </a:effectLst>
        </p:spPr>
        <p:txBody>
          <a:bodyPr wrap="square" rtlCol="0" anchor="ctr"/>
          <a:lstStyle/>
          <a:p>
            <a:pPr marL="0" indent="0">
              <a:buNone/>
            </a:pPr>
            <a:endParaRPr lang="en-US" dirty="0"/>
          </a:p>
        </p:txBody>
      </p:sp>
      <p:sp>
        <p:nvSpPr>
          <p:cNvPr id="20" name="Text 17"/>
          <p:cNvSpPr/>
          <p:nvPr/>
        </p:nvSpPr>
        <p:spPr>
          <a:xfrm>
            <a:off x="3298426" y="1798908"/>
            <a:ext cx="227886" cy="227886"/>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21" name="Text 18"/>
          <p:cNvSpPr/>
          <p:nvPr/>
        </p:nvSpPr>
        <p:spPr>
          <a:xfrm>
            <a:off x="2959087" y="2141451"/>
            <a:ext cx="906451" cy="140446"/>
          </a:xfrm>
          <a:prstGeom prst="rect">
            <a:avLst/>
          </a:prstGeom>
          <a:noFill/>
          <a:ln/>
        </p:spPr>
        <p:txBody>
          <a:bodyPr wrap="none" lIns="0" tIns="0" rIns="0" bIns="0" rtlCol="0" anchor="t">
            <a:normAutofit/>
          </a:bodyPr>
          <a:lstStyle/>
          <a:p>
            <a:pPr marL="0" indent="0" algn="ctr">
              <a:lnSpc>
                <a:spcPts val="1097"/>
              </a:lnSpc>
              <a:buNone/>
            </a:pPr>
            <a:r>
              <a:rPr lang="en-US" sz="731" kern="0" spc="7" dirty="0">
                <a:solidFill>
                  <a:srgbClr val="0F2A4A"/>
                </a:solidFill>
                <a:latin typeface="Carlito" pitchFamily="34" charset="0"/>
                <a:ea typeface="Carlito" pitchFamily="34" charset="-122"/>
                <a:cs typeface="Carlito" pitchFamily="34" charset="-120"/>
              </a:rPr>
              <a:t>Defense in Depth</a:t>
            </a:r>
            <a:endParaRPr lang="en-US" sz="731" dirty="0"/>
          </a:p>
        </p:txBody>
      </p:sp>
      <p:sp>
        <p:nvSpPr>
          <p:cNvPr id="22" name="Text 19"/>
          <p:cNvSpPr/>
          <p:nvPr/>
        </p:nvSpPr>
        <p:spPr>
          <a:xfrm>
            <a:off x="2955168" y="2309329"/>
            <a:ext cx="914400" cy="256282"/>
          </a:xfrm>
          <a:prstGeom prst="rect">
            <a:avLst/>
          </a:prstGeom>
          <a:noFill/>
          <a:ln/>
        </p:spPr>
        <p:txBody>
          <a:bodyPr wrap="square" lIns="0" tIns="0" rIns="0" bIns="0" rtlCol="0" anchor="t"/>
          <a:lstStyle/>
          <a:p>
            <a:pPr marL="0" indent="0" algn="ctr">
              <a:lnSpc>
                <a:spcPts val="897"/>
              </a:lnSpc>
              <a:buNone/>
            </a:pPr>
            <a:r>
              <a:rPr lang="en-US" sz="800" dirty="0">
                <a:solidFill>
                  <a:srgbClr val="4A5568"/>
                </a:solidFill>
                <a:latin typeface="Carlito" pitchFamily="34" charset="0"/>
                <a:ea typeface="Carlito" pitchFamily="34" charset="-122"/>
                <a:cs typeface="Carlito" pitchFamily="34" charset="-120"/>
              </a:rPr>
              <a:t>Multiple independent controls</a:t>
            </a:r>
            <a:endParaRPr lang="en-US" sz="800" dirty="0"/>
          </a:p>
        </p:txBody>
      </p:sp>
      <p:sp>
        <p:nvSpPr>
          <p:cNvPr id="23" name="Text 20"/>
          <p:cNvSpPr/>
          <p:nvPr/>
        </p:nvSpPr>
        <p:spPr>
          <a:xfrm>
            <a:off x="4505597" y="1605669"/>
            <a:ext cx="132695" cy="122587"/>
          </a:xfrm>
          <a:prstGeom prst="rect">
            <a:avLst/>
          </a:prstGeom>
          <a:noFill/>
          <a:ln/>
        </p:spPr>
        <p:txBody>
          <a:bodyPr wrap="none" lIns="0" tIns="0" rIns="0" bIns="0" rtlCol="0" anchor="t">
            <a:normAutofit/>
          </a:bodyPr>
          <a:lstStyle/>
          <a:p>
            <a:pPr marL="0" indent="0" algn="ctr">
              <a:lnSpc>
                <a:spcPts val="844"/>
              </a:lnSpc>
              <a:buNone/>
            </a:pPr>
            <a:r>
              <a:rPr lang="en-US" sz="600" kern="0" spc="45" dirty="0">
                <a:solidFill>
                  <a:srgbClr val="C9A961"/>
                </a:solidFill>
                <a:latin typeface="Liberation Sans Narrow" pitchFamily="34" charset="0"/>
                <a:ea typeface="Liberation Sans Narrow" pitchFamily="34" charset="-122"/>
                <a:cs typeface="Liberation Sans Narrow" pitchFamily="34" charset="-120"/>
              </a:rPr>
              <a:t>04</a:t>
            </a:r>
            <a:endParaRPr lang="en-US" sz="600" dirty="0"/>
          </a:p>
        </p:txBody>
      </p:sp>
      <p:sp>
        <p:nvSpPr>
          <p:cNvPr id="24" name="Text 21"/>
          <p:cNvSpPr/>
          <p:nvPr/>
        </p:nvSpPr>
        <p:spPr>
          <a:xfrm>
            <a:off x="4414838" y="1755688"/>
            <a:ext cx="314325" cy="314325"/>
          </a:xfrm>
          <a:prstGeom prst="ellipse">
            <a:avLst/>
          </a:prstGeom>
          <a:solidFill>
            <a:srgbClr val="0F2A4A"/>
          </a:solidFill>
          <a:ln/>
          <a:effectLst>
            <a:outerShdw blurRad="114300" dist="38100" dir="5400000" algn="bl" rotWithShape="0">
              <a:srgbClr val="0F2A4A">
                <a:alpha val="18000"/>
              </a:srgbClr>
            </a:outerShdw>
          </a:effectLst>
        </p:spPr>
        <p:txBody>
          <a:bodyPr wrap="square" rtlCol="0" anchor="ctr"/>
          <a:lstStyle/>
          <a:p>
            <a:pPr marL="0" indent="0">
              <a:buNone/>
            </a:pPr>
            <a:endParaRPr lang="en-US" dirty="0"/>
          </a:p>
        </p:txBody>
      </p:sp>
      <p:sp>
        <p:nvSpPr>
          <p:cNvPr id="25" name="Text 22"/>
          <p:cNvSpPr/>
          <p:nvPr/>
        </p:nvSpPr>
        <p:spPr>
          <a:xfrm>
            <a:off x="4458057" y="1798908"/>
            <a:ext cx="227886" cy="227886"/>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26" name="Text 23"/>
          <p:cNvSpPr/>
          <p:nvPr/>
        </p:nvSpPr>
        <p:spPr>
          <a:xfrm>
            <a:off x="4152461" y="2141451"/>
            <a:ext cx="839079" cy="140446"/>
          </a:xfrm>
          <a:prstGeom prst="rect">
            <a:avLst/>
          </a:prstGeom>
          <a:noFill/>
          <a:ln/>
        </p:spPr>
        <p:txBody>
          <a:bodyPr wrap="none" lIns="0" tIns="0" rIns="0" bIns="0" rtlCol="0" anchor="t">
            <a:normAutofit/>
          </a:bodyPr>
          <a:lstStyle/>
          <a:p>
            <a:pPr marL="0" indent="0" algn="ctr">
              <a:lnSpc>
                <a:spcPts val="1097"/>
              </a:lnSpc>
              <a:buNone/>
            </a:pPr>
            <a:r>
              <a:rPr lang="en-US" sz="731" kern="0" spc="7" dirty="0">
                <a:solidFill>
                  <a:srgbClr val="0F2A4A"/>
                </a:solidFill>
                <a:latin typeface="Carlito" pitchFamily="34" charset="0"/>
                <a:ea typeface="Carlito" pitchFamily="34" charset="-122"/>
                <a:cs typeface="Carlito" pitchFamily="34" charset="-120"/>
              </a:rPr>
              <a:t>Secure Defaults</a:t>
            </a:r>
            <a:endParaRPr lang="en-US" sz="731" dirty="0"/>
          </a:p>
        </p:txBody>
      </p:sp>
      <p:sp>
        <p:nvSpPr>
          <p:cNvPr id="27" name="Text 24"/>
          <p:cNvSpPr/>
          <p:nvPr/>
        </p:nvSpPr>
        <p:spPr>
          <a:xfrm>
            <a:off x="4114800" y="2309329"/>
            <a:ext cx="914400" cy="256282"/>
          </a:xfrm>
          <a:prstGeom prst="rect">
            <a:avLst/>
          </a:prstGeom>
          <a:noFill/>
          <a:ln/>
        </p:spPr>
        <p:txBody>
          <a:bodyPr wrap="square" lIns="0" tIns="0" rIns="0" bIns="0" rtlCol="0" anchor="t"/>
          <a:lstStyle/>
          <a:p>
            <a:pPr marL="0" indent="0" algn="ctr">
              <a:lnSpc>
                <a:spcPts val="897"/>
              </a:lnSpc>
              <a:buNone/>
            </a:pPr>
            <a:r>
              <a:rPr lang="en-US" sz="800" dirty="0">
                <a:solidFill>
                  <a:srgbClr val="4A5568"/>
                </a:solidFill>
                <a:latin typeface="Carlito" pitchFamily="34" charset="0"/>
                <a:ea typeface="Carlito" pitchFamily="34" charset="-122"/>
                <a:cs typeface="Carlito" pitchFamily="34" charset="-120"/>
              </a:rPr>
              <a:t>Deny by default, opt-in features</a:t>
            </a:r>
            <a:endParaRPr lang="en-US" sz="800" dirty="0"/>
          </a:p>
        </p:txBody>
      </p:sp>
      <p:sp>
        <p:nvSpPr>
          <p:cNvPr id="28" name="Text 25"/>
          <p:cNvSpPr/>
          <p:nvPr/>
        </p:nvSpPr>
        <p:spPr>
          <a:xfrm>
            <a:off x="5665228" y="1605669"/>
            <a:ext cx="132695" cy="122587"/>
          </a:xfrm>
          <a:prstGeom prst="rect">
            <a:avLst/>
          </a:prstGeom>
          <a:noFill/>
          <a:ln/>
        </p:spPr>
        <p:txBody>
          <a:bodyPr wrap="none" lIns="0" tIns="0" rIns="0" bIns="0" rtlCol="0" anchor="t">
            <a:normAutofit/>
          </a:bodyPr>
          <a:lstStyle/>
          <a:p>
            <a:pPr marL="0" indent="0" algn="ctr">
              <a:lnSpc>
                <a:spcPts val="844"/>
              </a:lnSpc>
              <a:buNone/>
            </a:pPr>
            <a:r>
              <a:rPr lang="en-US" sz="600" kern="0" spc="45" dirty="0">
                <a:solidFill>
                  <a:srgbClr val="C9A961"/>
                </a:solidFill>
                <a:latin typeface="Liberation Sans Narrow" pitchFamily="34" charset="0"/>
                <a:ea typeface="Liberation Sans Narrow" pitchFamily="34" charset="-122"/>
                <a:cs typeface="Liberation Sans Narrow" pitchFamily="34" charset="-120"/>
              </a:rPr>
              <a:t>05</a:t>
            </a:r>
            <a:endParaRPr lang="en-US" sz="600" dirty="0"/>
          </a:p>
        </p:txBody>
      </p:sp>
      <p:sp>
        <p:nvSpPr>
          <p:cNvPr id="29" name="Text 26"/>
          <p:cNvSpPr/>
          <p:nvPr/>
        </p:nvSpPr>
        <p:spPr>
          <a:xfrm>
            <a:off x="5574469" y="1755688"/>
            <a:ext cx="314325" cy="314325"/>
          </a:xfrm>
          <a:prstGeom prst="ellipse">
            <a:avLst/>
          </a:prstGeom>
          <a:solidFill>
            <a:srgbClr val="0F2A4A"/>
          </a:solidFill>
          <a:ln/>
          <a:effectLst>
            <a:outerShdw blurRad="114300" dist="38100" dir="5400000" algn="bl" rotWithShape="0">
              <a:srgbClr val="0F2A4A">
                <a:alpha val="18000"/>
              </a:srgbClr>
            </a:outerShdw>
          </a:effectLst>
        </p:spPr>
        <p:txBody>
          <a:bodyPr wrap="square" rtlCol="0" anchor="ctr"/>
          <a:lstStyle/>
          <a:p>
            <a:pPr marL="0" indent="0">
              <a:buNone/>
            </a:pPr>
            <a:endParaRPr lang="en-US" dirty="0"/>
          </a:p>
        </p:txBody>
      </p:sp>
      <p:sp>
        <p:nvSpPr>
          <p:cNvPr id="30" name="Text 27"/>
          <p:cNvSpPr/>
          <p:nvPr/>
        </p:nvSpPr>
        <p:spPr>
          <a:xfrm>
            <a:off x="5617689" y="1798908"/>
            <a:ext cx="227886" cy="227886"/>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31" name="Text 28"/>
          <p:cNvSpPr/>
          <p:nvPr/>
        </p:nvSpPr>
        <p:spPr>
          <a:xfrm>
            <a:off x="5261736" y="2141451"/>
            <a:ext cx="939679" cy="140446"/>
          </a:xfrm>
          <a:prstGeom prst="rect">
            <a:avLst/>
          </a:prstGeom>
          <a:noFill/>
          <a:ln/>
        </p:spPr>
        <p:txBody>
          <a:bodyPr wrap="none" lIns="0" tIns="0" rIns="0" bIns="0" rtlCol="0" anchor="t">
            <a:normAutofit/>
          </a:bodyPr>
          <a:lstStyle/>
          <a:p>
            <a:pPr marL="0" indent="0" algn="ctr">
              <a:lnSpc>
                <a:spcPts val="1097"/>
              </a:lnSpc>
              <a:buNone/>
            </a:pPr>
            <a:r>
              <a:rPr lang="en-US" sz="731" kern="0" spc="7" dirty="0">
                <a:solidFill>
                  <a:srgbClr val="0F2A4A"/>
                </a:solidFill>
                <a:latin typeface="Carlito" pitchFamily="34" charset="0"/>
                <a:ea typeface="Carlito" pitchFamily="34" charset="-122"/>
                <a:cs typeface="Carlito" pitchFamily="34" charset="-120"/>
              </a:rPr>
              <a:t>Verify, Don't Trust</a:t>
            </a:r>
            <a:endParaRPr lang="en-US" sz="731" dirty="0"/>
          </a:p>
        </p:txBody>
      </p:sp>
      <p:sp>
        <p:nvSpPr>
          <p:cNvPr id="32" name="Text 29"/>
          <p:cNvSpPr/>
          <p:nvPr/>
        </p:nvSpPr>
        <p:spPr>
          <a:xfrm>
            <a:off x="5274432" y="2309329"/>
            <a:ext cx="914400" cy="256282"/>
          </a:xfrm>
          <a:prstGeom prst="rect">
            <a:avLst/>
          </a:prstGeom>
          <a:noFill/>
          <a:ln/>
        </p:spPr>
        <p:txBody>
          <a:bodyPr wrap="square" lIns="0" tIns="0" rIns="0" bIns="0" rtlCol="0" anchor="t"/>
          <a:lstStyle/>
          <a:p>
            <a:pPr marL="0" indent="0" algn="ctr">
              <a:lnSpc>
                <a:spcPts val="897"/>
              </a:lnSpc>
              <a:buNone/>
            </a:pPr>
            <a:r>
              <a:rPr lang="en-US" sz="800" dirty="0">
                <a:solidFill>
                  <a:srgbClr val="4A5568"/>
                </a:solidFill>
                <a:latin typeface="Carlito" pitchFamily="34" charset="0"/>
                <a:ea typeface="Carlito" pitchFamily="34" charset="-122"/>
                <a:cs typeface="Carlito" pitchFamily="34" charset="-120"/>
              </a:rPr>
              <a:t>Validate at every boundary</a:t>
            </a:r>
            <a:endParaRPr lang="en-US" sz="800" dirty="0"/>
          </a:p>
        </p:txBody>
      </p:sp>
      <p:sp>
        <p:nvSpPr>
          <p:cNvPr id="33" name="Text 30"/>
          <p:cNvSpPr/>
          <p:nvPr/>
        </p:nvSpPr>
        <p:spPr>
          <a:xfrm>
            <a:off x="6824971" y="1605669"/>
            <a:ext cx="132695" cy="122587"/>
          </a:xfrm>
          <a:prstGeom prst="rect">
            <a:avLst/>
          </a:prstGeom>
          <a:noFill/>
          <a:ln/>
        </p:spPr>
        <p:txBody>
          <a:bodyPr wrap="none" lIns="0" tIns="0" rIns="0" bIns="0" rtlCol="0" anchor="t">
            <a:normAutofit/>
          </a:bodyPr>
          <a:lstStyle/>
          <a:p>
            <a:pPr marL="0" indent="0" algn="ctr">
              <a:lnSpc>
                <a:spcPts val="844"/>
              </a:lnSpc>
              <a:buNone/>
            </a:pPr>
            <a:r>
              <a:rPr lang="en-US" sz="600" kern="0" spc="45" dirty="0">
                <a:solidFill>
                  <a:srgbClr val="C9A961"/>
                </a:solidFill>
                <a:latin typeface="Liberation Sans Narrow" pitchFamily="34" charset="0"/>
                <a:ea typeface="Liberation Sans Narrow" pitchFamily="34" charset="-122"/>
                <a:cs typeface="Liberation Sans Narrow" pitchFamily="34" charset="-120"/>
              </a:rPr>
              <a:t>06</a:t>
            </a:r>
            <a:endParaRPr lang="en-US" sz="600" dirty="0"/>
          </a:p>
        </p:txBody>
      </p:sp>
      <p:sp>
        <p:nvSpPr>
          <p:cNvPr id="34" name="Text 31"/>
          <p:cNvSpPr/>
          <p:nvPr/>
        </p:nvSpPr>
        <p:spPr>
          <a:xfrm>
            <a:off x="6734212" y="1755688"/>
            <a:ext cx="314325" cy="314325"/>
          </a:xfrm>
          <a:prstGeom prst="ellipse">
            <a:avLst/>
          </a:prstGeom>
          <a:solidFill>
            <a:srgbClr val="0F2A4A"/>
          </a:solidFill>
          <a:ln/>
          <a:effectLst>
            <a:outerShdw blurRad="114300" dist="38100" dir="5400000" algn="bl" rotWithShape="0">
              <a:srgbClr val="0F2A4A">
                <a:alpha val="18000"/>
              </a:srgbClr>
            </a:outerShdw>
          </a:effectLst>
        </p:spPr>
        <p:txBody>
          <a:bodyPr wrap="square" rtlCol="0" anchor="ctr"/>
          <a:lstStyle/>
          <a:p>
            <a:pPr marL="0" indent="0">
              <a:buNone/>
            </a:pPr>
            <a:endParaRPr lang="en-US" dirty="0"/>
          </a:p>
        </p:txBody>
      </p:sp>
      <p:sp>
        <p:nvSpPr>
          <p:cNvPr id="35" name="Text 32"/>
          <p:cNvSpPr/>
          <p:nvPr/>
        </p:nvSpPr>
        <p:spPr>
          <a:xfrm>
            <a:off x="6777432" y="1798908"/>
            <a:ext cx="227886" cy="227886"/>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36" name="Text 33"/>
          <p:cNvSpPr/>
          <p:nvPr/>
        </p:nvSpPr>
        <p:spPr>
          <a:xfrm>
            <a:off x="6479825" y="2141451"/>
            <a:ext cx="822988" cy="140446"/>
          </a:xfrm>
          <a:prstGeom prst="rect">
            <a:avLst/>
          </a:prstGeom>
          <a:noFill/>
          <a:ln/>
        </p:spPr>
        <p:txBody>
          <a:bodyPr wrap="none" lIns="0" tIns="0" rIns="0" bIns="0" rtlCol="0" anchor="t">
            <a:normAutofit/>
          </a:bodyPr>
          <a:lstStyle/>
          <a:p>
            <a:pPr marL="0" indent="0" algn="ctr">
              <a:lnSpc>
                <a:spcPts val="1097"/>
              </a:lnSpc>
              <a:buNone/>
            </a:pPr>
            <a:r>
              <a:rPr lang="en-US" sz="731" kern="0" spc="7" dirty="0">
                <a:solidFill>
                  <a:srgbClr val="0F2A4A"/>
                </a:solidFill>
                <a:latin typeface="Carlito" pitchFamily="34" charset="0"/>
                <a:ea typeface="Carlito" pitchFamily="34" charset="-122"/>
                <a:cs typeface="Carlito" pitchFamily="34" charset="-120"/>
              </a:rPr>
              <a:t>Bill of Materials</a:t>
            </a:r>
            <a:endParaRPr lang="en-US" sz="731" dirty="0"/>
          </a:p>
        </p:txBody>
      </p:sp>
      <p:sp>
        <p:nvSpPr>
          <p:cNvPr id="37" name="Text 34"/>
          <p:cNvSpPr/>
          <p:nvPr/>
        </p:nvSpPr>
        <p:spPr>
          <a:xfrm>
            <a:off x="6434175" y="2309329"/>
            <a:ext cx="914400" cy="256282"/>
          </a:xfrm>
          <a:prstGeom prst="rect">
            <a:avLst/>
          </a:prstGeom>
          <a:noFill/>
          <a:ln/>
        </p:spPr>
        <p:txBody>
          <a:bodyPr wrap="square" lIns="0" tIns="0" rIns="0" bIns="0" rtlCol="0" anchor="t"/>
          <a:lstStyle/>
          <a:p>
            <a:pPr marL="0" indent="0" algn="ctr">
              <a:lnSpc>
                <a:spcPts val="897"/>
              </a:lnSpc>
              <a:buNone/>
            </a:pPr>
            <a:r>
              <a:rPr lang="en-US" sz="800" dirty="0">
                <a:solidFill>
                  <a:srgbClr val="4A5568"/>
                </a:solidFill>
                <a:latin typeface="Carlito" pitchFamily="34" charset="0"/>
                <a:ea typeface="Carlito" pitchFamily="34" charset="-122"/>
                <a:cs typeface="Carlito" pitchFamily="34" charset="-120"/>
              </a:rPr>
              <a:t>SBOM for every dependency</a:t>
            </a:r>
            <a:endParaRPr lang="en-US" sz="800" dirty="0"/>
          </a:p>
        </p:txBody>
      </p:sp>
      <p:sp>
        <p:nvSpPr>
          <p:cNvPr id="38" name="Text 35"/>
          <p:cNvSpPr/>
          <p:nvPr/>
        </p:nvSpPr>
        <p:spPr>
          <a:xfrm>
            <a:off x="7984603" y="1605669"/>
            <a:ext cx="132695" cy="122587"/>
          </a:xfrm>
          <a:prstGeom prst="rect">
            <a:avLst/>
          </a:prstGeom>
          <a:noFill/>
          <a:ln/>
        </p:spPr>
        <p:txBody>
          <a:bodyPr wrap="none" lIns="0" tIns="0" rIns="0" bIns="0" rtlCol="0" anchor="t">
            <a:normAutofit/>
          </a:bodyPr>
          <a:lstStyle/>
          <a:p>
            <a:pPr marL="0" indent="0" algn="ctr">
              <a:lnSpc>
                <a:spcPts val="844"/>
              </a:lnSpc>
              <a:buNone/>
            </a:pPr>
            <a:r>
              <a:rPr lang="en-US" sz="600" kern="0" spc="45" dirty="0">
                <a:solidFill>
                  <a:srgbClr val="C9A961"/>
                </a:solidFill>
                <a:latin typeface="Liberation Sans Narrow" pitchFamily="34" charset="0"/>
                <a:ea typeface="Liberation Sans Narrow" pitchFamily="34" charset="-122"/>
                <a:cs typeface="Liberation Sans Narrow" pitchFamily="34" charset="-120"/>
              </a:rPr>
              <a:t>07</a:t>
            </a:r>
            <a:endParaRPr lang="en-US" sz="600" dirty="0"/>
          </a:p>
        </p:txBody>
      </p:sp>
      <p:sp>
        <p:nvSpPr>
          <p:cNvPr id="39" name="Text 36"/>
          <p:cNvSpPr/>
          <p:nvPr/>
        </p:nvSpPr>
        <p:spPr>
          <a:xfrm>
            <a:off x="7893844" y="1755688"/>
            <a:ext cx="314325" cy="314325"/>
          </a:xfrm>
          <a:prstGeom prst="ellipse">
            <a:avLst/>
          </a:prstGeom>
          <a:solidFill>
            <a:srgbClr val="0F2A4A"/>
          </a:solidFill>
          <a:ln/>
          <a:effectLst>
            <a:outerShdw blurRad="114300" dist="38100" dir="5400000" algn="bl" rotWithShape="0">
              <a:srgbClr val="0F2A4A">
                <a:alpha val="18000"/>
              </a:srgbClr>
            </a:outerShdw>
          </a:effectLst>
        </p:spPr>
        <p:txBody>
          <a:bodyPr wrap="square" rtlCol="0" anchor="ctr"/>
          <a:lstStyle/>
          <a:p>
            <a:pPr marL="0" indent="0">
              <a:buNone/>
            </a:pPr>
            <a:endParaRPr lang="en-US" dirty="0"/>
          </a:p>
        </p:txBody>
      </p:sp>
      <p:sp>
        <p:nvSpPr>
          <p:cNvPr id="40" name="Text 37"/>
          <p:cNvSpPr/>
          <p:nvPr/>
        </p:nvSpPr>
        <p:spPr>
          <a:xfrm>
            <a:off x="7937063" y="1798908"/>
            <a:ext cx="227886" cy="227886"/>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41" name="Text 38"/>
          <p:cNvSpPr/>
          <p:nvPr/>
        </p:nvSpPr>
        <p:spPr>
          <a:xfrm>
            <a:off x="7687369" y="2141451"/>
            <a:ext cx="727274" cy="140446"/>
          </a:xfrm>
          <a:prstGeom prst="rect">
            <a:avLst/>
          </a:prstGeom>
          <a:noFill/>
          <a:ln/>
        </p:spPr>
        <p:txBody>
          <a:bodyPr wrap="none" lIns="0" tIns="0" rIns="0" bIns="0" rtlCol="0" anchor="t">
            <a:normAutofit/>
          </a:bodyPr>
          <a:lstStyle/>
          <a:p>
            <a:pPr marL="0" indent="0" algn="ctr">
              <a:lnSpc>
                <a:spcPts val="1097"/>
              </a:lnSpc>
              <a:buNone/>
            </a:pPr>
            <a:r>
              <a:rPr lang="en-US" sz="731" kern="0" spc="7" dirty="0">
                <a:solidFill>
                  <a:srgbClr val="0F2A4A"/>
                </a:solidFill>
                <a:latin typeface="Carlito" pitchFamily="34" charset="0"/>
                <a:ea typeface="Carlito" pitchFamily="34" charset="-122"/>
                <a:cs typeface="Carlito" pitchFamily="34" charset="-120"/>
              </a:rPr>
              <a:t>Auditability</a:t>
            </a:r>
            <a:endParaRPr lang="en-US" sz="731" dirty="0"/>
          </a:p>
        </p:txBody>
      </p:sp>
      <p:sp>
        <p:nvSpPr>
          <p:cNvPr id="42" name="Text 39"/>
          <p:cNvSpPr/>
          <p:nvPr/>
        </p:nvSpPr>
        <p:spPr>
          <a:xfrm>
            <a:off x="7566374" y="2309329"/>
            <a:ext cx="969264" cy="256282"/>
          </a:xfrm>
          <a:prstGeom prst="rect">
            <a:avLst/>
          </a:prstGeom>
          <a:noFill/>
          <a:ln/>
        </p:spPr>
        <p:txBody>
          <a:bodyPr wrap="square" lIns="0" tIns="0" rIns="0" bIns="0" rtlCol="0" anchor="t"/>
          <a:lstStyle/>
          <a:p>
            <a:pPr marL="0" indent="0" algn="ctr">
              <a:lnSpc>
                <a:spcPts val="897"/>
              </a:lnSpc>
              <a:buNone/>
            </a:pPr>
            <a:r>
              <a:rPr lang="en-US" sz="800" dirty="0">
                <a:solidFill>
                  <a:srgbClr val="4A5568"/>
                </a:solidFill>
                <a:latin typeface="Carlito" pitchFamily="34" charset="0"/>
                <a:ea typeface="Carlito" pitchFamily="34" charset="-122"/>
                <a:cs typeface="Carlito" pitchFamily="34" charset="-120"/>
              </a:rPr>
              <a:t>Tamper-evident logs, traceable builds</a:t>
            </a:r>
            <a:endParaRPr lang="en-US" sz="800" dirty="0"/>
          </a:p>
        </p:txBody>
      </p:sp>
      <p:sp>
        <p:nvSpPr>
          <p:cNvPr id="43" name="Text 40"/>
          <p:cNvSpPr/>
          <p:nvPr/>
        </p:nvSpPr>
        <p:spPr>
          <a:xfrm>
            <a:off x="3944807" y="2951373"/>
            <a:ext cx="1254275" cy="119703"/>
          </a:xfrm>
          <a:prstGeom prst="rect">
            <a:avLst/>
          </a:prstGeom>
          <a:noFill/>
          <a:ln/>
        </p:spPr>
        <p:txBody>
          <a:bodyPr wrap="none" lIns="0" tIns="0" rIns="0" bIns="0" rtlCol="0" anchor="t"/>
          <a:lstStyle/>
          <a:p>
            <a:pPr marL="0" indent="0" algn="ctr">
              <a:lnSpc>
                <a:spcPts val="928"/>
              </a:lnSpc>
              <a:buNone/>
            </a:pPr>
            <a:r>
              <a:rPr lang="en-US" sz="619" kern="0" spc="50" dirty="0">
                <a:solidFill>
                  <a:srgbClr val="C9A961"/>
                </a:solidFill>
                <a:latin typeface="Carlito" pitchFamily="34" charset="0"/>
                <a:ea typeface="Carlito" pitchFamily="34" charset="-122"/>
                <a:cs typeface="Carlito" pitchFamily="34" charset="-120"/>
              </a:rPr>
              <a:t>COST TO FIX A DEFECT</a:t>
            </a:r>
            <a:endParaRPr lang="en-US" sz="619" dirty="0"/>
          </a:p>
        </p:txBody>
      </p:sp>
      <p:sp>
        <p:nvSpPr>
          <p:cNvPr id="44" name="Text 41"/>
          <p:cNvSpPr/>
          <p:nvPr/>
        </p:nvSpPr>
        <p:spPr>
          <a:xfrm>
            <a:off x="457200" y="3129967"/>
            <a:ext cx="2676451" cy="407194"/>
          </a:xfrm>
          <a:prstGeom prst="roundRect">
            <a:avLst>
              <a:gd name="adj" fmla="val 14035"/>
            </a:avLst>
          </a:prstGeom>
          <a:solidFill>
            <a:srgbClr val="0F2A4A"/>
          </a:solidFill>
          <a:ln/>
        </p:spPr>
        <p:txBody>
          <a:bodyPr wrap="square" rtlCol="0" anchor="ctr"/>
          <a:lstStyle/>
          <a:p>
            <a:pPr marL="0" indent="0">
              <a:buNone/>
            </a:pPr>
            <a:endParaRPr lang="en-US" dirty="0"/>
          </a:p>
        </p:txBody>
      </p:sp>
      <p:sp>
        <p:nvSpPr>
          <p:cNvPr id="45" name="Text 42"/>
          <p:cNvSpPr/>
          <p:nvPr/>
        </p:nvSpPr>
        <p:spPr>
          <a:xfrm>
            <a:off x="585788" y="3274628"/>
            <a:ext cx="2222376" cy="164592"/>
          </a:xfrm>
          <a:prstGeom prst="rect">
            <a:avLst/>
          </a:prstGeom>
          <a:noFill/>
          <a:ln/>
        </p:spPr>
        <p:txBody>
          <a:bodyPr wrap="none" lIns="0" tIns="0" rIns="0" bIns="0" rtlCol="0" anchor="t"/>
          <a:lstStyle/>
          <a:p>
            <a:pPr marL="0" indent="0" algn="l">
              <a:lnSpc>
                <a:spcPts val="928"/>
              </a:lnSpc>
              <a:buNone/>
            </a:pPr>
            <a:r>
              <a:rPr lang="en-US" sz="800" kern="0" spc="62" dirty="0">
                <a:solidFill>
                  <a:srgbClr val="FFFFFF"/>
                </a:solidFill>
                <a:latin typeface="Carlito" pitchFamily="34" charset="0"/>
                <a:ea typeface="Carlito" pitchFamily="34" charset="-122"/>
                <a:cs typeface="Carlito" pitchFamily="34" charset="-120"/>
              </a:rPr>
              <a:t>DESIGN</a:t>
            </a:r>
            <a:endParaRPr lang="en-US" sz="800" dirty="0"/>
          </a:p>
        </p:txBody>
      </p:sp>
      <p:sp>
        <p:nvSpPr>
          <p:cNvPr id="46" name="Text 43"/>
          <p:cNvSpPr/>
          <p:nvPr/>
        </p:nvSpPr>
        <p:spPr>
          <a:xfrm>
            <a:off x="2801324" y="3215692"/>
            <a:ext cx="253440" cy="235744"/>
          </a:xfrm>
          <a:prstGeom prst="rect">
            <a:avLst/>
          </a:prstGeom>
          <a:noFill/>
          <a:ln/>
        </p:spPr>
        <p:txBody>
          <a:bodyPr wrap="none" lIns="0" tIns="0" rIns="0" bIns="0" rtlCol="0" anchor="t"/>
          <a:lstStyle/>
          <a:p>
            <a:pPr marL="0" indent="0" algn="l">
              <a:lnSpc>
                <a:spcPts val="1856"/>
              </a:lnSpc>
              <a:buNone/>
            </a:pPr>
            <a:r>
              <a:rPr lang="en-US" sz="1238" b="1" kern="0" spc="-12" dirty="0">
                <a:solidFill>
                  <a:srgbClr val="C9A961"/>
                </a:solidFill>
                <a:latin typeface="Courier New" pitchFamily="34" charset="0"/>
                <a:ea typeface="Courier New" pitchFamily="34" charset="-122"/>
                <a:cs typeface="Courier New" pitchFamily="34" charset="-120"/>
              </a:rPr>
              <a:t>$1</a:t>
            </a:r>
            <a:endParaRPr lang="en-US" sz="1238" dirty="0"/>
          </a:p>
        </p:txBody>
      </p:sp>
      <p:sp>
        <p:nvSpPr>
          <p:cNvPr id="47" name="Text 44"/>
          <p:cNvSpPr/>
          <p:nvPr/>
        </p:nvSpPr>
        <p:spPr>
          <a:xfrm>
            <a:off x="3233663" y="3129967"/>
            <a:ext cx="2676562" cy="407194"/>
          </a:xfrm>
          <a:prstGeom prst="roundRect">
            <a:avLst>
              <a:gd name="adj" fmla="val 14035"/>
            </a:avLst>
          </a:prstGeom>
          <a:solidFill>
            <a:srgbClr val="C9A961"/>
          </a:solidFill>
          <a:ln/>
        </p:spPr>
        <p:txBody>
          <a:bodyPr wrap="square" rtlCol="0" anchor="ctr"/>
          <a:lstStyle/>
          <a:p>
            <a:pPr marL="0" indent="0">
              <a:buNone/>
            </a:pPr>
            <a:endParaRPr lang="en-US" dirty="0"/>
          </a:p>
        </p:txBody>
      </p:sp>
      <p:sp>
        <p:nvSpPr>
          <p:cNvPr id="48" name="Text 45"/>
          <p:cNvSpPr/>
          <p:nvPr/>
        </p:nvSpPr>
        <p:spPr>
          <a:xfrm>
            <a:off x="3362251" y="3274628"/>
            <a:ext cx="2145469" cy="164592"/>
          </a:xfrm>
          <a:prstGeom prst="rect">
            <a:avLst/>
          </a:prstGeom>
          <a:noFill/>
          <a:ln/>
        </p:spPr>
        <p:txBody>
          <a:bodyPr wrap="none" lIns="0" tIns="0" rIns="0" bIns="0" rtlCol="0" anchor="t"/>
          <a:lstStyle/>
          <a:p>
            <a:pPr marL="0" indent="0" algn="l">
              <a:lnSpc>
                <a:spcPts val="928"/>
              </a:lnSpc>
              <a:buNone/>
            </a:pPr>
            <a:r>
              <a:rPr lang="en-US" sz="800" kern="0" spc="62" dirty="0">
                <a:solidFill>
                  <a:srgbClr val="0F2A4A"/>
                </a:solidFill>
                <a:latin typeface="Carlito" pitchFamily="34" charset="0"/>
                <a:ea typeface="Carlito" pitchFamily="34" charset="-122"/>
                <a:cs typeface="Carlito" pitchFamily="34" charset="-120"/>
              </a:rPr>
              <a:t>TESTING</a:t>
            </a:r>
            <a:endParaRPr lang="en-US" sz="800" dirty="0"/>
          </a:p>
        </p:txBody>
      </p:sp>
      <p:sp>
        <p:nvSpPr>
          <p:cNvPr id="49" name="Text 46"/>
          <p:cNvSpPr/>
          <p:nvPr/>
        </p:nvSpPr>
        <p:spPr>
          <a:xfrm>
            <a:off x="5481900" y="3215692"/>
            <a:ext cx="368420" cy="235744"/>
          </a:xfrm>
          <a:prstGeom prst="rect">
            <a:avLst/>
          </a:prstGeom>
          <a:noFill/>
          <a:ln/>
        </p:spPr>
        <p:txBody>
          <a:bodyPr wrap="none" lIns="0" tIns="0" rIns="0" bIns="0" rtlCol="0" anchor="t"/>
          <a:lstStyle/>
          <a:p>
            <a:pPr marL="0" indent="0" algn="l">
              <a:lnSpc>
                <a:spcPts val="1856"/>
              </a:lnSpc>
              <a:buNone/>
            </a:pPr>
            <a:r>
              <a:rPr lang="en-US" sz="1238" b="1" kern="0" spc="-12" dirty="0">
                <a:solidFill>
                  <a:srgbClr val="0F2A4A"/>
                </a:solidFill>
                <a:latin typeface="Liberation Sans Narrow" pitchFamily="34" charset="0"/>
                <a:ea typeface="Liberation Sans Narrow" pitchFamily="34" charset="-122"/>
                <a:cs typeface="Liberation Sans Narrow" pitchFamily="34" charset="-120"/>
              </a:rPr>
              <a:t>$30</a:t>
            </a:r>
            <a:endParaRPr lang="en-US" sz="1238" dirty="0"/>
          </a:p>
        </p:txBody>
      </p:sp>
      <p:sp>
        <p:nvSpPr>
          <p:cNvPr id="50" name="Text 47"/>
          <p:cNvSpPr/>
          <p:nvPr/>
        </p:nvSpPr>
        <p:spPr>
          <a:xfrm>
            <a:off x="6010238" y="3129967"/>
            <a:ext cx="2676562" cy="407194"/>
          </a:xfrm>
          <a:prstGeom prst="roundRect">
            <a:avLst>
              <a:gd name="adj" fmla="val 14035"/>
            </a:avLst>
          </a:prstGeom>
          <a:solidFill>
            <a:srgbClr val="B91C1C"/>
          </a:solidFill>
          <a:ln/>
        </p:spPr>
        <p:txBody>
          <a:bodyPr wrap="square" rtlCol="0" anchor="ctr"/>
          <a:lstStyle/>
          <a:p>
            <a:pPr marL="0" indent="0">
              <a:buNone/>
            </a:pPr>
            <a:endParaRPr lang="en-US" dirty="0"/>
          </a:p>
        </p:txBody>
      </p:sp>
      <p:sp>
        <p:nvSpPr>
          <p:cNvPr id="51" name="Text 48"/>
          <p:cNvSpPr/>
          <p:nvPr/>
        </p:nvSpPr>
        <p:spPr>
          <a:xfrm>
            <a:off x="6138825" y="3274628"/>
            <a:ext cx="1837395" cy="164592"/>
          </a:xfrm>
          <a:prstGeom prst="rect">
            <a:avLst/>
          </a:prstGeom>
          <a:noFill/>
          <a:ln/>
        </p:spPr>
        <p:txBody>
          <a:bodyPr wrap="none" lIns="0" tIns="0" rIns="0" bIns="0" rtlCol="0" anchor="t"/>
          <a:lstStyle/>
          <a:p>
            <a:pPr marL="0" indent="0" algn="l">
              <a:lnSpc>
                <a:spcPts val="928"/>
              </a:lnSpc>
              <a:buNone/>
            </a:pPr>
            <a:r>
              <a:rPr lang="en-US" sz="800" kern="0" spc="62" dirty="0">
                <a:solidFill>
                  <a:srgbClr val="FFFFFF"/>
                </a:solidFill>
                <a:latin typeface="Carlito" pitchFamily="34" charset="0"/>
                <a:ea typeface="Carlito" pitchFamily="34" charset="-122"/>
                <a:cs typeface="Carlito" pitchFamily="34" charset="-120"/>
              </a:rPr>
              <a:t>PRODUCTION</a:t>
            </a:r>
            <a:endParaRPr lang="en-US" sz="800" dirty="0"/>
          </a:p>
        </p:txBody>
      </p:sp>
      <p:sp>
        <p:nvSpPr>
          <p:cNvPr id="52" name="Text 49"/>
          <p:cNvSpPr/>
          <p:nvPr/>
        </p:nvSpPr>
        <p:spPr>
          <a:xfrm>
            <a:off x="7906004" y="3215692"/>
            <a:ext cx="765287" cy="235744"/>
          </a:xfrm>
          <a:prstGeom prst="rect">
            <a:avLst/>
          </a:prstGeom>
          <a:noFill/>
          <a:ln/>
        </p:spPr>
        <p:txBody>
          <a:bodyPr wrap="none" lIns="0" tIns="0" rIns="0" bIns="0" rtlCol="0" anchor="t"/>
          <a:lstStyle/>
          <a:p>
            <a:pPr marL="0" indent="0" algn="l">
              <a:lnSpc>
                <a:spcPts val="1856"/>
              </a:lnSpc>
              <a:buNone/>
            </a:pPr>
            <a:r>
              <a:rPr lang="en-US" sz="1238" b="1" kern="0" spc="-12" dirty="0">
                <a:solidFill>
                  <a:srgbClr val="FFFFFF"/>
                </a:solidFill>
                <a:latin typeface="Liberation Sans Narrow" pitchFamily="34" charset="0"/>
                <a:ea typeface="Liberation Sans Narrow" pitchFamily="34" charset="-122"/>
                <a:cs typeface="Liberation Sans Narrow" pitchFamily="34" charset="-120"/>
              </a:rPr>
              <a:t>$1,000+</a:t>
            </a:r>
            <a:endParaRPr lang="en-US" sz="1238" dirty="0"/>
          </a:p>
        </p:txBody>
      </p:sp>
      <p:sp>
        <p:nvSpPr>
          <p:cNvPr id="53" name="Text 50"/>
          <p:cNvSpPr/>
          <p:nvPr/>
        </p:nvSpPr>
        <p:spPr>
          <a:xfrm>
            <a:off x="457200" y="4897041"/>
            <a:ext cx="3590292"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Liberation Sans Narrow" pitchFamily="34" charset="0"/>
                <a:ea typeface="Liberation Sans Narrow" pitchFamily="34" charset="-122"/>
                <a:cs typeface="Liberation Sans Narrow" pitchFamily="34" charset="-120"/>
              </a:rPr>
              <a:t>IOT-SEC · 2026</a:t>
            </a:r>
            <a:endParaRPr lang="en-US" sz="800" dirty="0"/>
          </a:p>
        </p:txBody>
      </p:sp>
      <p:sp>
        <p:nvSpPr>
          <p:cNvPr id="54" name="Text 51"/>
          <p:cNvSpPr/>
          <p:nvPr/>
        </p:nvSpPr>
        <p:spPr>
          <a:xfrm>
            <a:off x="4061780" y="4897041"/>
            <a:ext cx="430812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6B7280"/>
                </a:solidFill>
                <a:latin typeface="Carlito" pitchFamily="34" charset="0"/>
                <a:ea typeface="Carlito" pitchFamily="34" charset="-122"/>
                <a:cs typeface="Carlito" pitchFamily="34" charset="-120"/>
              </a:rPr>
              <a:t>SECURE BY DESIGN · CONCEPT</a:t>
            </a:r>
            <a:endParaRPr lang="en-US" sz="800" dirty="0"/>
          </a:p>
        </p:txBody>
      </p:sp>
      <p:sp>
        <p:nvSpPr>
          <p:cNvPr id="55" name="Text 52"/>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13 / 21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4500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401836"/>
            <a:ext cx="2093930" cy="156520"/>
          </a:xfrm>
          <a:prstGeom prst="rect">
            <a:avLst/>
          </a:prstGeom>
          <a:noFill/>
          <a:ln/>
        </p:spPr>
        <p:txBody>
          <a:bodyPr wrap="non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06 · SECURE BY DESIGN</a:t>
            </a:r>
            <a:endParaRPr lang="en-US" sz="800" dirty="0"/>
          </a:p>
        </p:txBody>
      </p:sp>
      <p:sp>
        <p:nvSpPr>
          <p:cNvPr id="5" name="Text 2"/>
          <p:cNvSpPr/>
          <p:nvPr/>
        </p:nvSpPr>
        <p:spPr>
          <a:xfrm>
            <a:off x="457200" y="585788"/>
            <a:ext cx="8636000" cy="198266"/>
          </a:xfrm>
          <a:prstGeom prst="rect">
            <a:avLst/>
          </a:prstGeom>
          <a:noFill/>
          <a:ln/>
        </p:spPr>
        <p:txBody>
          <a:bodyPr wrap="square" lIns="0" tIns="0" rIns="0" bIns="0" rtlCol="0" anchor="t">
            <a:normAutofit/>
          </a:bodyPr>
          <a:lstStyle/>
          <a:p>
            <a:pPr marL="0" indent="0" algn="l">
              <a:lnSpc>
                <a:spcPts val="1553"/>
              </a:lnSpc>
              <a:buNone/>
            </a:pPr>
            <a:r>
              <a:rPr lang="en-US" sz="1350" kern="0" spc="-13" dirty="0">
                <a:solidFill>
                  <a:srgbClr val="0F2A4A"/>
                </a:solidFill>
                <a:latin typeface="Tinos" pitchFamily="34" charset="0"/>
                <a:ea typeface="Tinos" pitchFamily="34" charset="-122"/>
                <a:cs typeface="Tinos" pitchFamily="34" charset="-120"/>
              </a:rPr>
              <a:t>Secure-by-Design Development Lifecycle</a:t>
            </a:r>
            <a:endParaRPr lang="en-US" sz="1350" dirty="0"/>
          </a:p>
        </p:txBody>
      </p:sp>
      <p:sp>
        <p:nvSpPr>
          <p:cNvPr id="6" name="Text 3"/>
          <p:cNvSpPr/>
          <p:nvPr/>
        </p:nvSpPr>
        <p:spPr>
          <a:xfrm>
            <a:off x="457200" y="811485"/>
            <a:ext cx="8229600" cy="164592"/>
          </a:xfrm>
          <a:prstGeom prst="rect">
            <a:avLst/>
          </a:prstGeom>
          <a:noFill/>
          <a:ln/>
        </p:spPr>
        <p:txBody>
          <a:bodyPr wrap="square" lIns="0" tIns="0" rIns="0" bIns="0" rtlCol="0" anchor="t"/>
          <a:lstStyle/>
          <a:p>
            <a:pPr marL="0" indent="0" algn="l">
              <a:lnSpc>
                <a:spcPts val="1097"/>
              </a:lnSpc>
              <a:buNone/>
            </a:pPr>
            <a:r>
              <a:rPr lang="en-US" sz="800" dirty="0">
                <a:solidFill>
                  <a:srgbClr val="6B7280"/>
                </a:solidFill>
                <a:latin typeface="Carlito" pitchFamily="34" charset="0"/>
                <a:ea typeface="Carlito" pitchFamily="34" charset="-122"/>
                <a:cs typeface="Carlito" pitchFamily="34" charset="-120"/>
              </a:rPr>
              <a:t>A 7-stage DevSecOps loop — security activities at every stage.</a:t>
            </a:r>
            <a:endParaRPr lang="en-US" sz="800" dirty="0"/>
          </a:p>
        </p:txBody>
      </p:sp>
      <p:sp>
        <p:nvSpPr>
          <p:cNvPr id="7" name="Text 4"/>
          <p:cNvSpPr/>
          <p:nvPr/>
        </p:nvSpPr>
        <p:spPr>
          <a:xfrm>
            <a:off x="460772" y="1082948"/>
            <a:ext cx="1064419" cy="1064419"/>
          </a:xfrm>
          <a:prstGeom prst="roundRect">
            <a:avLst>
              <a:gd name="adj" fmla="val 53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8" name="Text 5"/>
          <p:cNvSpPr/>
          <p:nvPr/>
        </p:nvSpPr>
        <p:spPr>
          <a:xfrm>
            <a:off x="755737" y="1148956"/>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9" name="Text 6"/>
          <p:cNvSpPr/>
          <p:nvPr/>
        </p:nvSpPr>
        <p:spPr>
          <a:xfrm>
            <a:off x="735425" y="1157957"/>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1</a:t>
            </a:r>
            <a:endParaRPr lang="en-US" sz="800" dirty="0"/>
          </a:p>
        </p:txBody>
      </p:sp>
      <p:sp>
        <p:nvSpPr>
          <p:cNvPr id="10" name="Text 7"/>
          <p:cNvSpPr/>
          <p:nvPr/>
        </p:nvSpPr>
        <p:spPr>
          <a:xfrm>
            <a:off x="878681" y="1381758"/>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11" name="Text 8"/>
          <p:cNvSpPr/>
          <p:nvPr/>
        </p:nvSpPr>
        <p:spPr>
          <a:xfrm>
            <a:off x="549543" y="1684251"/>
            <a:ext cx="886765" cy="160650"/>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THREAT MODEL</a:t>
            </a:r>
            <a:endParaRPr lang="en-US" sz="800" dirty="0"/>
          </a:p>
        </p:txBody>
      </p:sp>
      <p:sp>
        <p:nvSpPr>
          <p:cNvPr id="12" name="Text 9"/>
          <p:cNvSpPr/>
          <p:nvPr/>
        </p:nvSpPr>
        <p:spPr>
          <a:xfrm>
            <a:off x="687251" y="1872332"/>
            <a:ext cx="611349"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STRIDE / DREAD</a:t>
            </a:r>
            <a:endParaRPr lang="en-US" sz="800" dirty="0"/>
          </a:p>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Attack trees</a:t>
            </a:r>
            <a:endParaRPr lang="en-US" sz="800" dirty="0"/>
          </a:p>
        </p:txBody>
      </p:sp>
      <p:sp>
        <p:nvSpPr>
          <p:cNvPr id="13" name="Text 10"/>
          <p:cNvSpPr/>
          <p:nvPr/>
        </p:nvSpPr>
        <p:spPr>
          <a:xfrm>
            <a:off x="1539478" y="1609799"/>
            <a:ext cx="100013" cy="10716"/>
          </a:xfrm>
          <a:prstGeom prst="rect">
            <a:avLst/>
          </a:prstGeom>
          <a:solidFill>
            <a:srgbClr val="0F2A4A"/>
          </a:solidFill>
          <a:ln/>
        </p:spPr>
        <p:txBody>
          <a:bodyPr wrap="square" rtlCol="0" anchor="ctr"/>
          <a:lstStyle/>
          <a:p>
            <a:pPr marL="0" indent="0">
              <a:buNone/>
            </a:pPr>
            <a:endParaRPr lang="en-US" dirty="0"/>
          </a:p>
        </p:txBody>
      </p:sp>
      <p:sp>
        <p:nvSpPr>
          <p:cNvPr id="14" name="Text 11"/>
          <p:cNvSpPr/>
          <p:nvPr/>
        </p:nvSpPr>
        <p:spPr>
          <a:xfrm>
            <a:off x="1653778" y="1082948"/>
            <a:ext cx="1064419" cy="1064419"/>
          </a:xfrm>
          <a:prstGeom prst="roundRect">
            <a:avLst>
              <a:gd name="adj" fmla="val 53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5" name="Text 12"/>
          <p:cNvSpPr/>
          <p:nvPr/>
        </p:nvSpPr>
        <p:spPr>
          <a:xfrm>
            <a:off x="1948744" y="1148956"/>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16" name="Text 13"/>
          <p:cNvSpPr/>
          <p:nvPr/>
        </p:nvSpPr>
        <p:spPr>
          <a:xfrm>
            <a:off x="1928432" y="1157957"/>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2</a:t>
            </a:r>
            <a:endParaRPr lang="en-US" sz="800" dirty="0"/>
          </a:p>
        </p:txBody>
      </p:sp>
      <p:sp>
        <p:nvSpPr>
          <p:cNvPr id="17" name="Text 14"/>
          <p:cNvSpPr/>
          <p:nvPr/>
        </p:nvSpPr>
        <p:spPr>
          <a:xfrm>
            <a:off x="2071688" y="1381758"/>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18" name="Text 15"/>
          <p:cNvSpPr/>
          <p:nvPr/>
        </p:nvSpPr>
        <p:spPr>
          <a:xfrm>
            <a:off x="1722224" y="1684251"/>
            <a:ext cx="927527" cy="160650"/>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REQUIREMENTS</a:t>
            </a:r>
            <a:endParaRPr lang="en-US" sz="800" dirty="0"/>
          </a:p>
        </p:txBody>
      </p:sp>
      <p:sp>
        <p:nvSpPr>
          <p:cNvPr id="19" name="Text 16"/>
          <p:cNvSpPr/>
          <p:nvPr/>
        </p:nvSpPr>
        <p:spPr>
          <a:xfrm>
            <a:off x="1840520" y="1872332"/>
            <a:ext cx="690823"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Security NFRs</a:t>
            </a:r>
            <a:endParaRPr lang="en-US" sz="800" dirty="0"/>
          </a:p>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Compliance (GDPR)</a:t>
            </a:r>
            <a:endParaRPr lang="en-US" sz="800" dirty="0"/>
          </a:p>
        </p:txBody>
      </p:sp>
      <p:sp>
        <p:nvSpPr>
          <p:cNvPr id="20" name="Text 17"/>
          <p:cNvSpPr/>
          <p:nvPr/>
        </p:nvSpPr>
        <p:spPr>
          <a:xfrm>
            <a:off x="2732484" y="1609799"/>
            <a:ext cx="100013" cy="10716"/>
          </a:xfrm>
          <a:prstGeom prst="rect">
            <a:avLst/>
          </a:prstGeom>
          <a:solidFill>
            <a:srgbClr val="0F2A4A"/>
          </a:solidFill>
          <a:ln/>
        </p:spPr>
        <p:txBody>
          <a:bodyPr wrap="square" rtlCol="0" anchor="ctr"/>
          <a:lstStyle/>
          <a:p>
            <a:pPr marL="0" indent="0">
              <a:buNone/>
            </a:pPr>
            <a:endParaRPr lang="en-US" dirty="0"/>
          </a:p>
        </p:txBody>
      </p:sp>
      <p:sp>
        <p:nvSpPr>
          <p:cNvPr id="21" name="Text 18"/>
          <p:cNvSpPr/>
          <p:nvPr/>
        </p:nvSpPr>
        <p:spPr>
          <a:xfrm>
            <a:off x="2846784" y="1082948"/>
            <a:ext cx="1064419" cy="1064419"/>
          </a:xfrm>
          <a:prstGeom prst="roundRect">
            <a:avLst>
              <a:gd name="adj" fmla="val 53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2" name="Text 19"/>
          <p:cNvSpPr/>
          <p:nvPr/>
        </p:nvSpPr>
        <p:spPr>
          <a:xfrm>
            <a:off x="3141750" y="1148956"/>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23" name="Text 20"/>
          <p:cNvSpPr/>
          <p:nvPr/>
        </p:nvSpPr>
        <p:spPr>
          <a:xfrm>
            <a:off x="3121438" y="1157957"/>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3</a:t>
            </a:r>
            <a:endParaRPr lang="en-US" sz="800" dirty="0"/>
          </a:p>
        </p:txBody>
      </p:sp>
      <p:sp>
        <p:nvSpPr>
          <p:cNvPr id="24" name="Text 21"/>
          <p:cNvSpPr/>
          <p:nvPr/>
        </p:nvSpPr>
        <p:spPr>
          <a:xfrm>
            <a:off x="3264694" y="1381758"/>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25" name="Text 22"/>
          <p:cNvSpPr/>
          <p:nvPr/>
        </p:nvSpPr>
        <p:spPr>
          <a:xfrm>
            <a:off x="2915175" y="1684251"/>
            <a:ext cx="927527" cy="160650"/>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ARCHITECTURE</a:t>
            </a:r>
            <a:endParaRPr lang="en-US" sz="800" dirty="0"/>
          </a:p>
        </p:txBody>
      </p:sp>
      <p:sp>
        <p:nvSpPr>
          <p:cNvPr id="26" name="Text 23"/>
          <p:cNvSpPr/>
          <p:nvPr/>
        </p:nvSpPr>
        <p:spPr>
          <a:xfrm>
            <a:off x="3093021" y="1872332"/>
            <a:ext cx="571835"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Layered design</a:t>
            </a:r>
            <a:endParaRPr lang="en-US" sz="800" dirty="0"/>
          </a:p>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Trust boundaries</a:t>
            </a:r>
            <a:endParaRPr lang="en-US" sz="800" dirty="0"/>
          </a:p>
        </p:txBody>
      </p:sp>
      <p:sp>
        <p:nvSpPr>
          <p:cNvPr id="27" name="Text 24"/>
          <p:cNvSpPr/>
          <p:nvPr/>
        </p:nvSpPr>
        <p:spPr>
          <a:xfrm>
            <a:off x="3925491" y="1609799"/>
            <a:ext cx="100013" cy="10716"/>
          </a:xfrm>
          <a:prstGeom prst="rect">
            <a:avLst/>
          </a:prstGeom>
          <a:solidFill>
            <a:srgbClr val="0F2A4A"/>
          </a:solidFill>
          <a:ln/>
        </p:spPr>
        <p:txBody>
          <a:bodyPr wrap="square" rtlCol="0" anchor="ctr"/>
          <a:lstStyle/>
          <a:p>
            <a:pPr marL="0" indent="0">
              <a:buNone/>
            </a:pPr>
            <a:endParaRPr lang="en-US" dirty="0"/>
          </a:p>
        </p:txBody>
      </p:sp>
      <p:sp>
        <p:nvSpPr>
          <p:cNvPr id="28" name="Text 25"/>
          <p:cNvSpPr/>
          <p:nvPr/>
        </p:nvSpPr>
        <p:spPr>
          <a:xfrm>
            <a:off x="4039791" y="1082948"/>
            <a:ext cx="1064419" cy="1064419"/>
          </a:xfrm>
          <a:prstGeom prst="roundRect">
            <a:avLst>
              <a:gd name="adj" fmla="val 53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9" name="Text 26"/>
          <p:cNvSpPr/>
          <p:nvPr/>
        </p:nvSpPr>
        <p:spPr>
          <a:xfrm>
            <a:off x="4334756" y="1148956"/>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30" name="Text 27"/>
          <p:cNvSpPr/>
          <p:nvPr/>
        </p:nvSpPr>
        <p:spPr>
          <a:xfrm>
            <a:off x="4314444" y="1157957"/>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4</a:t>
            </a:r>
            <a:endParaRPr lang="en-US" sz="800" dirty="0"/>
          </a:p>
        </p:txBody>
      </p:sp>
      <p:sp>
        <p:nvSpPr>
          <p:cNvPr id="31" name="Text 28"/>
          <p:cNvSpPr/>
          <p:nvPr/>
        </p:nvSpPr>
        <p:spPr>
          <a:xfrm>
            <a:off x="4457700" y="1381758"/>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32" name="Text 29"/>
          <p:cNvSpPr/>
          <p:nvPr/>
        </p:nvSpPr>
        <p:spPr>
          <a:xfrm>
            <a:off x="4219732" y="1684251"/>
            <a:ext cx="704535" cy="160650"/>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IMPLEMENT</a:t>
            </a:r>
            <a:endParaRPr lang="en-US" sz="800" dirty="0"/>
          </a:p>
        </p:txBody>
      </p:sp>
      <p:sp>
        <p:nvSpPr>
          <p:cNvPr id="33" name="Text 30"/>
          <p:cNvSpPr/>
          <p:nvPr/>
        </p:nvSpPr>
        <p:spPr>
          <a:xfrm>
            <a:off x="4242383" y="1872332"/>
            <a:ext cx="659123"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Secure coding</a:t>
            </a:r>
            <a:endParaRPr lang="en-US" sz="800" dirty="0"/>
          </a:p>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Code review, SAST</a:t>
            </a:r>
            <a:endParaRPr lang="en-US" sz="800" dirty="0"/>
          </a:p>
        </p:txBody>
      </p:sp>
      <p:sp>
        <p:nvSpPr>
          <p:cNvPr id="34" name="Text 31"/>
          <p:cNvSpPr/>
          <p:nvPr/>
        </p:nvSpPr>
        <p:spPr>
          <a:xfrm>
            <a:off x="5118497" y="1609799"/>
            <a:ext cx="100013" cy="10716"/>
          </a:xfrm>
          <a:prstGeom prst="rect">
            <a:avLst/>
          </a:prstGeom>
          <a:solidFill>
            <a:srgbClr val="0F2A4A"/>
          </a:solidFill>
          <a:ln/>
        </p:spPr>
        <p:txBody>
          <a:bodyPr wrap="square" rtlCol="0" anchor="ctr"/>
          <a:lstStyle/>
          <a:p>
            <a:pPr marL="0" indent="0">
              <a:buNone/>
            </a:pPr>
            <a:endParaRPr lang="en-US" dirty="0"/>
          </a:p>
        </p:txBody>
      </p:sp>
      <p:sp>
        <p:nvSpPr>
          <p:cNvPr id="35" name="Text 32"/>
          <p:cNvSpPr/>
          <p:nvPr/>
        </p:nvSpPr>
        <p:spPr>
          <a:xfrm>
            <a:off x="5232797" y="1082948"/>
            <a:ext cx="1064419" cy="1064419"/>
          </a:xfrm>
          <a:prstGeom prst="roundRect">
            <a:avLst>
              <a:gd name="adj" fmla="val 53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36" name="Text 33"/>
          <p:cNvSpPr/>
          <p:nvPr/>
        </p:nvSpPr>
        <p:spPr>
          <a:xfrm>
            <a:off x="5527762" y="1148956"/>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37" name="Text 34"/>
          <p:cNvSpPr/>
          <p:nvPr/>
        </p:nvSpPr>
        <p:spPr>
          <a:xfrm>
            <a:off x="5507450" y="1157957"/>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5</a:t>
            </a:r>
            <a:endParaRPr lang="en-US" sz="800" dirty="0"/>
          </a:p>
        </p:txBody>
      </p:sp>
      <p:sp>
        <p:nvSpPr>
          <p:cNvPr id="38" name="Text 35"/>
          <p:cNvSpPr/>
          <p:nvPr/>
        </p:nvSpPr>
        <p:spPr>
          <a:xfrm>
            <a:off x="5650706" y="1381758"/>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39" name="Text 36"/>
          <p:cNvSpPr/>
          <p:nvPr/>
        </p:nvSpPr>
        <p:spPr>
          <a:xfrm>
            <a:off x="5581445" y="1684251"/>
            <a:ext cx="367010" cy="160650"/>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TEST</a:t>
            </a:r>
            <a:endParaRPr lang="en-US" sz="800" dirty="0"/>
          </a:p>
        </p:txBody>
      </p:sp>
      <p:sp>
        <p:nvSpPr>
          <p:cNvPr id="40" name="Text 37"/>
          <p:cNvSpPr/>
          <p:nvPr/>
        </p:nvSpPr>
        <p:spPr>
          <a:xfrm>
            <a:off x="5568442" y="1872332"/>
            <a:ext cx="393018"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DAST, fuzz</a:t>
            </a:r>
            <a:endParaRPr lang="en-US" sz="800" dirty="0"/>
          </a:p>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Pen test</a:t>
            </a:r>
            <a:endParaRPr lang="en-US" sz="800" dirty="0"/>
          </a:p>
        </p:txBody>
      </p:sp>
      <p:sp>
        <p:nvSpPr>
          <p:cNvPr id="41" name="Text 38"/>
          <p:cNvSpPr/>
          <p:nvPr/>
        </p:nvSpPr>
        <p:spPr>
          <a:xfrm>
            <a:off x="6311503" y="1609799"/>
            <a:ext cx="100013" cy="10716"/>
          </a:xfrm>
          <a:prstGeom prst="rect">
            <a:avLst/>
          </a:prstGeom>
          <a:solidFill>
            <a:srgbClr val="0F2A4A"/>
          </a:solidFill>
          <a:ln/>
        </p:spPr>
        <p:txBody>
          <a:bodyPr wrap="square" rtlCol="0" anchor="ctr"/>
          <a:lstStyle/>
          <a:p>
            <a:pPr marL="0" indent="0">
              <a:buNone/>
            </a:pPr>
            <a:endParaRPr lang="en-US" dirty="0"/>
          </a:p>
        </p:txBody>
      </p:sp>
      <p:sp>
        <p:nvSpPr>
          <p:cNvPr id="42" name="Text 39"/>
          <p:cNvSpPr/>
          <p:nvPr/>
        </p:nvSpPr>
        <p:spPr>
          <a:xfrm>
            <a:off x="6425803" y="1082948"/>
            <a:ext cx="1064419" cy="1064419"/>
          </a:xfrm>
          <a:prstGeom prst="roundRect">
            <a:avLst>
              <a:gd name="adj" fmla="val 53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43" name="Text 40"/>
          <p:cNvSpPr/>
          <p:nvPr/>
        </p:nvSpPr>
        <p:spPr>
          <a:xfrm>
            <a:off x="6720769" y="1148956"/>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44" name="Text 41"/>
          <p:cNvSpPr/>
          <p:nvPr/>
        </p:nvSpPr>
        <p:spPr>
          <a:xfrm>
            <a:off x="6700457" y="1157957"/>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6</a:t>
            </a:r>
            <a:endParaRPr lang="en-US" sz="800" dirty="0"/>
          </a:p>
        </p:txBody>
      </p:sp>
      <p:sp>
        <p:nvSpPr>
          <p:cNvPr id="45" name="Text 42"/>
          <p:cNvSpPr/>
          <p:nvPr/>
        </p:nvSpPr>
        <p:spPr>
          <a:xfrm>
            <a:off x="6843713" y="1381758"/>
            <a:ext cx="228600" cy="228600"/>
          </a:xfrm>
          <a:prstGeom prst="rect">
            <a:avLst/>
          </a:prstGeom>
          <a:noFill/>
          <a:ln/>
        </p:spPr>
        <p:txBody>
          <a:bodyPr wrap="none" lIns="0" tIns="0" rIns="0" bIns="0" rtlCol="0" anchor="ctr"/>
          <a:lstStyle/>
          <a:p>
            <a:pPr marL="0" indent="0" algn="ctr">
              <a:buNone/>
            </a:pPr>
            <a:r>
              <a:rPr lang="en-US" sz="2250" dirty="0">
                <a:solidFill>
                  <a:srgbClr val="0F2A4A"/>
                </a:solidFill>
                <a:latin typeface="Segoe UI Symbol" pitchFamily="34" charset="0"/>
                <a:ea typeface="Segoe UI Symbol" pitchFamily="34" charset="-122"/>
                <a:cs typeface="Segoe UI Symbol" pitchFamily="34" charset="-120"/>
              </a:rPr>
              <a:t>➤</a:t>
            </a:r>
            <a:endParaRPr lang="en-US" sz="2250" dirty="0"/>
          </a:p>
        </p:txBody>
      </p:sp>
      <p:sp>
        <p:nvSpPr>
          <p:cNvPr id="46" name="Text 43"/>
          <p:cNvSpPr/>
          <p:nvPr/>
        </p:nvSpPr>
        <p:spPr>
          <a:xfrm>
            <a:off x="6717185" y="1684251"/>
            <a:ext cx="481543" cy="160650"/>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0F2A4A"/>
                </a:solidFill>
                <a:latin typeface="Carlito" pitchFamily="34" charset="0"/>
                <a:ea typeface="Carlito" pitchFamily="34" charset="-122"/>
                <a:cs typeface="Carlito" pitchFamily="34" charset="-120"/>
              </a:rPr>
              <a:t>DEPLOY</a:t>
            </a:r>
            <a:endParaRPr lang="en-US" sz="800" dirty="0"/>
          </a:p>
        </p:txBody>
      </p:sp>
      <p:sp>
        <p:nvSpPr>
          <p:cNvPr id="47" name="Text 44"/>
          <p:cNvSpPr/>
          <p:nvPr/>
        </p:nvSpPr>
        <p:spPr>
          <a:xfrm>
            <a:off x="6701842" y="1872332"/>
            <a:ext cx="512341" cy="200025"/>
          </a:xfrm>
          <a:prstGeom prst="rect">
            <a:avLst/>
          </a:prstGeom>
          <a:noFill/>
          <a:ln/>
        </p:spPr>
        <p:txBody>
          <a:bodyPr wrap="square" lIns="0" tIns="0" rIns="0" bIns="0" rtlCol="0" anchor="t"/>
          <a:lstStyle/>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Signed images</a:t>
            </a:r>
            <a:endParaRPr lang="en-US" sz="800" dirty="0"/>
          </a:p>
          <a:p>
            <a:pPr marL="0" indent="0" algn="ctr">
              <a:lnSpc>
                <a:spcPts val="788"/>
              </a:lnSpc>
              <a:buNone/>
            </a:pPr>
            <a:r>
              <a:rPr lang="en-US" sz="800" dirty="0">
                <a:solidFill>
                  <a:srgbClr val="4A5568"/>
                </a:solidFill>
                <a:latin typeface="Carlito" pitchFamily="34" charset="0"/>
                <a:ea typeface="Carlito" pitchFamily="34" charset="-122"/>
                <a:cs typeface="Carlito" pitchFamily="34" charset="-120"/>
              </a:rPr>
              <a:t>· IaC scan</a:t>
            </a:r>
            <a:endParaRPr lang="en-US" sz="800" dirty="0"/>
          </a:p>
        </p:txBody>
      </p:sp>
      <p:sp>
        <p:nvSpPr>
          <p:cNvPr id="48" name="Text 45"/>
          <p:cNvSpPr/>
          <p:nvPr/>
        </p:nvSpPr>
        <p:spPr>
          <a:xfrm>
            <a:off x="7504509" y="1609799"/>
            <a:ext cx="100013" cy="10716"/>
          </a:xfrm>
          <a:prstGeom prst="rect">
            <a:avLst/>
          </a:prstGeom>
          <a:solidFill>
            <a:srgbClr val="0F2A4A"/>
          </a:solidFill>
          <a:ln/>
        </p:spPr>
        <p:txBody>
          <a:bodyPr wrap="square" rtlCol="0" anchor="ctr"/>
          <a:lstStyle/>
          <a:p>
            <a:pPr marL="0" indent="0">
              <a:buNone/>
            </a:pPr>
            <a:endParaRPr lang="en-US" dirty="0"/>
          </a:p>
        </p:txBody>
      </p:sp>
      <p:sp>
        <p:nvSpPr>
          <p:cNvPr id="49" name="Text 46"/>
          <p:cNvSpPr/>
          <p:nvPr/>
        </p:nvSpPr>
        <p:spPr>
          <a:xfrm>
            <a:off x="7618809" y="1082948"/>
            <a:ext cx="1064419" cy="1064419"/>
          </a:xfrm>
          <a:prstGeom prst="roundRect">
            <a:avLst>
              <a:gd name="adj" fmla="val 5369"/>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50" name="Text 47"/>
          <p:cNvSpPr/>
          <p:nvPr/>
        </p:nvSpPr>
        <p:spPr>
          <a:xfrm>
            <a:off x="7913775" y="1148956"/>
            <a:ext cx="474488" cy="168021"/>
          </a:xfrm>
          <a:prstGeom prst="roundRect">
            <a:avLst>
              <a:gd name="adj" fmla="val 5663265"/>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51" name="Text 48"/>
          <p:cNvSpPr/>
          <p:nvPr/>
        </p:nvSpPr>
        <p:spPr>
          <a:xfrm>
            <a:off x="7893463" y="1157957"/>
            <a:ext cx="515112" cy="150019"/>
          </a:xfrm>
          <a:prstGeom prst="rect">
            <a:avLst/>
          </a:prstGeom>
          <a:noFill/>
          <a:ln/>
        </p:spPr>
        <p:txBody>
          <a:bodyPr wrap="none" lIns="0" tIns="0" rIns="0" bIns="0" rtlCol="0" anchor="ctr"/>
          <a:lstStyle/>
          <a:p>
            <a:pPr marL="0" indent="0" algn="ctr">
              <a:lnSpc>
                <a:spcPts val="844"/>
              </a:lnSpc>
              <a:buNone/>
            </a:pPr>
            <a:r>
              <a:rPr lang="en-US" sz="800" dirty="0">
                <a:solidFill>
                  <a:srgbClr val="0F2A4A"/>
                </a:solidFill>
                <a:latin typeface="Liberation Sans Narrow" pitchFamily="34" charset="0"/>
                <a:ea typeface="Liberation Sans Narrow" pitchFamily="34" charset="-122"/>
                <a:cs typeface="Liberation Sans Narrow" pitchFamily="34" charset="-120"/>
              </a:rPr>
              <a:t>STAGE 7</a:t>
            </a:r>
            <a:endParaRPr lang="en-US" sz="800" dirty="0"/>
          </a:p>
        </p:txBody>
      </p:sp>
      <p:sp>
        <p:nvSpPr>
          <p:cNvPr id="52" name="Text 49"/>
          <p:cNvSpPr/>
          <p:nvPr/>
        </p:nvSpPr>
        <p:spPr>
          <a:xfrm>
            <a:off x="8036719" y="1381758"/>
            <a:ext cx="228600" cy="228600"/>
          </a:xfrm>
          <a:prstGeom prst="rect">
            <a:avLst/>
          </a:prstGeom>
          <a:noFill/>
          <a:ln/>
        </p:spPr>
        <p:txBody>
          <a:bodyPr wrap="none" lIns="0" tIns="0" rIns="0" bIns="0" rtlCol="0" anchor="ctr"/>
          <a:lstStyle/>
          <a:p>
            <a:pPr marL="0" indent="0" algn="ctr">
              <a:buNone/>
            </a:pPr>
            <a:r>
              <a:rPr lang="en-US" sz="2250" dirty="0">
                <a:solidFill>
                  <a:srgbClr val="C9A961"/>
                </a:solidFill>
                <a:latin typeface="Segoe UI Symbol" pitchFamily="34" charset="0"/>
                <a:ea typeface="Segoe UI Symbol" pitchFamily="34" charset="-122"/>
                <a:cs typeface="Segoe UI Symbol" pitchFamily="34" charset="-120"/>
              </a:rPr>
              <a:t>♥</a:t>
            </a:r>
            <a:endParaRPr lang="en-US" sz="2250" dirty="0"/>
          </a:p>
        </p:txBody>
      </p:sp>
      <p:sp>
        <p:nvSpPr>
          <p:cNvPr id="53" name="Text 50"/>
          <p:cNvSpPr/>
          <p:nvPr/>
        </p:nvSpPr>
        <p:spPr>
          <a:xfrm>
            <a:off x="7872894" y="1684251"/>
            <a:ext cx="556138" cy="160650"/>
          </a:xfrm>
          <a:prstGeom prst="rect">
            <a:avLst/>
          </a:prstGeom>
          <a:noFill/>
          <a:ln/>
        </p:spPr>
        <p:txBody>
          <a:bodyPr wrap="none" lIns="0" tIns="0" rIns="0" bIns="0" rtlCol="0" anchor="t">
            <a:normAutofit/>
          </a:bodyPr>
          <a:lstStyle/>
          <a:p>
            <a:pPr marL="0" indent="0" algn="ctr">
              <a:lnSpc>
                <a:spcPts val="1013"/>
              </a:lnSpc>
              <a:buNone/>
            </a:pPr>
            <a:r>
              <a:rPr lang="en-US" sz="800" b="1" kern="0" spc="20" dirty="0">
                <a:solidFill>
                  <a:srgbClr val="FFFFFF"/>
                </a:solidFill>
                <a:latin typeface="Carlito" pitchFamily="34" charset="0"/>
                <a:ea typeface="Carlito" pitchFamily="34" charset="-122"/>
                <a:cs typeface="Carlito" pitchFamily="34" charset="-120"/>
              </a:rPr>
              <a:t>OPERATE</a:t>
            </a:r>
            <a:endParaRPr lang="en-US" sz="800" dirty="0"/>
          </a:p>
        </p:txBody>
      </p:sp>
      <p:sp>
        <p:nvSpPr>
          <p:cNvPr id="54" name="Text 51"/>
          <p:cNvSpPr/>
          <p:nvPr/>
        </p:nvSpPr>
        <p:spPr>
          <a:xfrm>
            <a:off x="7928670" y="1872332"/>
            <a:ext cx="444698" cy="200025"/>
          </a:xfrm>
          <a:prstGeom prst="rect">
            <a:avLst/>
          </a:prstGeom>
          <a:noFill/>
          <a:ln/>
        </p:spPr>
        <p:txBody>
          <a:bodyPr wrap="square" lIns="0" tIns="0" rIns="0" bIns="0" rtlCol="0" anchor="t"/>
          <a:lstStyle/>
          <a:p>
            <a:pPr marL="0" indent="0" algn="ctr">
              <a:lnSpc>
                <a:spcPts val="788"/>
              </a:lnSpc>
              <a:buNone/>
            </a:pPr>
            <a:r>
              <a:rPr lang="en-US" sz="800" dirty="0">
                <a:solidFill>
                  <a:srgbClr val="FFFFFF">
                    <a:alpha val="85000"/>
                  </a:srgbClr>
                </a:solidFill>
                <a:latin typeface="Carlito" pitchFamily="34" charset="0"/>
                <a:ea typeface="Carlito" pitchFamily="34" charset="-122"/>
                <a:cs typeface="Carlito" pitchFamily="34" charset="-120"/>
              </a:rPr>
              <a:t>· Runtime IDS</a:t>
            </a:r>
            <a:endParaRPr lang="en-US" sz="800" dirty="0"/>
          </a:p>
          <a:p>
            <a:pPr marL="0" indent="0" algn="ctr">
              <a:lnSpc>
                <a:spcPts val="788"/>
              </a:lnSpc>
              <a:buNone/>
            </a:pPr>
            <a:r>
              <a:rPr lang="en-US" sz="800" dirty="0">
                <a:solidFill>
                  <a:srgbClr val="FFFFFF">
                    <a:alpha val="85000"/>
                  </a:srgbClr>
                </a:solidFill>
                <a:latin typeface="Carlito" pitchFamily="34" charset="0"/>
                <a:ea typeface="Carlito" pitchFamily="34" charset="-122"/>
                <a:cs typeface="Carlito" pitchFamily="34" charset="-120"/>
              </a:rPr>
              <a:t>· Patch, audit</a:t>
            </a:r>
            <a:endParaRPr lang="en-US" sz="800" dirty="0"/>
          </a:p>
        </p:txBody>
      </p:sp>
      <p:sp>
        <p:nvSpPr>
          <p:cNvPr id="55" name="Shape 52"/>
          <p:cNvSpPr/>
          <p:nvPr/>
        </p:nvSpPr>
        <p:spPr>
          <a:xfrm>
            <a:off x="8576072" y="2222376"/>
            <a:ext cx="0" cy="100013"/>
          </a:xfrm>
          <a:prstGeom prst="line">
            <a:avLst/>
          </a:prstGeom>
          <a:noFill/>
          <a:ln w="7144">
            <a:solidFill>
              <a:srgbClr val="2C5282"/>
            </a:solidFill>
            <a:prstDash val="dash"/>
          </a:ln>
        </p:spPr>
      </p:sp>
      <p:sp>
        <p:nvSpPr>
          <p:cNvPr id="56" name="Shape 53"/>
          <p:cNvSpPr/>
          <p:nvPr/>
        </p:nvSpPr>
        <p:spPr>
          <a:xfrm>
            <a:off x="485775" y="2311673"/>
            <a:ext cx="8172450" cy="0"/>
          </a:xfrm>
          <a:prstGeom prst="line">
            <a:avLst/>
          </a:prstGeom>
          <a:noFill/>
          <a:ln w="7144">
            <a:solidFill>
              <a:srgbClr val="2C5282"/>
            </a:solidFill>
            <a:prstDash val="dash"/>
          </a:ln>
        </p:spPr>
      </p:sp>
      <p:sp>
        <p:nvSpPr>
          <p:cNvPr id="57" name="Shape 54"/>
          <p:cNvSpPr/>
          <p:nvPr/>
        </p:nvSpPr>
        <p:spPr>
          <a:xfrm>
            <a:off x="489347" y="2222376"/>
            <a:ext cx="0" cy="100013"/>
          </a:xfrm>
          <a:prstGeom prst="line">
            <a:avLst/>
          </a:prstGeom>
          <a:noFill/>
          <a:ln w="7144">
            <a:solidFill>
              <a:srgbClr val="2C5282"/>
            </a:solidFill>
            <a:prstDash val="dash"/>
          </a:ln>
        </p:spPr>
      </p:sp>
      <p:sp>
        <p:nvSpPr>
          <p:cNvPr id="58" name="Text 55"/>
          <p:cNvSpPr/>
          <p:nvPr/>
        </p:nvSpPr>
        <p:spPr>
          <a:xfrm>
            <a:off x="3906984" y="2413078"/>
            <a:ext cx="1330032" cy="174022"/>
          </a:xfrm>
          <a:prstGeom prst="roundRect">
            <a:avLst>
              <a:gd name="adj" fmla="val 21894"/>
            </a:avLst>
          </a:prstGeom>
          <a:solidFill>
            <a:srgbClr val="0F2A4A"/>
          </a:solidFill>
          <a:ln/>
        </p:spPr>
        <p:txBody>
          <a:bodyPr wrap="square" rtlCol="0" anchor="ctr"/>
          <a:lstStyle/>
          <a:p>
            <a:pPr marL="0" indent="0">
              <a:buNone/>
            </a:pPr>
            <a:endParaRPr lang="en-US" dirty="0"/>
          </a:p>
        </p:txBody>
      </p:sp>
      <p:sp>
        <p:nvSpPr>
          <p:cNvPr id="59" name="Text 56"/>
          <p:cNvSpPr/>
          <p:nvPr/>
        </p:nvSpPr>
        <p:spPr>
          <a:xfrm>
            <a:off x="3929844" y="2422401"/>
            <a:ext cx="1284312" cy="155377"/>
          </a:xfrm>
          <a:prstGeom prst="rect">
            <a:avLst/>
          </a:prstGeom>
          <a:noFill/>
          <a:ln/>
        </p:spPr>
        <p:txBody>
          <a:bodyPr wrap="none" lIns="0" tIns="0" rIns="0" bIns="0" rtlCol="0" anchor="ctr"/>
          <a:lstStyle/>
          <a:p>
            <a:pPr marL="0" indent="0" algn="ctr">
              <a:lnSpc>
                <a:spcPts val="886"/>
              </a:lnSpc>
              <a:buNone/>
            </a:pPr>
            <a:r>
              <a:rPr lang="en-US" sz="800" kern="0" spc="71" dirty="0">
                <a:solidFill>
                  <a:srgbClr val="FFFFFF"/>
                </a:solidFill>
                <a:latin typeface="Carlito" pitchFamily="34" charset="0"/>
                <a:ea typeface="Carlito" pitchFamily="34" charset="-122"/>
                <a:cs typeface="Carlito" pitchFamily="34" charset="-120"/>
              </a:rPr>
              <a:t>CONTINUOUS FEEDBACK</a:t>
            </a:r>
            <a:endParaRPr lang="en-US" sz="800" dirty="0"/>
          </a:p>
        </p:txBody>
      </p:sp>
      <p:sp>
        <p:nvSpPr>
          <p:cNvPr id="60" name="Text 57"/>
          <p:cNvSpPr/>
          <p:nvPr/>
        </p:nvSpPr>
        <p:spPr>
          <a:xfrm>
            <a:off x="460772" y="2681362"/>
            <a:ext cx="8222456" cy="794742"/>
          </a:xfrm>
          <a:prstGeom prst="roundRect">
            <a:avLst>
              <a:gd name="adj" fmla="val 9588"/>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61" name="Text 58"/>
          <p:cNvSpPr/>
          <p:nvPr/>
        </p:nvSpPr>
        <p:spPr>
          <a:xfrm>
            <a:off x="607219" y="2784946"/>
            <a:ext cx="128588" cy="128588"/>
          </a:xfrm>
          <a:prstGeom prst="rect">
            <a:avLst/>
          </a:prstGeom>
          <a:noFill/>
          <a:ln/>
        </p:spPr>
        <p:txBody>
          <a:bodyPr wrap="none" lIns="0" tIns="0" rIns="0" bIns="0" rtlCol="0" anchor="ctr"/>
          <a:lstStyle/>
          <a:p>
            <a:pPr marL="0" indent="0" algn="ctr">
              <a:buNone/>
            </a:pPr>
            <a:r>
              <a:rPr lang="en-US" sz="1266" dirty="0">
                <a:solidFill>
                  <a:srgbClr val="C9A961"/>
                </a:solidFill>
                <a:latin typeface="Segoe UI Symbol" pitchFamily="34" charset="0"/>
                <a:ea typeface="Segoe UI Symbol" pitchFamily="34" charset="-122"/>
                <a:cs typeface="Segoe UI Symbol" pitchFamily="34" charset="-120"/>
              </a:rPr>
              <a:t>▦</a:t>
            </a:r>
            <a:endParaRPr lang="en-US" sz="1266" dirty="0"/>
          </a:p>
        </p:txBody>
      </p:sp>
      <p:sp>
        <p:nvSpPr>
          <p:cNvPr id="62" name="Text 59"/>
          <p:cNvSpPr/>
          <p:nvPr/>
        </p:nvSpPr>
        <p:spPr>
          <a:xfrm>
            <a:off x="807244" y="2790304"/>
            <a:ext cx="772953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C9A961"/>
                </a:solidFill>
                <a:latin typeface="Carlito" pitchFamily="34" charset="0"/>
                <a:ea typeface="Carlito" pitchFamily="34" charset="-122"/>
                <a:cs typeface="Carlito" pitchFamily="34" charset="-120"/>
              </a:rPr>
              <a:t>APPLICATIONS — REAL-WORLD DEPLOYMENTS</a:t>
            </a:r>
            <a:endParaRPr lang="en-US" sz="800" dirty="0"/>
          </a:p>
        </p:txBody>
      </p:sp>
      <p:sp>
        <p:nvSpPr>
          <p:cNvPr id="63" name="Text 60"/>
          <p:cNvSpPr/>
          <p:nvPr/>
        </p:nvSpPr>
        <p:spPr>
          <a:xfrm>
            <a:off x="607219" y="2970684"/>
            <a:ext cx="2557463" cy="401836"/>
          </a:xfrm>
          <a:prstGeom prst="rect">
            <a:avLst/>
          </a:prstGeom>
          <a:noFill/>
          <a:ln/>
        </p:spPr>
        <p:txBody>
          <a:bodyPr wrap="square" lIns="0" tIns="0" rIns="0" bIns="0" rtlCol="0" anchor="t"/>
          <a:lstStyle/>
          <a:p>
            <a:pPr marL="0" indent="0" algn="l">
              <a:lnSpc>
                <a:spcPts val="1055"/>
              </a:lnSpc>
              <a:buNone/>
            </a:pPr>
            <a:r>
              <a:rPr lang="en-US" sz="800" dirty="0">
                <a:solidFill>
                  <a:srgbClr val="0F2A4A"/>
                </a:solidFill>
                <a:latin typeface="Carlito" pitchFamily="34" charset="0"/>
                <a:ea typeface="Carlito" pitchFamily="34" charset="-122"/>
                <a:cs typeface="Carlito" pitchFamily="34" charset="-120"/>
              </a:rPr>
              <a:t>Smart Home</a:t>
            </a:r>
            <a:r>
              <a:rPr lang="en-US" sz="800" dirty="0">
                <a:solidFill>
                  <a:srgbClr val="4A5568"/>
                </a:solidFill>
                <a:latin typeface="Carlito" pitchFamily="34" charset="0"/>
                <a:ea typeface="Carlito" pitchFamily="34" charset="-122"/>
                <a:cs typeface="Carlito" pitchFamily="34" charset="-120"/>
              </a:rPr>
              <a:t> — Google Nest applies threat modeling per device class, automated SAST in CI, signed OTA, runtime IDS reporting to fleet telemetry.</a:t>
            </a:r>
            <a:endParaRPr lang="en-US" sz="800" dirty="0"/>
          </a:p>
        </p:txBody>
      </p:sp>
      <p:sp>
        <p:nvSpPr>
          <p:cNvPr id="64" name="Text 61"/>
          <p:cNvSpPr/>
          <p:nvPr/>
        </p:nvSpPr>
        <p:spPr>
          <a:xfrm>
            <a:off x="3293269" y="2970684"/>
            <a:ext cx="2557463" cy="401836"/>
          </a:xfrm>
          <a:prstGeom prst="rect">
            <a:avLst/>
          </a:prstGeom>
          <a:noFill/>
          <a:ln/>
        </p:spPr>
        <p:txBody>
          <a:bodyPr wrap="square" lIns="0" tIns="0" rIns="0" bIns="0" rtlCol="0" anchor="t"/>
          <a:lstStyle/>
          <a:p>
            <a:pPr marL="0" indent="0" algn="l">
              <a:lnSpc>
                <a:spcPts val="1055"/>
              </a:lnSpc>
              <a:buNone/>
            </a:pPr>
            <a:r>
              <a:rPr lang="en-US" sz="800" dirty="0">
                <a:solidFill>
                  <a:srgbClr val="0F2A4A"/>
                </a:solidFill>
                <a:latin typeface="Carlito" pitchFamily="34" charset="0"/>
                <a:ea typeface="Carlito" pitchFamily="34" charset="-122"/>
                <a:cs typeface="Carlito" pitchFamily="34" charset="-120"/>
              </a:rPr>
              <a:t>Automotive</a:t>
            </a:r>
            <a:r>
              <a:rPr lang="en-US" sz="800" dirty="0">
                <a:solidFill>
                  <a:srgbClr val="4A5568"/>
                </a:solidFill>
                <a:latin typeface="Carlito" pitchFamily="34" charset="0"/>
                <a:ea typeface="Carlito" pitchFamily="34" charset="-122"/>
                <a:cs typeface="Carlito" pitchFamily="34" charset="-120"/>
              </a:rPr>
              <a:t> — Tesla ships signed firmware every 2 weeks, A/B partitions for rollback, bug-bounty program feeding threat models.</a:t>
            </a:r>
            <a:endParaRPr lang="en-US" sz="800" dirty="0"/>
          </a:p>
        </p:txBody>
      </p:sp>
      <p:sp>
        <p:nvSpPr>
          <p:cNvPr id="65" name="Text 62"/>
          <p:cNvSpPr/>
          <p:nvPr/>
        </p:nvSpPr>
        <p:spPr>
          <a:xfrm>
            <a:off x="5979319" y="2970684"/>
            <a:ext cx="2557463" cy="401836"/>
          </a:xfrm>
          <a:prstGeom prst="rect">
            <a:avLst/>
          </a:prstGeom>
          <a:noFill/>
          <a:ln/>
        </p:spPr>
        <p:txBody>
          <a:bodyPr wrap="square" lIns="0" tIns="0" rIns="0" bIns="0" rtlCol="0" anchor="t"/>
          <a:lstStyle/>
          <a:p>
            <a:pPr marL="0" indent="0" algn="l">
              <a:lnSpc>
                <a:spcPts val="1055"/>
              </a:lnSpc>
              <a:buNone/>
            </a:pPr>
            <a:r>
              <a:rPr lang="en-US" sz="800" dirty="0">
                <a:solidFill>
                  <a:srgbClr val="0F2A4A"/>
                </a:solidFill>
                <a:latin typeface="Carlito" pitchFamily="34" charset="0"/>
                <a:ea typeface="Carlito" pitchFamily="34" charset="-122"/>
                <a:cs typeface="Carlito" pitchFamily="34" charset="-120"/>
              </a:rPr>
              <a:t>Medical</a:t>
            </a:r>
            <a:r>
              <a:rPr lang="en-US" sz="800" dirty="0">
                <a:solidFill>
                  <a:srgbClr val="4A5568"/>
                </a:solidFill>
                <a:latin typeface="Carlito" pitchFamily="34" charset="0"/>
                <a:ea typeface="Carlito" pitchFamily="34" charset="-122"/>
                <a:cs typeface="Carlito" pitchFamily="34" charset="-120"/>
              </a:rPr>
              <a:t> — Medtronic insulin pumps use IEC 62304 lifecycle, pre-market security review by FDA, post-market patching under coordinated disclosure.</a:t>
            </a:r>
            <a:endParaRPr lang="en-US" sz="800" dirty="0"/>
          </a:p>
        </p:txBody>
      </p:sp>
      <p:sp>
        <p:nvSpPr>
          <p:cNvPr id="66" name="Text 63"/>
          <p:cNvSpPr/>
          <p:nvPr/>
        </p:nvSpPr>
        <p:spPr>
          <a:xfrm>
            <a:off x="457200" y="4897041"/>
            <a:ext cx="3564396"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Liberation Sans Narrow" pitchFamily="34" charset="0"/>
                <a:ea typeface="Liberation Sans Narrow" pitchFamily="34" charset="-122"/>
                <a:cs typeface="Liberation Sans Narrow" pitchFamily="34" charset="-120"/>
              </a:rPr>
              <a:t>IOT-SEC · 2026</a:t>
            </a:r>
            <a:endParaRPr lang="en-US" sz="800" dirty="0"/>
          </a:p>
        </p:txBody>
      </p:sp>
      <p:sp>
        <p:nvSpPr>
          <p:cNvPr id="67" name="Text 64"/>
          <p:cNvSpPr/>
          <p:nvPr/>
        </p:nvSpPr>
        <p:spPr>
          <a:xfrm>
            <a:off x="4035884" y="4897041"/>
            <a:ext cx="4334024"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Carlito" pitchFamily="34" charset="0"/>
                <a:ea typeface="Carlito" pitchFamily="34" charset="-122"/>
                <a:cs typeface="Carlito" pitchFamily="34" charset="-120"/>
              </a:rPr>
              <a:t>SECURE BY DESIGN · LIFECYCLE</a:t>
            </a:r>
            <a:endParaRPr lang="en-US" sz="800" dirty="0"/>
          </a:p>
        </p:txBody>
      </p:sp>
      <p:sp>
        <p:nvSpPr>
          <p:cNvPr id="68" name="Text 65"/>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14 / 21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05395"/>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57175"/>
            <a:ext cx="7060927" cy="164592"/>
          </a:xfrm>
          <a:prstGeom prst="rect">
            <a:avLst/>
          </a:prstGeom>
          <a:noFill/>
          <a:ln/>
        </p:spPr>
        <p:txBody>
          <a:bodyPr wrap="none" lIns="0" tIns="0" rIns="0" bIns="0" rtlCol="0" anchor="t"/>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07 · RUN-TIME MONITORING</a:t>
            </a:r>
            <a:endParaRPr lang="en-US" sz="800" dirty="0"/>
          </a:p>
        </p:txBody>
      </p:sp>
      <p:sp>
        <p:nvSpPr>
          <p:cNvPr id="5" name="Text 2"/>
          <p:cNvSpPr/>
          <p:nvPr/>
        </p:nvSpPr>
        <p:spPr>
          <a:xfrm>
            <a:off x="7532415" y="267891"/>
            <a:ext cx="1403751" cy="164592"/>
          </a:xfrm>
          <a:prstGeom prst="rect">
            <a:avLst/>
          </a:prstGeom>
          <a:noFill/>
          <a:ln/>
        </p:spPr>
        <p:txBody>
          <a:bodyPr wrap="none" lIns="0" tIns="0" rIns="0" bIns="0" rtlCol="0" anchor="t"/>
          <a:lstStyle/>
          <a:p>
            <a:pPr marL="0" indent="0" algn="l">
              <a:lnSpc>
                <a:spcPts val="928"/>
              </a:lnSpc>
              <a:buNone/>
            </a:pPr>
            <a:r>
              <a:rPr lang="en-US" sz="800" kern="0" spc="93" dirty="0">
                <a:solidFill>
                  <a:srgbClr val="6B7280"/>
                </a:solidFill>
                <a:latin typeface="Liberation Sans Narrow" pitchFamily="34" charset="0"/>
                <a:ea typeface="Liberation Sans Narrow" pitchFamily="34" charset="-122"/>
                <a:cs typeface="Liberation Sans Narrow" pitchFamily="34" charset="-120"/>
              </a:rPr>
              <a:t>CONCEPT · LECTURE 7 / 9</a:t>
            </a:r>
            <a:endParaRPr lang="en-US" sz="800" dirty="0"/>
          </a:p>
        </p:txBody>
      </p:sp>
      <p:sp>
        <p:nvSpPr>
          <p:cNvPr id="6" name="Text 3"/>
          <p:cNvSpPr/>
          <p:nvPr/>
        </p:nvSpPr>
        <p:spPr>
          <a:xfrm>
            <a:off x="457200" y="496491"/>
            <a:ext cx="5431438" cy="266176"/>
          </a:xfrm>
          <a:prstGeom prst="rect">
            <a:avLst/>
          </a:prstGeom>
          <a:noFill/>
          <a:ln/>
        </p:spPr>
        <p:txBody>
          <a:bodyPr wrap="square" lIns="0" tIns="0" rIns="0" bIns="0" rtlCol="0" anchor="t"/>
          <a:lstStyle/>
          <a:p>
            <a:pPr marL="0" indent="0" algn="l">
              <a:lnSpc>
                <a:spcPts val="1941"/>
              </a:lnSpc>
              <a:buNone/>
            </a:pPr>
            <a:r>
              <a:rPr lang="en-US" sz="1688" b="1" kern="0" spc="-25" dirty="0">
                <a:solidFill>
                  <a:srgbClr val="0F2A4A"/>
                </a:solidFill>
                <a:latin typeface="Tinos" pitchFamily="34" charset="0"/>
                <a:ea typeface="Tinos" pitchFamily="34" charset="-122"/>
                <a:cs typeface="Tinos" pitchFamily="34" charset="-120"/>
              </a:rPr>
              <a:t>Detect, Respond, Recover — In Real Time</a:t>
            </a:r>
            <a:endParaRPr lang="en-US" sz="1688" dirty="0"/>
          </a:p>
        </p:txBody>
      </p:sp>
      <p:sp>
        <p:nvSpPr>
          <p:cNvPr id="7" name="Text 4"/>
          <p:cNvSpPr/>
          <p:nvPr/>
        </p:nvSpPr>
        <p:spPr>
          <a:xfrm>
            <a:off x="457200" y="828675"/>
            <a:ext cx="4937671" cy="538139"/>
          </a:xfrm>
          <a:prstGeom prst="rect">
            <a:avLst/>
          </a:prstGeom>
          <a:noFill/>
          <a:ln/>
        </p:spPr>
        <p:txBody>
          <a:bodyPr wrap="square" lIns="0" tIns="0" rIns="0" bIns="0" rtlCol="0" anchor="t"/>
          <a:lstStyle/>
          <a:p>
            <a:pPr marL="0" indent="0" algn="l">
              <a:lnSpc>
                <a:spcPts val="1308"/>
              </a:lnSpc>
              <a:buNone/>
            </a:pPr>
            <a:r>
              <a:rPr lang="en-US" sz="844" dirty="0">
                <a:solidFill>
                  <a:srgbClr val="4A5568"/>
                </a:solidFill>
                <a:latin typeface="Carlito" pitchFamily="34" charset="0"/>
                <a:ea typeface="Carlito" pitchFamily="34" charset="-122"/>
                <a:cs typeface="Carlito" pitchFamily="34" charset="-120"/>
              </a:rPr>
              <a:t>Run-time monitoring is the practice of continuously observing live system behavior to detect attacks, anomalies, and policy violations as they happen — then responding before damage spreads. Static security catches known bad patterns; runtime security catches what static analysis cannot.</a:t>
            </a:r>
            <a:endParaRPr lang="en-US" sz="844" dirty="0"/>
          </a:p>
        </p:txBody>
      </p:sp>
      <p:sp>
        <p:nvSpPr>
          <p:cNvPr id="8" name="Shape 5"/>
          <p:cNvSpPr/>
          <p:nvPr/>
        </p:nvSpPr>
        <p:spPr>
          <a:xfrm>
            <a:off x="457200" y="1660922"/>
            <a:ext cx="4937671" cy="0"/>
          </a:xfrm>
          <a:prstGeom prst="line">
            <a:avLst/>
          </a:prstGeom>
          <a:noFill/>
          <a:ln w="7144">
            <a:solidFill>
              <a:srgbClr val="E5E9EE"/>
            </a:solidFill>
            <a:prstDash val="solid"/>
          </a:ln>
        </p:spPr>
      </p:sp>
      <p:sp>
        <p:nvSpPr>
          <p:cNvPr id="9" name="Text 6"/>
          <p:cNvSpPr/>
          <p:nvPr/>
        </p:nvSpPr>
        <p:spPr>
          <a:xfrm>
            <a:off x="457200" y="1519833"/>
            <a:ext cx="57150" cy="57150"/>
          </a:xfrm>
          <a:prstGeom prst="ellipse">
            <a:avLst/>
          </a:prstGeom>
          <a:solidFill>
            <a:srgbClr val="C9A961"/>
          </a:solidFill>
          <a:ln/>
        </p:spPr>
        <p:txBody>
          <a:bodyPr wrap="square" rtlCol="0" anchor="ctr"/>
          <a:lstStyle/>
          <a:p>
            <a:pPr marL="0" indent="0">
              <a:buNone/>
            </a:pPr>
            <a:endParaRPr lang="en-US" dirty="0"/>
          </a:p>
        </p:txBody>
      </p:sp>
      <p:sp>
        <p:nvSpPr>
          <p:cNvPr id="10" name="Text 7"/>
          <p:cNvSpPr/>
          <p:nvPr/>
        </p:nvSpPr>
        <p:spPr>
          <a:xfrm>
            <a:off x="642938" y="1462683"/>
            <a:ext cx="4751933" cy="144661"/>
          </a:xfrm>
          <a:prstGeom prst="rect">
            <a:avLst/>
          </a:prstGeom>
          <a:noFill/>
          <a:ln/>
        </p:spPr>
        <p:txBody>
          <a:bodyPr wrap="square" lIns="0" tIns="0" rIns="0" bIns="0" rtlCol="0" anchor="t"/>
          <a:lstStyle/>
          <a:p>
            <a:pPr marL="0" indent="0" algn="l">
              <a:lnSpc>
                <a:spcPts val="1139"/>
              </a:lnSpc>
              <a:buNone/>
            </a:pPr>
            <a:r>
              <a:rPr lang="en-US" sz="759" dirty="0">
                <a:solidFill>
                  <a:srgbClr val="0F2A4A"/>
                </a:solidFill>
                <a:latin typeface="Carlito" pitchFamily="34" charset="0"/>
                <a:ea typeface="Carlito" pitchFamily="34" charset="-122"/>
                <a:cs typeface="Carlito" pitchFamily="34" charset="-120"/>
              </a:rPr>
              <a:t>IDS</a:t>
            </a:r>
            <a:r>
              <a:rPr lang="en-US" sz="759" dirty="0">
                <a:solidFill>
                  <a:srgbClr val="1A2332"/>
                </a:solidFill>
                <a:latin typeface="Carlito" pitchFamily="34" charset="0"/>
                <a:ea typeface="Carlito" pitchFamily="34" charset="-122"/>
                <a:cs typeface="Carlito" pitchFamily="34" charset="-120"/>
              </a:rPr>
              <a:t> — Intrusion Detection Systems inspect traffic and process behavior against rules + ML models.</a:t>
            </a:r>
            <a:endParaRPr lang="en-US" sz="759" dirty="0"/>
          </a:p>
        </p:txBody>
      </p:sp>
      <p:sp>
        <p:nvSpPr>
          <p:cNvPr id="11" name="Shape 8"/>
          <p:cNvSpPr/>
          <p:nvPr/>
        </p:nvSpPr>
        <p:spPr>
          <a:xfrm>
            <a:off x="457200" y="1912739"/>
            <a:ext cx="4937671" cy="0"/>
          </a:xfrm>
          <a:prstGeom prst="line">
            <a:avLst/>
          </a:prstGeom>
          <a:noFill/>
          <a:ln w="7144">
            <a:solidFill>
              <a:srgbClr val="E5E9EE"/>
            </a:solidFill>
            <a:prstDash val="solid"/>
          </a:ln>
        </p:spPr>
      </p:sp>
      <p:sp>
        <p:nvSpPr>
          <p:cNvPr id="12" name="Text 9"/>
          <p:cNvSpPr/>
          <p:nvPr/>
        </p:nvSpPr>
        <p:spPr>
          <a:xfrm>
            <a:off x="457200" y="1771650"/>
            <a:ext cx="57150" cy="57150"/>
          </a:xfrm>
          <a:prstGeom prst="ellipse">
            <a:avLst/>
          </a:prstGeom>
          <a:solidFill>
            <a:srgbClr val="C9A961"/>
          </a:solidFill>
          <a:ln/>
        </p:spPr>
        <p:txBody>
          <a:bodyPr wrap="square" rtlCol="0" anchor="ctr"/>
          <a:lstStyle/>
          <a:p>
            <a:pPr marL="0" indent="0">
              <a:buNone/>
            </a:pPr>
            <a:endParaRPr lang="en-US" dirty="0"/>
          </a:p>
        </p:txBody>
      </p:sp>
      <p:sp>
        <p:nvSpPr>
          <p:cNvPr id="13" name="Text 10"/>
          <p:cNvSpPr/>
          <p:nvPr/>
        </p:nvSpPr>
        <p:spPr>
          <a:xfrm>
            <a:off x="642938" y="1714500"/>
            <a:ext cx="4751933" cy="144661"/>
          </a:xfrm>
          <a:prstGeom prst="rect">
            <a:avLst/>
          </a:prstGeom>
          <a:noFill/>
          <a:ln/>
        </p:spPr>
        <p:txBody>
          <a:bodyPr wrap="square" lIns="0" tIns="0" rIns="0" bIns="0" rtlCol="0" anchor="t"/>
          <a:lstStyle/>
          <a:p>
            <a:pPr marL="0" indent="0" algn="l">
              <a:lnSpc>
                <a:spcPts val="1139"/>
              </a:lnSpc>
              <a:buNone/>
            </a:pPr>
            <a:r>
              <a:rPr lang="en-US" sz="759" dirty="0">
                <a:solidFill>
                  <a:srgbClr val="0F2A4A"/>
                </a:solidFill>
                <a:latin typeface="Carlito" pitchFamily="34" charset="0"/>
                <a:ea typeface="Carlito" pitchFamily="34" charset="-122"/>
                <a:cs typeface="Carlito" pitchFamily="34" charset="-120"/>
              </a:rPr>
              <a:t>Anomaly Detection</a:t>
            </a:r>
            <a:r>
              <a:rPr lang="en-US" sz="759" dirty="0">
                <a:solidFill>
                  <a:srgbClr val="1A2332"/>
                </a:solidFill>
                <a:latin typeface="Carlito" pitchFamily="34" charset="0"/>
                <a:ea typeface="Carlito" pitchFamily="34" charset="-122"/>
                <a:cs typeface="Carlito" pitchFamily="34" charset="-120"/>
              </a:rPr>
              <a:t> — baseline normal telemetry, flag deviations beyond 3σ or model-scored thresholds.</a:t>
            </a:r>
            <a:endParaRPr lang="en-US" sz="759" dirty="0"/>
          </a:p>
        </p:txBody>
      </p:sp>
      <p:sp>
        <p:nvSpPr>
          <p:cNvPr id="14" name="Text 11"/>
          <p:cNvSpPr/>
          <p:nvPr/>
        </p:nvSpPr>
        <p:spPr>
          <a:xfrm>
            <a:off x="457200" y="2023467"/>
            <a:ext cx="57150" cy="57150"/>
          </a:xfrm>
          <a:prstGeom prst="ellipse">
            <a:avLst/>
          </a:prstGeom>
          <a:solidFill>
            <a:srgbClr val="C9A961"/>
          </a:solidFill>
          <a:ln/>
        </p:spPr>
        <p:txBody>
          <a:bodyPr wrap="square" rtlCol="0" anchor="ctr"/>
          <a:lstStyle/>
          <a:p>
            <a:pPr marL="0" indent="0">
              <a:buNone/>
            </a:pPr>
            <a:endParaRPr lang="en-US" dirty="0"/>
          </a:p>
        </p:txBody>
      </p:sp>
      <p:sp>
        <p:nvSpPr>
          <p:cNvPr id="15" name="Text 12"/>
          <p:cNvSpPr/>
          <p:nvPr/>
        </p:nvSpPr>
        <p:spPr>
          <a:xfrm>
            <a:off x="642938" y="1966317"/>
            <a:ext cx="4751933" cy="164592"/>
          </a:xfrm>
          <a:prstGeom prst="rect">
            <a:avLst/>
          </a:prstGeom>
          <a:noFill/>
          <a:ln/>
        </p:spPr>
        <p:txBody>
          <a:bodyPr wrap="square" lIns="0" tIns="0" rIns="0" bIns="0" rtlCol="0" anchor="t"/>
          <a:lstStyle/>
          <a:p>
            <a:pPr marL="0" indent="0" algn="l">
              <a:lnSpc>
                <a:spcPts val="1139"/>
              </a:lnSpc>
              <a:buNone/>
            </a:pPr>
            <a:r>
              <a:rPr lang="en-US" sz="759" dirty="0">
                <a:solidFill>
                  <a:srgbClr val="0F2A4A"/>
                </a:solidFill>
                <a:latin typeface="Carlito" pitchFamily="34" charset="0"/>
                <a:ea typeface="Carlito" pitchFamily="34" charset="-122"/>
                <a:cs typeface="Carlito" pitchFamily="34" charset="-120"/>
              </a:rPr>
              <a:t>Automated Response</a:t>
            </a:r>
            <a:r>
              <a:rPr lang="en-US" sz="759" dirty="0">
                <a:solidFill>
                  <a:srgbClr val="1A2332"/>
                </a:solidFill>
                <a:latin typeface="Carlito" pitchFamily="34" charset="0"/>
                <a:ea typeface="Carlito" pitchFamily="34" charset="-122"/>
                <a:cs typeface="Carlito" pitchFamily="34" charset="-120"/>
              </a:rPr>
              <a:t> — isolate device, revoke credentials, push signed patch — without human latency.</a:t>
            </a:r>
            <a:endParaRPr lang="en-US" sz="759" dirty="0"/>
          </a:p>
        </p:txBody>
      </p:sp>
      <p:sp>
        <p:nvSpPr>
          <p:cNvPr id="16" name="Text 13"/>
          <p:cNvSpPr/>
          <p:nvPr/>
        </p:nvSpPr>
        <p:spPr>
          <a:xfrm>
            <a:off x="5584180" y="500063"/>
            <a:ext cx="3284674" cy="3743325"/>
          </a:xfrm>
          <a:prstGeom prst="roundRect">
            <a:avLst>
              <a:gd name="adj" fmla="val 2320"/>
            </a:avLst>
          </a:prstGeom>
          <a:solidFill>
            <a:srgbClr val="FFFFFF"/>
          </a:solidFill>
          <a:ln w="7144">
            <a:solidFill>
              <a:srgbClr val="D8DEE6"/>
            </a:solidFill>
            <a:prstDash val="solid"/>
          </a:ln>
        </p:spPr>
        <p:txBody>
          <a:bodyPr wrap="square" rtlCol="0" anchor="ctr"/>
          <a:lstStyle/>
          <a:p>
            <a:pPr marL="0" indent="0">
              <a:buNone/>
            </a:pPr>
            <a:endParaRPr lang="en-US" dirty="0"/>
          </a:p>
        </p:txBody>
      </p:sp>
      <p:sp>
        <p:nvSpPr>
          <p:cNvPr id="17" name="Shape 14"/>
          <p:cNvSpPr/>
          <p:nvPr/>
        </p:nvSpPr>
        <p:spPr>
          <a:xfrm>
            <a:off x="5730627" y="825103"/>
            <a:ext cx="2991780" cy="0"/>
          </a:xfrm>
          <a:prstGeom prst="line">
            <a:avLst/>
          </a:prstGeom>
          <a:noFill/>
          <a:ln w="7144">
            <a:solidFill>
              <a:srgbClr val="E5E9EE"/>
            </a:solidFill>
            <a:prstDash val="solid"/>
          </a:ln>
        </p:spPr>
      </p:sp>
      <p:sp>
        <p:nvSpPr>
          <p:cNvPr id="18" name="Text 15"/>
          <p:cNvSpPr/>
          <p:nvPr/>
        </p:nvSpPr>
        <p:spPr>
          <a:xfrm>
            <a:off x="5730627" y="632222"/>
            <a:ext cx="2991780" cy="254746"/>
          </a:xfrm>
          <a:prstGeom prst="rect">
            <a:avLst/>
          </a:prstGeom>
          <a:noFill/>
          <a:ln/>
        </p:spPr>
        <p:txBody>
          <a:bodyPr wrap="none" lIns="0" tIns="0" rIns="0" bIns="71438" rtlCol="0" anchor="t">
            <a:normAutofit/>
          </a:bodyPr>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MONITORING TECHNIQUES</a:t>
            </a:r>
            <a:endParaRPr lang="en-US" sz="800" dirty="0"/>
          </a:p>
        </p:txBody>
      </p:sp>
      <p:sp>
        <p:nvSpPr>
          <p:cNvPr id="19" name="Shape 16"/>
          <p:cNvSpPr/>
          <p:nvPr/>
        </p:nvSpPr>
        <p:spPr>
          <a:xfrm>
            <a:off x="5730627" y="1275159"/>
            <a:ext cx="2991780" cy="0"/>
          </a:xfrm>
          <a:prstGeom prst="line">
            <a:avLst/>
          </a:prstGeom>
          <a:noFill/>
          <a:ln w="7144">
            <a:solidFill>
              <a:srgbClr val="E5E9EE"/>
            </a:solidFill>
            <a:prstDash val="dash"/>
          </a:ln>
        </p:spPr>
      </p:sp>
      <p:sp>
        <p:nvSpPr>
          <p:cNvPr id="20" name="Text 17"/>
          <p:cNvSpPr/>
          <p:nvPr/>
        </p:nvSpPr>
        <p:spPr>
          <a:xfrm>
            <a:off x="5730627" y="973036"/>
            <a:ext cx="557213" cy="239916"/>
          </a:xfrm>
          <a:prstGeom prst="roundRect">
            <a:avLst>
              <a:gd name="adj" fmla="val 15881"/>
            </a:avLst>
          </a:prstGeom>
          <a:solidFill>
            <a:srgbClr val="0F2A4A"/>
          </a:solidFill>
          <a:ln/>
        </p:spPr>
        <p:txBody>
          <a:bodyPr wrap="square" rtlCol="0" anchor="ctr"/>
          <a:lstStyle/>
          <a:p>
            <a:pPr marL="0" indent="0">
              <a:buNone/>
            </a:pPr>
            <a:endParaRPr lang="en-US" dirty="0"/>
          </a:p>
        </p:txBody>
      </p:sp>
      <p:sp>
        <p:nvSpPr>
          <p:cNvPr id="21" name="Text 18"/>
          <p:cNvSpPr/>
          <p:nvPr/>
        </p:nvSpPr>
        <p:spPr>
          <a:xfrm>
            <a:off x="5730627" y="985838"/>
            <a:ext cx="724376" cy="214313"/>
          </a:xfrm>
          <a:prstGeom prst="rect">
            <a:avLst/>
          </a:prstGeom>
          <a:noFill/>
          <a:ln/>
        </p:spPr>
        <p:txBody>
          <a:bodyPr wrap="none" lIns="0" tIns="42863" rIns="0" bIns="42863" rtlCol="0" anchor="t"/>
          <a:lstStyle/>
          <a:p>
            <a:pPr marL="0" indent="0" algn="ctr">
              <a:lnSpc>
                <a:spcPts val="1013"/>
              </a:lnSpc>
              <a:buNone/>
            </a:pPr>
            <a:r>
              <a:rPr lang="en-US" sz="800" b="1" kern="0" spc="27" dirty="0">
                <a:solidFill>
                  <a:srgbClr val="FFFFFF"/>
                </a:solidFill>
                <a:latin typeface="Courier New" pitchFamily="34" charset="0"/>
                <a:ea typeface="Courier New" pitchFamily="34" charset="-122"/>
                <a:cs typeface="Courier New" pitchFamily="34" charset="-120"/>
              </a:rPr>
              <a:t>HIDS</a:t>
            </a:r>
            <a:endParaRPr lang="en-US" sz="800" dirty="0"/>
          </a:p>
        </p:txBody>
      </p:sp>
      <p:sp>
        <p:nvSpPr>
          <p:cNvPr id="22" name="Text 19"/>
          <p:cNvSpPr/>
          <p:nvPr/>
        </p:nvSpPr>
        <p:spPr>
          <a:xfrm>
            <a:off x="6373564" y="1032942"/>
            <a:ext cx="2348843" cy="153591"/>
          </a:xfrm>
          <a:prstGeom prst="rect">
            <a:avLst/>
          </a:prstGeom>
          <a:noFill/>
          <a:ln/>
        </p:spPr>
        <p:txBody>
          <a:bodyPr wrap="square" lIns="0" tIns="0" rIns="0" bIns="0" rtlCol="0" anchor="t"/>
          <a:lstStyle/>
          <a:p>
            <a:pPr marL="0" indent="0" algn="l">
              <a:lnSpc>
                <a:spcPts val="945"/>
              </a:lnSpc>
              <a:buNone/>
            </a:pPr>
            <a:r>
              <a:rPr lang="en-US" sz="675" dirty="0">
                <a:solidFill>
                  <a:srgbClr val="0F2A4A"/>
                </a:solidFill>
                <a:latin typeface="Carlito" pitchFamily="34" charset="0"/>
                <a:ea typeface="Carlito" pitchFamily="34" charset="-122"/>
                <a:cs typeface="Carlito" pitchFamily="34" charset="-120"/>
              </a:rPr>
              <a:t>Host-based</a:t>
            </a:r>
            <a:r>
              <a:rPr lang="en-US" sz="675" dirty="0">
                <a:solidFill>
                  <a:srgbClr val="1A2332"/>
                </a:solidFill>
                <a:latin typeface="Carlito" pitchFamily="34" charset="0"/>
                <a:ea typeface="Carlito" pitchFamily="34" charset="-122"/>
                <a:cs typeface="Carlito" pitchFamily="34" charset="-120"/>
              </a:rPr>
              <a:t> — file integrity, process tree, syscall audit</a:t>
            </a:r>
            <a:endParaRPr lang="en-US" sz="675" dirty="0"/>
          </a:p>
        </p:txBody>
      </p:sp>
      <p:sp>
        <p:nvSpPr>
          <p:cNvPr id="23" name="Shape 20"/>
          <p:cNvSpPr/>
          <p:nvPr/>
        </p:nvSpPr>
        <p:spPr>
          <a:xfrm>
            <a:off x="5730627" y="1639491"/>
            <a:ext cx="2991780" cy="0"/>
          </a:xfrm>
          <a:prstGeom prst="line">
            <a:avLst/>
          </a:prstGeom>
          <a:noFill/>
          <a:ln w="7144">
            <a:solidFill>
              <a:srgbClr val="E5E9EE"/>
            </a:solidFill>
            <a:prstDash val="dash"/>
          </a:ln>
        </p:spPr>
      </p:sp>
      <p:sp>
        <p:nvSpPr>
          <p:cNvPr id="24" name="Text 21"/>
          <p:cNvSpPr/>
          <p:nvPr/>
        </p:nvSpPr>
        <p:spPr>
          <a:xfrm>
            <a:off x="5730627" y="1337367"/>
            <a:ext cx="557213" cy="239916"/>
          </a:xfrm>
          <a:prstGeom prst="roundRect">
            <a:avLst>
              <a:gd name="adj" fmla="val 15881"/>
            </a:avLst>
          </a:prstGeom>
          <a:solidFill>
            <a:srgbClr val="0F2A4A"/>
          </a:solidFill>
          <a:ln/>
        </p:spPr>
        <p:txBody>
          <a:bodyPr wrap="square" rtlCol="0" anchor="ctr"/>
          <a:lstStyle/>
          <a:p>
            <a:pPr marL="0" indent="0">
              <a:buNone/>
            </a:pPr>
            <a:endParaRPr lang="en-US" dirty="0"/>
          </a:p>
        </p:txBody>
      </p:sp>
      <p:sp>
        <p:nvSpPr>
          <p:cNvPr id="25" name="Text 22"/>
          <p:cNvSpPr/>
          <p:nvPr/>
        </p:nvSpPr>
        <p:spPr>
          <a:xfrm>
            <a:off x="5730627" y="1350169"/>
            <a:ext cx="724376" cy="214313"/>
          </a:xfrm>
          <a:prstGeom prst="rect">
            <a:avLst/>
          </a:prstGeom>
          <a:noFill/>
          <a:ln/>
        </p:spPr>
        <p:txBody>
          <a:bodyPr wrap="none" lIns="0" tIns="42863" rIns="0" bIns="42863" rtlCol="0" anchor="t"/>
          <a:lstStyle/>
          <a:p>
            <a:pPr marL="0" indent="0" algn="ctr">
              <a:lnSpc>
                <a:spcPts val="1013"/>
              </a:lnSpc>
              <a:buNone/>
            </a:pPr>
            <a:r>
              <a:rPr lang="en-US" sz="800" b="1" kern="0" spc="27" dirty="0">
                <a:solidFill>
                  <a:srgbClr val="FFFFFF"/>
                </a:solidFill>
                <a:latin typeface="Courier New" pitchFamily="34" charset="0"/>
                <a:ea typeface="Courier New" pitchFamily="34" charset="-122"/>
                <a:cs typeface="Courier New" pitchFamily="34" charset="-120"/>
              </a:rPr>
              <a:t>NIDS</a:t>
            </a:r>
            <a:endParaRPr lang="en-US" sz="800" dirty="0"/>
          </a:p>
        </p:txBody>
      </p:sp>
      <p:sp>
        <p:nvSpPr>
          <p:cNvPr id="26" name="Text 23"/>
          <p:cNvSpPr/>
          <p:nvPr/>
        </p:nvSpPr>
        <p:spPr>
          <a:xfrm>
            <a:off x="6373564" y="1397273"/>
            <a:ext cx="2348843" cy="153591"/>
          </a:xfrm>
          <a:prstGeom prst="rect">
            <a:avLst/>
          </a:prstGeom>
          <a:noFill/>
          <a:ln/>
        </p:spPr>
        <p:txBody>
          <a:bodyPr wrap="square" lIns="0" tIns="0" rIns="0" bIns="0" rtlCol="0" anchor="t"/>
          <a:lstStyle/>
          <a:p>
            <a:pPr marL="0" indent="0" algn="l">
              <a:lnSpc>
                <a:spcPts val="945"/>
              </a:lnSpc>
              <a:buNone/>
            </a:pPr>
            <a:r>
              <a:rPr lang="en-US" sz="675" dirty="0">
                <a:solidFill>
                  <a:srgbClr val="0F2A4A"/>
                </a:solidFill>
                <a:latin typeface="Carlito" pitchFamily="34" charset="0"/>
                <a:ea typeface="Carlito" pitchFamily="34" charset="-122"/>
                <a:cs typeface="Carlito" pitchFamily="34" charset="-120"/>
              </a:rPr>
              <a:t>Network-based</a:t>
            </a:r>
            <a:r>
              <a:rPr lang="en-US" sz="675" dirty="0">
                <a:solidFill>
                  <a:srgbClr val="1A2332"/>
                </a:solidFill>
                <a:latin typeface="Carlito" pitchFamily="34" charset="0"/>
                <a:ea typeface="Carlito" pitchFamily="34" charset="-122"/>
                <a:cs typeface="Carlito" pitchFamily="34" charset="-120"/>
              </a:rPr>
              <a:t> — packet inspection, flow analysis</a:t>
            </a:r>
            <a:endParaRPr lang="en-US" sz="675" dirty="0"/>
          </a:p>
        </p:txBody>
      </p:sp>
      <p:sp>
        <p:nvSpPr>
          <p:cNvPr id="27" name="Shape 24"/>
          <p:cNvSpPr/>
          <p:nvPr/>
        </p:nvSpPr>
        <p:spPr>
          <a:xfrm>
            <a:off x="5730627" y="2029495"/>
            <a:ext cx="2991780" cy="0"/>
          </a:xfrm>
          <a:prstGeom prst="line">
            <a:avLst/>
          </a:prstGeom>
          <a:noFill/>
          <a:ln w="7144">
            <a:solidFill>
              <a:srgbClr val="E5E9EE"/>
            </a:solidFill>
            <a:prstDash val="dash"/>
          </a:ln>
        </p:spPr>
      </p:sp>
      <p:sp>
        <p:nvSpPr>
          <p:cNvPr id="28" name="Text 25"/>
          <p:cNvSpPr/>
          <p:nvPr/>
        </p:nvSpPr>
        <p:spPr>
          <a:xfrm>
            <a:off x="5730627" y="1714535"/>
            <a:ext cx="557213" cy="239916"/>
          </a:xfrm>
          <a:prstGeom prst="roundRect">
            <a:avLst>
              <a:gd name="adj" fmla="val 15881"/>
            </a:avLst>
          </a:prstGeom>
          <a:solidFill>
            <a:srgbClr val="C9A961"/>
          </a:solidFill>
          <a:ln/>
        </p:spPr>
        <p:txBody>
          <a:bodyPr wrap="square" rtlCol="0" anchor="ctr"/>
          <a:lstStyle/>
          <a:p>
            <a:pPr marL="0" indent="0">
              <a:buNone/>
            </a:pPr>
            <a:endParaRPr lang="en-US" dirty="0"/>
          </a:p>
        </p:txBody>
      </p:sp>
      <p:sp>
        <p:nvSpPr>
          <p:cNvPr id="29" name="Text 26"/>
          <p:cNvSpPr/>
          <p:nvPr/>
        </p:nvSpPr>
        <p:spPr>
          <a:xfrm>
            <a:off x="5730627" y="1727336"/>
            <a:ext cx="644625" cy="227149"/>
          </a:xfrm>
          <a:prstGeom prst="rect">
            <a:avLst/>
          </a:prstGeom>
          <a:noFill/>
          <a:ln/>
        </p:spPr>
        <p:txBody>
          <a:bodyPr wrap="none" lIns="0" tIns="42863" rIns="0" bIns="42863" rtlCol="0" anchor="t"/>
          <a:lstStyle/>
          <a:p>
            <a:pPr marL="0" indent="0" algn="ctr">
              <a:lnSpc>
                <a:spcPts val="1013"/>
              </a:lnSpc>
              <a:buNone/>
            </a:pPr>
            <a:r>
              <a:rPr lang="en-US" sz="800" b="1" kern="0" spc="27" dirty="0">
                <a:solidFill>
                  <a:srgbClr val="0F2A4A"/>
                </a:solidFill>
                <a:latin typeface="Courier New" pitchFamily="34" charset="0"/>
                <a:ea typeface="Courier New" pitchFamily="34" charset="-122"/>
                <a:cs typeface="Courier New" pitchFamily="34" charset="-120"/>
              </a:rPr>
              <a:t>ML-IDS</a:t>
            </a:r>
            <a:endParaRPr lang="en-US" sz="800" dirty="0"/>
          </a:p>
        </p:txBody>
      </p:sp>
      <p:sp>
        <p:nvSpPr>
          <p:cNvPr id="30" name="Text 27"/>
          <p:cNvSpPr/>
          <p:nvPr/>
        </p:nvSpPr>
        <p:spPr>
          <a:xfrm>
            <a:off x="6373564" y="1714500"/>
            <a:ext cx="2348843" cy="239985"/>
          </a:xfrm>
          <a:prstGeom prst="rect">
            <a:avLst/>
          </a:prstGeom>
          <a:noFill/>
          <a:ln/>
        </p:spPr>
        <p:txBody>
          <a:bodyPr wrap="square" lIns="0" tIns="0" rIns="0" bIns="0" rtlCol="0" anchor="t"/>
          <a:lstStyle/>
          <a:p>
            <a:pPr marL="0" indent="0" algn="l">
              <a:lnSpc>
                <a:spcPts val="945"/>
              </a:lnSpc>
              <a:buNone/>
            </a:pPr>
            <a:r>
              <a:rPr lang="en-US" sz="800" dirty="0">
                <a:solidFill>
                  <a:srgbClr val="0F2A4A"/>
                </a:solidFill>
                <a:latin typeface="Carlito" pitchFamily="34" charset="0"/>
                <a:ea typeface="Carlito" pitchFamily="34" charset="-122"/>
                <a:cs typeface="Carlito" pitchFamily="34" charset="-120"/>
              </a:rPr>
              <a:t>Unsupervised ML</a:t>
            </a:r>
            <a:r>
              <a:rPr lang="en-US" sz="800" dirty="0">
                <a:solidFill>
                  <a:srgbClr val="1A2332"/>
                </a:solidFill>
                <a:latin typeface="Carlito" pitchFamily="34" charset="0"/>
                <a:ea typeface="Carlito" pitchFamily="34" charset="-122"/>
                <a:cs typeface="Carlito" pitchFamily="34" charset="-120"/>
              </a:rPr>
              <a:t> on telemetry streams (autoencoders, isolation forest)</a:t>
            </a:r>
            <a:endParaRPr lang="en-US" sz="800" dirty="0"/>
          </a:p>
        </p:txBody>
      </p:sp>
      <p:sp>
        <p:nvSpPr>
          <p:cNvPr id="31" name="Text 28"/>
          <p:cNvSpPr/>
          <p:nvPr/>
        </p:nvSpPr>
        <p:spPr>
          <a:xfrm>
            <a:off x="5730627" y="2104539"/>
            <a:ext cx="557213" cy="239916"/>
          </a:xfrm>
          <a:prstGeom prst="roundRect">
            <a:avLst>
              <a:gd name="adj" fmla="val 15881"/>
            </a:avLst>
          </a:prstGeom>
          <a:solidFill>
            <a:srgbClr val="C9A961"/>
          </a:solidFill>
          <a:ln/>
        </p:spPr>
        <p:txBody>
          <a:bodyPr wrap="square" rtlCol="0" anchor="ctr"/>
          <a:lstStyle/>
          <a:p>
            <a:pPr marL="0" indent="0">
              <a:buNone/>
            </a:pPr>
            <a:endParaRPr lang="en-US" dirty="0"/>
          </a:p>
        </p:txBody>
      </p:sp>
      <p:sp>
        <p:nvSpPr>
          <p:cNvPr id="32" name="Text 29"/>
          <p:cNvSpPr/>
          <p:nvPr/>
        </p:nvSpPr>
        <p:spPr>
          <a:xfrm>
            <a:off x="5730627" y="2117341"/>
            <a:ext cx="724376" cy="274320"/>
          </a:xfrm>
          <a:prstGeom prst="rect">
            <a:avLst/>
          </a:prstGeom>
          <a:noFill/>
          <a:ln/>
        </p:spPr>
        <p:txBody>
          <a:bodyPr wrap="none" lIns="0" tIns="42863" rIns="0" bIns="42863" rtlCol="0" anchor="t"/>
          <a:lstStyle/>
          <a:p>
            <a:pPr marL="0" indent="0" algn="ctr">
              <a:lnSpc>
                <a:spcPts val="1013"/>
              </a:lnSpc>
              <a:buNone/>
            </a:pPr>
            <a:r>
              <a:rPr lang="en-US" sz="800" b="1" kern="0" spc="27" dirty="0">
                <a:solidFill>
                  <a:srgbClr val="0F2A4A"/>
                </a:solidFill>
                <a:latin typeface="Courier New" pitchFamily="34" charset="0"/>
                <a:ea typeface="Courier New" pitchFamily="34" charset="-122"/>
                <a:cs typeface="Courier New" pitchFamily="34" charset="-120"/>
              </a:rPr>
              <a:t>EBPF</a:t>
            </a:r>
            <a:endParaRPr lang="en-US" sz="800" dirty="0"/>
          </a:p>
        </p:txBody>
      </p:sp>
      <p:sp>
        <p:nvSpPr>
          <p:cNvPr id="33" name="Text 30"/>
          <p:cNvSpPr/>
          <p:nvPr/>
        </p:nvSpPr>
        <p:spPr>
          <a:xfrm>
            <a:off x="6373564" y="2104504"/>
            <a:ext cx="2348843" cy="307181"/>
          </a:xfrm>
          <a:prstGeom prst="rect">
            <a:avLst/>
          </a:prstGeom>
          <a:noFill/>
          <a:ln/>
        </p:spPr>
        <p:txBody>
          <a:bodyPr wrap="square" lIns="0" tIns="0" rIns="0" bIns="0" rtlCol="0" anchor="t"/>
          <a:lstStyle/>
          <a:p>
            <a:pPr marL="0" indent="0" algn="l">
              <a:lnSpc>
                <a:spcPts val="945"/>
              </a:lnSpc>
              <a:buNone/>
            </a:pPr>
            <a:r>
              <a:rPr lang="en-US" sz="800" dirty="0">
                <a:solidFill>
                  <a:srgbClr val="0F2A4A"/>
                </a:solidFill>
                <a:latin typeface="Carlito" pitchFamily="34" charset="0"/>
                <a:ea typeface="Carlito" pitchFamily="34" charset="-122"/>
                <a:cs typeface="Carlito" pitchFamily="34" charset="-120"/>
              </a:rPr>
              <a:t>Linux kernel probes</a:t>
            </a:r>
            <a:r>
              <a:rPr lang="en-US" sz="800" dirty="0">
                <a:solidFill>
                  <a:srgbClr val="1A2332"/>
                </a:solidFill>
                <a:latin typeface="Carlito" pitchFamily="34" charset="0"/>
                <a:ea typeface="Carlito" pitchFamily="34" charset="-122"/>
                <a:cs typeface="Carlito" pitchFamily="34" charset="-120"/>
              </a:rPr>
              <a:t> — syscall-level tracing with zero overhead</a:t>
            </a:r>
            <a:endParaRPr lang="en-US" sz="800" dirty="0"/>
          </a:p>
        </p:txBody>
      </p:sp>
      <p:sp>
        <p:nvSpPr>
          <p:cNvPr id="34" name="Text 31"/>
          <p:cNvSpPr/>
          <p:nvPr/>
        </p:nvSpPr>
        <p:spPr>
          <a:xfrm>
            <a:off x="457200" y="4346972"/>
            <a:ext cx="8229600" cy="453628"/>
          </a:xfrm>
          <a:prstGeom prst="roundRect">
            <a:avLst>
              <a:gd name="adj" fmla="val 16798"/>
            </a:avLst>
          </a:prstGeom>
          <a:solidFill>
            <a:srgbClr val="FFFFFF"/>
          </a:solidFill>
          <a:ln/>
        </p:spPr>
        <p:txBody>
          <a:bodyPr wrap="square" rtlCol="0" anchor="ctr"/>
          <a:lstStyle/>
          <a:p>
            <a:pPr marL="0" indent="0">
              <a:buNone/>
            </a:pPr>
            <a:endParaRPr lang="en-US" dirty="0"/>
          </a:p>
        </p:txBody>
      </p:sp>
      <p:sp>
        <p:nvSpPr>
          <p:cNvPr id="35" name="Shape 32"/>
          <p:cNvSpPr/>
          <p:nvPr/>
        </p:nvSpPr>
        <p:spPr>
          <a:xfrm>
            <a:off x="457200" y="4350544"/>
            <a:ext cx="8229600" cy="0"/>
          </a:xfrm>
          <a:prstGeom prst="line">
            <a:avLst/>
          </a:prstGeom>
          <a:noFill/>
          <a:ln w="7144">
            <a:solidFill>
              <a:srgbClr val="D8DEE6"/>
            </a:solidFill>
            <a:prstDash val="solid"/>
          </a:ln>
        </p:spPr>
      </p:sp>
      <p:sp>
        <p:nvSpPr>
          <p:cNvPr id="36" name="Shape 33"/>
          <p:cNvSpPr/>
          <p:nvPr/>
        </p:nvSpPr>
        <p:spPr>
          <a:xfrm>
            <a:off x="8683228" y="4346972"/>
            <a:ext cx="0" cy="453628"/>
          </a:xfrm>
          <a:prstGeom prst="line">
            <a:avLst/>
          </a:prstGeom>
          <a:noFill/>
          <a:ln w="7144">
            <a:solidFill>
              <a:srgbClr val="D8DEE6"/>
            </a:solidFill>
            <a:prstDash val="solid"/>
          </a:ln>
        </p:spPr>
      </p:sp>
      <p:sp>
        <p:nvSpPr>
          <p:cNvPr id="37" name="Shape 34"/>
          <p:cNvSpPr/>
          <p:nvPr/>
        </p:nvSpPr>
        <p:spPr>
          <a:xfrm>
            <a:off x="457200" y="4797028"/>
            <a:ext cx="8229600" cy="0"/>
          </a:xfrm>
          <a:prstGeom prst="line">
            <a:avLst/>
          </a:prstGeom>
          <a:noFill/>
          <a:ln w="7144">
            <a:solidFill>
              <a:srgbClr val="D8DEE6"/>
            </a:solidFill>
            <a:prstDash val="solid"/>
          </a:ln>
        </p:spPr>
      </p:sp>
      <p:sp>
        <p:nvSpPr>
          <p:cNvPr id="38" name="Shape 35"/>
          <p:cNvSpPr/>
          <p:nvPr/>
        </p:nvSpPr>
        <p:spPr>
          <a:xfrm>
            <a:off x="467916" y="4346972"/>
            <a:ext cx="0" cy="453628"/>
          </a:xfrm>
          <a:prstGeom prst="line">
            <a:avLst/>
          </a:prstGeom>
          <a:noFill/>
          <a:ln w="21431">
            <a:solidFill>
              <a:srgbClr val="C9A961"/>
            </a:solidFill>
            <a:prstDash val="solid"/>
          </a:ln>
        </p:spPr>
      </p:sp>
      <p:sp>
        <p:nvSpPr>
          <p:cNvPr id="39" name="Text 36"/>
          <p:cNvSpPr/>
          <p:nvPr/>
        </p:nvSpPr>
        <p:spPr>
          <a:xfrm>
            <a:off x="607219" y="4495205"/>
            <a:ext cx="157163" cy="157163"/>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40" name="Text 37"/>
          <p:cNvSpPr/>
          <p:nvPr/>
        </p:nvSpPr>
        <p:spPr>
          <a:xfrm>
            <a:off x="878681" y="4439841"/>
            <a:ext cx="7672388" cy="267891"/>
          </a:xfrm>
          <a:prstGeom prst="rect">
            <a:avLst/>
          </a:prstGeom>
          <a:noFill/>
          <a:ln/>
        </p:spPr>
        <p:txBody>
          <a:bodyPr wrap="square" lIns="0" tIns="0" rIns="0" bIns="0" rtlCol="0" anchor="t"/>
          <a:lstStyle/>
          <a:p>
            <a:pPr marL="0" indent="0" algn="l">
              <a:lnSpc>
                <a:spcPts val="1055"/>
              </a:lnSpc>
              <a:buNone/>
            </a:pPr>
            <a:r>
              <a:rPr lang="en-US" sz="800" b="1" kern="0" spc="39" dirty="0">
                <a:solidFill>
                  <a:srgbClr val="0F2A4A"/>
                </a:solidFill>
                <a:latin typeface="Carlito" pitchFamily="34" charset="0"/>
                <a:ea typeface="Carlito" pitchFamily="34" charset="-122"/>
                <a:cs typeface="Carlito" pitchFamily="34" charset="-120"/>
              </a:rPr>
              <a:t>LIVE EXAMPLE —</a:t>
            </a:r>
            <a:r>
              <a:rPr lang="en-US" sz="800" dirty="0">
                <a:solidFill>
                  <a:srgbClr val="1A2332"/>
                </a:solidFill>
                <a:latin typeface="Carlito" pitchFamily="34" charset="0"/>
                <a:ea typeface="Carlito" pitchFamily="34" charset="-122"/>
                <a:cs typeface="Carlito" pitchFamily="34" charset="-120"/>
              </a:rPr>
              <a:t>Target 2013 breach: HVAC vendor credentials, stolen via a phishing email, were used to infiltrate Target's network. The installed FireEye IDS detected the malware and alerted — but the security team ignored the alerts because they were tuned to false positives. </a:t>
            </a:r>
            <a:r>
              <a:rPr lang="en-US" sz="800" b="1" dirty="0">
                <a:solidFill>
                  <a:srgbClr val="B91C1C"/>
                </a:solidFill>
                <a:latin typeface="Liberation Sans Narrow" pitchFamily="34" charset="0"/>
                <a:ea typeface="Liberation Sans Narrow" pitchFamily="34" charset="-122"/>
                <a:cs typeface="Liberation Sans Narrow" pitchFamily="34" charset="-120"/>
              </a:rPr>
              <a:t>40M credit cards</a:t>
            </a:r>
            <a:r>
              <a:rPr lang="en-US" sz="800" dirty="0">
                <a:solidFill>
                  <a:srgbClr val="1A2332"/>
                </a:solidFill>
                <a:latin typeface="Carlito" pitchFamily="34" charset="0"/>
                <a:ea typeface="Carlito" pitchFamily="34" charset="-122"/>
                <a:cs typeface="Carlito" pitchFamily="34" charset="-120"/>
              </a:rPr>
              <a:t> were stolen.</a:t>
            </a:r>
            <a:endParaRPr lang="en-US" sz="800" dirty="0"/>
          </a:p>
        </p:txBody>
      </p:sp>
      <p:sp>
        <p:nvSpPr>
          <p:cNvPr id="41" name="Text 38"/>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42" name="Text 39"/>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15 / 21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357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87536"/>
            <a:ext cx="2373399" cy="156520"/>
          </a:xfrm>
          <a:prstGeom prst="rect">
            <a:avLst/>
          </a:prstGeom>
          <a:noFill/>
          <a:ln/>
        </p:spPr>
        <p:txBody>
          <a:bodyPr wrap="non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07 · RUN-TIME MONITORING</a:t>
            </a:r>
            <a:endParaRPr lang="en-US" sz="800" dirty="0"/>
          </a:p>
        </p:txBody>
      </p:sp>
      <p:sp>
        <p:nvSpPr>
          <p:cNvPr id="5" name="Text 2"/>
          <p:cNvSpPr/>
          <p:nvPr/>
        </p:nvSpPr>
        <p:spPr>
          <a:xfrm>
            <a:off x="457200" y="471488"/>
            <a:ext cx="3213728" cy="198266"/>
          </a:xfrm>
          <a:prstGeom prst="rect">
            <a:avLst/>
          </a:prstGeom>
          <a:noFill/>
          <a:ln/>
        </p:spPr>
        <p:txBody>
          <a:bodyPr wrap="square" lIns="0" tIns="0" rIns="0" bIns="0" rtlCol="0" anchor="t">
            <a:normAutofit/>
          </a:bodyPr>
          <a:lstStyle/>
          <a:p>
            <a:pPr marL="0" indent="0" algn="l">
              <a:lnSpc>
                <a:spcPts val="1553"/>
              </a:lnSpc>
              <a:buNone/>
            </a:pPr>
            <a:r>
              <a:rPr lang="en-US" sz="1350" b="1" kern="0" spc="-20" dirty="0">
                <a:solidFill>
                  <a:srgbClr val="0F2A4A"/>
                </a:solidFill>
                <a:latin typeface="Tinos" pitchFamily="34" charset="0"/>
                <a:ea typeface="Tinos" pitchFamily="34" charset="-122"/>
                <a:cs typeface="Tinos" pitchFamily="34" charset="-120"/>
              </a:rPr>
              <a:t>Run-Time Monitoring Architecture</a:t>
            </a:r>
            <a:endParaRPr lang="en-US" sz="1350" dirty="0"/>
          </a:p>
        </p:txBody>
      </p:sp>
      <p:sp>
        <p:nvSpPr>
          <p:cNvPr id="6" name="Text 3"/>
          <p:cNvSpPr/>
          <p:nvPr/>
        </p:nvSpPr>
        <p:spPr>
          <a:xfrm>
            <a:off x="457200" y="697185"/>
            <a:ext cx="2921571" cy="164592"/>
          </a:xfrm>
          <a:prstGeom prst="rect">
            <a:avLst/>
          </a:prstGeom>
          <a:noFill/>
          <a:ln/>
        </p:spPr>
        <p:txBody>
          <a:bodyPr wrap="square" lIns="0" tIns="0" rIns="0" bIns="0" rtlCol="0" anchor="t"/>
          <a:lstStyle/>
          <a:p>
            <a:pPr marL="0" indent="0" algn="l">
              <a:lnSpc>
                <a:spcPts val="1097"/>
              </a:lnSpc>
              <a:buNone/>
            </a:pPr>
            <a:r>
              <a:rPr lang="en-US" sz="731" dirty="0">
                <a:solidFill>
                  <a:srgbClr val="6B7280"/>
                </a:solidFill>
                <a:latin typeface="Carlito" pitchFamily="34" charset="0"/>
                <a:ea typeface="Carlito" pitchFamily="34" charset="-122"/>
                <a:cs typeface="Carlito" pitchFamily="34" charset="-120"/>
              </a:rPr>
              <a:t>Sense → Collect → Analyze → Decide → Act — closed-loop response.</a:t>
            </a:r>
            <a:endParaRPr lang="en-US" sz="731" dirty="0"/>
          </a:p>
        </p:txBody>
      </p:sp>
      <p:sp>
        <p:nvSpPr>
          <p:cNvPr id="7" name="Text 4"/>
          <p:cNvSpPr/>
          <p:nvPr/>
        </p:nvSpPr>
        <p:spPr>
          <a:xfrm>
            <a:off x="8022766" y="718617"/>
            <a:ext cx="855286" cy="164592"/>
          </a:xfrm>
          <a:prstGeom prst="rect">
            <a:avLst/>
          </a:prstGeom>
          <a:noFill/>
          <a:ln/>
        </p:spPr>
        <p:txBody>
          <a:bodyPr wrap="none" lIns="0" tIns="0" rIns="0" bIns="0" rtlCol="0" anchor="t"/>
          <a:lstStyle/>
          <a:p>
            <a:pPr marL="0" indent="0" algn="l">
              <a:lnSpc>
                <a:spcPts val="928"/>
              </a:lnSpc>
              <a:buNone/>
            </a:pPr>
            <a:r>
              <a:rPr lang="en-US" sz="619" kern="0" spc="93" dirty="0">
                <a:solidFill>
                  <a:srgbClr val="6B7280"/>
                </a:solidFill>
                <a:latin typeface="Courier New" pitchFamily="34" charset="0"/>
                <a:ea typeface="Courier New" pitchFamily="34" charset="-122"/>
                <a:cs typeface="Courier New" pitchFamily="34" charset="-120"/>
              </a:rPr>
              <a:t>BLOCK DIAGRAM</a:t>
            </a:r>
            <a:endParaRPr lang="en-US" sz="619" dirty="0"/>
          </a:p>
        </p:txBody>
      </p:sp>
      <p:sp>
        <p:nvSpPr>
          <p:cNvPr id="8" name="Text 5"/>
          <p:cNvSpPr/>
          <p:nvPr/>
        </p:nvSpPr>
        <p:spPr>
          <a:xfrm>
            <a:off x="989409" y="997223"/>
            <a:ext cx="1278731" cy="1564481"/>
          </a:xfrm>
          <a:prstGeom prst="roundRect">
            <a:avLst>
              <a:gd name="adj" fmla="val 4469"/>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9" name="Text 6"/>
          <p:cNvSpPr/>
          <p:nvPr/>
        </p:nvSpPr>
        <p:spPr>
          <a:xfrm>
            <a:off x="1500712" y="1077733"/>
            <a:ext cx="256015" cy="164021"/>
          </a:xfrm>
          <a:prstGeom prst="roundRect">
            <a:avLst>
              <a:gd name="adj" fmla="val 5801376"/>
            </a:avLst>
          </a:prstGeom>
          <a:solidFill>
            <a:srgbClr val="C9A961"/>
          </a:solidFill>
          <a:ln/>
        </p:spPr>
        <p:txBody>
          <a:bodyPr wrap="square" rtlCol="0" anchor="ctr"/>
          <a:lstStyle/>
          <a:p>
            <a:pPr marL="0" indent="0">
              <a:buNone/>
            </a:pPr>
            <a:endParaRPr lang="en-US" dirty="0"/>
          </a:p>
        </p:txBody>
      </p:sp>
      <p:sp>
        <p:nvSpPr>
          <p:cNvPr id="10" name="Text 7"/>
          <p:cNvSpPr/>
          <p:nvPr/>
        </p:nvSpPr>
        <p:spPr>
          <a:xfrm>
            <a:off x="1511684" y="1086520"/>
            <a:ext cx="234069" cy="146447"/>
          </a:xfrm>
          <a:prstGeom prst="rect">
            <a:avLst/>
          </a:prstGeom>
          <a:noFill/>
          <a:ln/>
        </p:spPr>
        <p:txBody>
          <a:bodyPr wrap="none" lIns="0" tIns="0" rIns="0" bIns="0" rtlCol="0" anchor="ctr"/>
          <a:lstStyle/>
          <a:p>
            <a:pPr marL="0" indent="0" algn="ctr">
              <a:lnSpc>
                <a:spcPts val="928"/>
              </a:lnSpc>
              <a:buNone/>
            </a:pPr>
            <a:r>
              <a:rPr lang="en-US" sz="800" b="1" kern="0" spc="50" dirty="0">
                <a:solidFill>
                  <a:srgbClr val="0F2A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1" name="Text 8"/>
          <p:cNvSpPr/>
          <p:nvPr/>
        </p:nvSpPr>
        <p:spPr>
          <a:xfrm>
            <a:off x="1493044" y="1318692"/>
            <a:ext cx="271463" cy="271463"/>
          </a:xfrm>
          <a:prstGeom prst="rect">
            <a:avLst/>
          </a:prstGeom>
          <a:noFill/>
          <a:ln/>
        </p:spPr>
        <p:txBody>
          <a:bodyPr wrap="none" lIns="0" tIns="0" rIns="0" bIns="0" rtlCol="0" anchor="ctr"/>
          <a:lstStyle/>
          <a:p>
            <a:pPr marL="0" indent="0" algn="ctr">
              <a:buNone/>
            </a:pPr>
            <a:r>
              <a:rPr lang="en-US" sz="2672" dirty="0">
                <a:solidFill>
                  <a:srgbClr val="C9A961"/>
                </a:solidFill>
                <a:latin typeface="Segoe UI Symbol" pitchFamily="34" charset="0"/>
                <a:ea typeface="Segoe UI Symbol" pitchFamily="34" charset="-122"/>
                <a:cs typeface="Segoe UI Symbol" pitchFamily="34" charset="-120"/>
              </a:rPr>
              <a:t>#</a:t>
            </a:r>
            <a:endParaRPr lang="en-US" sz="2672" dirty="0"/>
          </a:p>
        </p:txBody>
      </p:sp>
      <p:sp>
        <p:nvSpPr>
          <p:cNvPr id="12" name="Text 9"/>
          <p:cNvSpPr/>
          <p:nvPr/>
        </p:nvSpPr>
        <p:spPr>
          <a:xfrm>
            <a:off x="1347133" y="1661592"/>
            <a:ext cx="563285" cy="164592"/>
          </a:xfrm>
          <a:prstGeom prst="rect">
            <a:avLst/>
          </a:prstGeom>
          <a:noFill/>
          <a:ln/>
        </p:spPr>
        <p:txBody>
          <a:bodyPr wrap="none" lIns="0" tIns="0" rIns="0" bIns="0" rtlCol="0" anchor="t"/>
          <a:lstStyle/>
          <a:p>
            <a:pPr marL="0" indent="0" algn="ctr">
              <a:lnSpc>
                <a:spcPts val="1097"/>
              </a:lnSpc>
              <a:buNone/>
            </a:pPr>
            <a:r>
              <a:rPr lang="en-US" sz="800" b="1" kern="0" spc="59" dirty="0">
                <a:solidFill>
                  <a:srgbClr val="FFFFFF"/>
                </a:solidFill>
                <a:latin typeface="Carlito" pitchFamily="34" charset="0"/>
                <a:ea typeface="Carlito" pitchFamily="34" charset="-122"/>
                <a:cs typeface="Carlito" pitchFamily="34" charset="-120"/>
              </a:rPr>
              <a:t>SENSE</a:t>
            </a:r>
            <a:endParaRPr lang="en-US" sz="800" dirty="0"/>
          </a:p>
        </p:txBody>
      </p:sp>
      <p:sp>
        <p:nvSpPr>
          <p:cNvPr id="13" name="Text 10"/>
          <p:cNvSpPr/>
          <p:nvPr/>
        </p:nvSpPr>
        <p:spPr>
          <a:xfrm>
            <a:off x="1078706" y="1858045"/>
            <a:ext cx="1100138" cy="373547"/>
          </a:xfrm>
          <a:prstGeom prst="rect">
            <a:avLst/>
          </a:prstGeom>
          <a:noFill/>
          <a:ln/>
        </p:spPr>
        <p:txBody>
          <a:bodyPr wrap="square" lIns="0" tIns="0" rIns="0" bIns="0" rtlCol="0" anchor="t"/>
          <a:lstStyle/>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FFFFFF"/>
                </a:solidFill>
                <a:latin typeface="Carlito" pitchFamily="34" charset="0"/>
                <a:ea typeface="Carlito" pitchFamily="34" charset="-122"/>
                <a:cs typeface="Carlito" pitchFamily="34" charset="-120"/>
              </a:rPr>
              <a:t>Syscall audit</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FFFFFF"/>
                </a:solidFill>
                <a:latin typeface="Carlito" pitchFamily="34" charset="0"/>
                <a:ea typeface="Carlito" pitchFamily="34" charset="-122"/>
                <a:cs typeface="Carlito" pitchFamily="34" charset="-120"/>
              </a:rPr>
              <a:t>Flow capture</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FFFFFF"/>
                </a:solidFill>
                <a:latin typeface="Carlito" pitchFamily="34" charset="0"/>
                <a:ea typeface="Carlito" pitchFamily="34" charset="-122"/>
                <a:cs typeface="Carlito" pitchFamily="34" charset="-120"/>
              </a:rPr>
              <a:t>File integrity</a:t>
            </a:r>
            <a:endParaRPr lang="en-US" sz="800" dirty="0"/>
          </a:p>
        </p:txBody>
      </p:sp>
      <p:sp>
        <p:nvSpPr>
          <p:cNvPr id="14" name="Text 11"/>
          <p:cNvSpPr/>
          <p:nvPr/>
        </p:nvSpPr>
        <p:spPr>
          <a:xfrm>
            <a:off x="2271713" y="1774106"/>
            <a:ext cx="185738" cy="10716"/>
          </a:xfrm>
          <a:prstGeom prst="rect">
            <a:avLst/>
          </a:prstGeom>
          <a:solidFill>
            <a:srgbClr val="0F2A4A"/>
          </a:solidFill>
          <a:ln/>
        </p:spPr>
        <p:txBody>
          <a:bodyPr wrap="square" rtlCol="0" anchor="ctr"/>
          <a:lstStyle/>
          <a:p>
            <a:pPr marL="0" indent="0">
              <a:buNone/>
            </a:pPr>
            <a:endParaRPr lang="en-US" dirty="0"/>
          </a:p>
        </p:txBody>
      </p:sp>
      <p:sp>
        <p:nvSpPr>
          <p:cNvPr id="15" name="Text 12"/>
          <p:cNvSpPr/>
          <p:nvPr/>
        </p:nvSpPr>
        <p:spPr>
          <a:xfrm>
            <a:off x="2461022" y="997223"/>
            <a:ext cx="1278731" cy="1564481"/>
          </a:xfrm>
          <a:prstGeom prst="roundRect">
            <a:avLst>
              <a:gd name="adj" fmla="val 44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6" name="Text 13"/>
          <p:cNvSpPr/>
          <p:nvPr/>
        </p:nvSpPr>
        <p:spPr>
          <a:xfrm>
            <a:off x="2972324" y="1077733"/>
            <a:ext cx="256015" cy="164021"/>
          </a:xfrm>
          <a:prstGeom prst="roundRect">
            <a:avLst>
              <a:gd name="adj" fmla="val 5801376"/>
            </a:avLst>
          </a:prstGeom>
          <a:solidFill>
            <a:srgbClr val="E5D5A3"/>
          </a:solidFill>
          <a:ln/>
        </p:spPr>
        <p:txBody>
          <a:bodyPr wrap="square" rtlCol="0" anchor="ctr"/>
          <a:lstStyle/>
          <a:p>
            <a:pPr marL="0" indent="0">
              <a:buNone/>
            </a:pPr>
            <a:endParaRPr lang="en-US" dirty="0"/>
          </a:p>
        </p:txBody>
      </p:sp>
      <p:sp>
        <p:nvSpPr>
          <p:cNvPr id="17" name="Text 14"/>
          <p:cNvSpPr/>
          <p:nvPr/>
        </p:nvSpPr>
        <p:spPr>
          <a:xfrm>
            <a:off x="2983297" y="1086520"/>
            <a:ext cx="234069" cy="146447"/>
          </a:xfrm>
          <a:prstGeom prst="rect">
            <a:avLst/>
          </a:prstGeom>
          <a:noFill/>
          <a:ln/>
        </p:spPr>
        <p:txBody>
          <a:bodyPr wrap="none" lIns="0" tIns="0" rIns="0" bIns="0" rtlCol="0" anchor="ctr"/>
          <a:lstStyle/>
          <a:p>
            <a:pPr marL="0" indent="0" algn="ctr">
              <a:lnSpc>
                <a:spcPts val="928"/>
              </a:lnSpc>
              <a:buNone/>
            </a:pPr>
            <a:r>
              <a:rPr lang="en-US" sz="800" b="1" kern="0" spc="50" dirty="0">
                <a:solidFill>
                  <a:srgbClr val="0F2A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8" name="Text 15"/>
          <p:cNvSpPr/>
          <p:nvPr/>
        </p:nvSpPr>
        <p:spPr>
          <a:xfrm>
            <a:off x="2964656" y="1318692"/>
            <a:ext cx="271463" cy="271463"/>
          </a:xfrm>
          <a:prstGeom prst="rect">
            <a:avLst/>
          </a:prstGeom>
          <a:noFill/>
          <a:ln/>
        </p:spPr>
        <p:txBody>
          <a:bodyPr wrap="none" lIns="0" tIns="0" rIns="0" bIns="0" rtlCol="0" anchor="ctr"/>
          <a:lstStyle/>
          <a:p>
            <a:pPr marL="0" indent="0" algn="ctr">
              <a:buNone/>
            </a:pPr>
            <a:r>
              <a:rPr lang="en-US" sz="2672" dirty="0">
                <a:solidFill>
                  <a:srgbClr val="C9A961"/>
                </a:solidFill>
                <a:latin typeface="Segoe UI Symbol" pitchFamily="34" charset="0"/>
                <a:ea typeface="Segoe UI Symbol" pitchFamily="34" charset="-122"/>
                <a:cs typeface="Segoe UI Symbol" pitchFamily="34" charset="-120"/>
              </a:rPr>
              <a:t>↑</a:t>
            </a:r>
            <a:endParaRPr lang="en-US" sz="2672" dirty="0"/>
          </a:p>
        </p:txBody>
      </p:sp>
      <p:sp>
        <p:nvSpPr>
          <p:cNvPr id="19" name="Text 16"/>
          <p:cNvSpPr/>
          <p:nvPr/>
        </p:nvSpPr>
        <p:spPr>
          <a:xfrm>
            <a:off x="2768427" y="1661592"/>
            <a:ext cx="663809" cy="164592"/>
          </a:xfrm>
          <a:prstGeom prst="rect">
            <a:avLst/>
          </a:prstGeom>
          <a:noFill/>
          <a:ln/>
        </p:spPr>
        <p:txBody>
          <a:bodyPr wrap="none" lIns="0" tIns="0" rIns="0" bIns="0" rtlCol="0" anchor="t"/>
          <a:lstStyle/>
          <a:p>
            <a:pPr marL="0" indent="0" algn="ctr">
              <a:lnSpc>
                <a:spcPts val="1097"/>
              </a:lnSpc>
              <a:buNone/>
            </a:pPr>
            <a:r>
              <a:rPr lang="en-US" sz="800" b="1" kern="0" spc="59" dirty="0">
                <a:solidFill>
                  <a:srgbClr val="0F2A4A"/>
                </a:solidFill>
                <a:latin typeface="Carlito" pitchFamily="34" charset="0"/>
                <a:ea typeface="Carlito" pitchFamily="34" charset="-122"/>
                <a:cs typeface="Carlito" pitchFamily="34" charset="-120"/>
              </a:rPr>
              <a:t>COLLECT</a:t>
            </a:r>
            <a:endParaRPr lang="en-US" sz="800" dirty="0"/>
          </a:p>
        </p:txBody>
      </p:sp>
      <p:sp>
        <p:nvSpPr>
          <p:cNvPr id="20" name="Text 17"/>
          <p:cNvSpPr/>
          <p:nvPr/>
        </p:nvSpPr>
        <p:spPr>
          <a:xfrm>
            <a:off x="2550319" y="1858045"/>
            <a:ext cx="1100138" cy="373547"/>
          </a:xfrm>
          <a:prstGeom prst="rect">
            <a:avLst/>
          </a:prstGeom>
          <a:noFill/>
          <a:ln/>
        </p:spPr>
        <p:txBody>
          <a:bodyPr wrap="square" lIns="0" tIns="0" rIns="0" bIns="0" rtlCol="0" anchor="t"/>
          <a:lstStyle/>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Edge agent</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Pub-Sub bus</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Time-series DB</a:t>
            </a:r>
            <a:endParaRPr lang="en-US" sz="800" dirty="0"/>
          </a:p>
        </p:txBody>
      </p:sp>
      <p:sp>
        <p:nvSpPr>
          <p:cNvPr id="21" name="Text 18"/>
          <p:cNvSpPr/>
          <p:nvPr/>
        </p:nvSpPr>
        <p:spPr>
          <a:xfrm>
            <a:off x="3743325" y="1774106"/>
            <a:ext cx="185738" cy="10716"/>
          </a:xfrm>
          <a:prstGeom prst="rect">
            <a:avLst/>
          </a:prstGeom>
          <a:solidFill>
            <a:srgbClr val="0F2A4A"/>
          </a:solidFill>
          <a:ln/>
        </p:spPr>
        <p:txBody>
          <a:bodyPr wrap="square" rtlCol="0" anchor="ctr"/>
          <a:lstStyle/>
          <a:p>
            <a:pPr marL="0" indent="0">
              <a:buNone/>
            </a:pPr>
            <a:endParaRPr lang="en-US" dirty="0"/>
          </a:p>
        </p:txBody>
      </p:sp>
      <p:sp>
        <p:nvSpPr>
          <p:cNvPr id="22" name="Text 19"/>
          <p:cNvSpPr/>
          <p:nvPr/>
        </p:nvSpPr>
        <p:spPr>
          <a:xfrm>
            <a:off x="3932634" y="997223"/>
            <a:ext cx="1278731" cy="1564481"/>
          </a:xfrm>
          <a:prstGeom prst="roundRect">
            <a:avLst>
              <a:gd name="adj" fmla="val 44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3" name="Text 20"/>
          <p:cNvSpPr/>
          <p:nvPr/>
        </p:nvSpPr>
        <p:spPr>
          <a:xfrm>
            <a:off x="4443937" y="1077733"/>
            <a:ext cx="256015" cy="164021"/>
          </a:xfrm>
          <a:prstGeom prst="roundRect">
            <a:avLst>
              <a:gd name="adj" fmla="val 5801376"/>
            </a:avLst>
          </a:prstGeom>
          <a:solidFill>
            <a:srgbClr val="E5D5A3"/>
          </a:solidFill>
          <a:ln/>
        </p:spPr>
        <p:txBody>
          <a:bodyPr wrap="square" rtlCol="0" anchor="ctr"/>
          <a:lstStyle/>
          <a:p>
            <a:pPr marL="0" indent="0">
              <a:buNone/>
            </a:pPr>
            <a:endParaRPr lang="en-US" dirty="0"/>
          </a:p>
        </p:txBody>
      </p:sp>
      <p:sp>
        <p:nvSpPr>
          <p:cNvPr id="24" name="Text 21"/>
          <p:cNvSpPr/>
          <p:nvPr/>
        </p:nvSpPr>
        <p:spPr>
          <a:xfrm>
            <a:off x="4454909" y="1086520"/>
            <a:ext cx="234069" cy="146447"/>
          </a:xfrm>
          <a:prstGeom prst="rect">
            <a:avLst/>
          </a:prstGeom>
          <a:noFill/>
          <a:ln/>
        </p:spPr>
        <p:txBody>
          <a:bodyPr wrap="none" lIns="0" tIns="0" rIns="0" bIns="0" rtlCol="0" anchor="ctr"/>
          <a:lstStyle/>
          <a:p>
            <a:pPr marL="0" indent="0" algn="ctr">
              <a:lnSpc>
                <a:spcPts val="928"/>
              </a:lnSpc>
              <a:buNone/>
            </a:pPr>
            <a:r>
              <a:rPr lang="en-US" sz="800" b="1" kern="0" spc="50" dirty="0">
                <a:solidFill>
                  <a:srgbClr val="0F2A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5" name="Text 22"/>
          <p:cNvSpPr/>
          <p:nvPr/>
        </p:nvSpPr>
        <p:spPr>
          <a:xfrm>
            <a:off x="4436269" y="1318692"/>
            <a:ext cx="271463" cy="271463"/>
          </a:xfrm>
          <a:prstGeom prst="rect">
            <a:avLst/>
          </a:prstGeom>
          <a:noFill/>
          <a:ln/>
        </p:spPr>
        <p:txBody>
          <a:bodyPr wrap="none" lIns="0" tIns="0" rIns="0" bIns="0" rtlCol="0" anchor="ctr"/>
          <a:lstStyle/>
          <a:p>
            <a:pPr marL="0" indent="0" algn="ctr">
              <a:buNone/>
            </a:pPr>
            <a:r>
              <a:rPr lang="en-US" sz="2672" dirty="0">
                <a:solidFill>
                  <a:srgbClr val="C9A961"/>
                </a:solidFill>
                <a:latin typeface="Segoe UI Symbol" pitchFamily="34" charset="0"/>
                <a:ea typeface="Segoe UI Symbol" pitchFamily="34" charset="-122"/>
                <a:cs typeface="Segoe UI Symbol" pitchFamily="34" charset="-120"/>
              </a:rPr>
              <a:t>▦</a:t>
            </a:r>
            <a:endParaRPr lang="en-US" sz="2672" dirty="0"/>
          </a:p>
        </p:txBody>
      </p:sp>
      <p:sp>
        <p:nvSpPr>
          <p:cNvPr id="26" name="Text 23"/>
          <p:cNvSpPr/>
          <p:nvPr/>
        </p:nvSpPr>
        <p:spPr>
          <a:xfrm>
            <a:off x="4245779" y="1661592"/>
            <a:ext cx="652330" cy="164592"/>
          </a:xfrm>
          <a:prstGeom prst="rect">
            <a:avLst/>
          </a:prstGeom>
          <a:noFill/>
          <a:ln/>
        </p:spPr>
        <p:txBody>
          <a:bodyPr wrap="none" lIns="0" tIns="0" rIns="0" bIns="0" rtlCol="0" anchor="t"/>
          <a:lstStyle/>
          <a:p>
            <a:pPr marL="0" indent="0" algn="ctr">
              <a:lnSpc>
                <a:spcPts val="1097"/>
              </a:lnSpc>
              <a:buNone/>
            </a:pPr>
            <a:r>
              <a:rPr lang="en-US" sz="800" b="1" kern="0" spc="59" dirty="0">
                <a:solidFill>
                  <a:srgbClr val="0F2A4A"/>
                </a:solidFill>
                <a:latin typeface="Carlito" pitchFamily="34" charset="0"/>
                <a:ea typeface="Carlito" pitchFamily="34" charset="-122"/>
                <a:cs typeface="Carlito" pitchFamily="34" charset="-120"/>
              </a:rPr>
              <a:t>ANALYZE</a:t>
            </a:r>
            <a:endParaRPr lang="en-US" sz="800" dirty="0"/>
          </a:p>
        </p:txBody>
      </p:sp>
      <p:sp>
        <p:nvSpPr>
          <p:cNvPr id="27" name="Text 24"/>
          <p:cNvSpPr/>
          <p:nvPr/>
        </p:nvSpPr>
        <p:spPr>
          <a:xfrm>
            <a:off x="4021931" y="1858045"/>
            <a:ext cx="1100138" cy="373547"/>
          </a:xfrm>
          <a:prstGeom prst="rect">
            <a:avLst/>
          </a:prstGeom>
          <a:noFill/>
          <a:ln/>
        </p:spPr>
        <p:txBody>
          <a:bodyPr wrap="square" lIns="0" tIns="0" rIns="0" bIns="0" rtlCol="0" anchor="t"/>
          <a:lstStyle/>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Rule engine</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ML scoring</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Threat intel feed</a:t>
            </a:r>
            <a:endParaRPr lang="en-US" sz="800" dirty="0"/>
          </a:p>
        </p:txBody>
      </p:sp>
      <p:sp>
        <p:nvSpPr>
          <p:cNvPr id="28" name="Text 25"/>
          <p:cNvSpPr/>
          <p:nvPr/>
        </p:nvSpPr>
        <p:spPr>
          <a:xfrm>
            <a:off x="5214938" y="1774106"/>
            <a:ext cx="185738" cy="10716"/>
          </a:xfrm>
          <a:prstGeom prst="rect">
            <a:avLst/>
          </a:prstGeom>
          <a:solidFill>
            <a:srgbClr val="0F2A4A"/>
          </a:solidFill>
          <a:ln/>
        </p:spPr>
        <p:txBody>
          <a:bodyPr wrap="square" rtlCol="0" anchor="ctr"/>
          <a:lstStyle/>
          <a:p>
            <a:pPr marL="0" indent="0">
              <a:buNone/>
            </a:pPr>
            <a:endParaRPr lang="en-US" dirty="0"/>
          </a:p>
        </p:txBody>
      </p:sp>
      <p:sp>
        <p:nvSpPr>
          <p:cNvPr id="29" name="Text 26"/>
          <p:cNvSpPr/>
          <p:nvPr/>
        </p:nvSpPr>
        <p:spPr>
          <a:xfrm>
            <a:off x="5404247" y="997223"/>
            <a:ext cx="1278731" cy="1564481"/>
          </a:xfrm>
          <a:prstGeom prst="roundRect">
            <a:avLst>
              <a:gd name="adj" fmla="val 446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30" name="Text 27"/>
          <p:cNvSpPr/>
          <p:nvPr/>
        </p:nvSpPr>
        <p:spPr>
          <a:xfrm>
            <a:off x="5915549" y="1077733"/>
            <a:ext cx="256015" cy="164021"/>
          </a:xfrm>
          <a:prstGeom prst="roundRect">
            <a:avLst>
              <a:gd name="adj" fmla="val 5801376"/>
            </a:avLst>
          </a:prstGeom>
          <a:solidFill>
            <a:srgbClr val="E5D5A3"/>
          </a:solidFill>
          <a:ln/>
        </p:spPr>
        <p:txBody>
          <a:bodyPr wrap="square" rtlCol="0" anchor="ctr"/>
          <a:lstStyle/>
          <a:p>
            <a:pPr marL="0" indent="0">
              <a:buNone/>
            </a:pPr>
            <a:endParaRPr lang="en-US" dirty="0"/>
          </a:p>
        </p:txBody>
      </p:sp>
      <p:sp>
        <p:nvSpPr>
          <p:cNvPr id="31" name="Text 28"/>
          <p:cNvSpPr/>
          <p:nvPr/>
        </p:nvSpPr>
        <p:spPr>
          <a:xfrm>
            <a:off x="5926522" y="1086520"/>
            <a:ext cx="234069" cy="146447"/>
          </a:xfrm>
          <a:prstGeom prst="rect">
            <a:avLst/>
          </a:prstGeom>
          <a:noFill/>
          <a:ln/>
        </p:spPr>
        <p:txBody>
          <a:bodyPr wrap="none" lIns="0" tIns="0" rIns="0" bIns="0" rtlCol="0" anchor="ctr"/>
          <a:lstStyle/>
          <a:p>
            <a:pPr marL="0" indent="0" algn="ctr">
              <a:lnSpc>
                <a:spcPts val="928"/>
              </a:lnSpc>
              <a:buNone/>
            </a:pPr>
            <a:r>
              <a:rPr lang="en-US" sz="800" b="1" kern="0" spc="50" dirty="0">
                <a:solidFill>
                  <a:srgbClr val="0F2A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32" name="Text 29"/>
          <p:cNvSpPr/>
          <p:nvPr/>
        </p:nvSpPr>
        <p:spPr>
          <a:xfrm>
            <a:off x="5907881" y="1318692"/>
            <a:ext cx="271463" cy="271463"/>
          </a:xfrm>
          <a:prstGeom prst="rect">
            <a:avLst/>
          </a:prstGeom>
          <a:noFill/>
          <a:ln/>
        </p:spPr>
        <p:txBody>
          <a:bodyPr wrap="none" lIns="0" tIns="0" rIns="0" bIns="0" rtlCol="0" anchor="ctr"/>
          <a:lstStyle/>
          <a:p>
            <a:pPr marL="0" indent="0" algn="ctr">
              <a:buNone/>
            </a:pPr>
            <a:r>
              <a:rPr lang="en-US" sz="2672" dirty="0">
                <a:solidFill>
                  <a:srgbClr val="C9A961"/>
                </a:solidFill>
                <a:latin typeface="Segoe UI Symbol" pitchFamily="34" charset="0"/>
                <a:ea typeface="Segoe UI Symbol" pitchFamily="34" charset="-122"/>
                <a:cs typeface="Segoe UI Symbol" pitchFamily="34" charset="-120"/>
              </a:rPr>
              <a:t>▤</a:t>
            </a:r>
            <a:endParaRPr lang="en-US" sz="2672" dirty="0"/>
          </a:p>
        </p:txBody>
      </p:sp>
      <p:sp>
        <p:nvSpPr>
          <p:cNvPr id="33" name="Text 30"/>
          <p:cNvSpPr/>
          <p:nvPr/>
        </p:nvSpPr>
        <p:spPr>
          <a:xfrm>
            <a:off x="5775994" y="1661592"/>
            <a:ext cx="535125" cy="164592"/>
          </a:xfrm>
          <a:prstGeom prst="rect">
            <a:avLst/>
          </a:prstGeom>
          <a:noFill/>
          <a:ln/>
        </p:spPr>
        <p:txBody>
          <a:bodyPr wrap="none" lIns="0" tIns="0" rIns="0" bIns="0" rtlCol="0" anchor="t"/>
          <a:lstStyle/>
          <a:p>
            <a:pPr marL="0" indent="0" algn="ctr">
              <a:lnSpc>
                <a:spcPts val="1097"/>
              </a:lnSpc>
              <a:buNone/>
            </a:pPr>
            <a:r>
              <a:rPr lang="en-US" sz="800" b="1" kern="0" spc="59" dirty="0">
                <a:solidFill>
                  <a:srgbClr val="0F2A4A"/>
                </a:solidFill>
                <a:latin typeface="Carlito" pitchFamily="34" charset="0"/>
                <a:ea typeface="Carlito" pitchFamily="34" charset="-122"/>
                <a:cs typeface="Carlito" pitchFamily="34" charset="-120"/>
              </a:rPr>
              <a:t>DECIDE</a:t>
            </a:r>
            <a:endParaRPr lang="en-US" sz="800" dirty="0"/>
          </a:p>
        </p:txBody>
      </p:sp>
      <p:sp>
        <p:nvSpPr>
          <p:cNvPr id="34" name="Text 31"/>
          <p:cNvSpPr/>
          <p:nvPr/>
        </p:nvSpPr>
        <p:spPr>
          <a:xfrm>
            <a:off x="5493544" y="1858045"/>
            <a:ext cx="1100138" cy="373547"/>
          </a:xfrm>
          <a:prstGeom prst="rect">
            <a:avLst/>
          </a:prstGeom>
          <a:noFill/>
          <a:ln/>
        </p:spPr>
        <p:txBody>
          <a:bodyPr wrap="square" lIns="0" tIns="0" rIns="0" bIns="0" rtlCol="0" anchor="t"/>
          <a:lstStyle/>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Risk scoring</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Alert routing</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4A5568"/>
                </a:solidFill>
                <a:latin typeface="Carlito" pitchFamily="34" charset="0"/>
                <a:ea typeface="Carlito" pitchFamily="34" charset="-122"/>
                <a:cs typeface="Carlito" pitchFamily="34" charset="-120"/>
              </a:rPr>
              <a:t>Playbook match</a:t>
            </a:r>
            <a:endParaRPr lang="en-US" sz="800" dirty="0"/>
          </a:p>
        </p:txBody>
      </p:sp>
      <p:sp>
        <p:nvSpPr>
          <p:cNvPr id="35" name="Text 32"/>
          <p:cNvSpPr/>
          <p:nvPr/>
        </p:nvSpPr>
        <p:spPr>
          <a:xfrm>
            <a:off x="6686550" y="1774106"/>
            <a:ext cx="185738" cy="10716"/>
          </a:xfrm>
          <a:prstGeom prst="rect">
            <a:avLst/>
          </a:prstGeom>
          <a:solidFill>
            <a:srgbClr val="0F2A4A"/>
          </a:solidFill>
          <a:ln/>
        </p:spPr>
        <p:txBody>
          <a:bodyPr wrap="square" rtlCol="0" anchor="ctr"/>
          <a:lstStyle/>
          <a:p>
            <a:pPr marL="0" indent="0">
              <a:buNone/>
            </a:pPr>
            <a:endParaRPr lang="en-US" dirty="0"/>
          </a:p>
        </p:txBody>
      </p:sp>
      <p:sp>
        <p:nvSpPr>
          <p:cNvPr id="36" name="Text 33"/>
          <p:cNvSpPr/>
          <p:nvPr/>
        </p:nvSpPr>
        <p:spPr>
          <a:xfrm>
            <a:off x="6875859" y="997223"/>
            <a:ext cx="1278731" cy="1564481"/>
          </a:xfrm>
          <a:prstGeom prst="roundRect">
            <a:avLst>
              <a:gd name="adj" fmla="val 4469"/>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37" name="Text 34"/>
          <p:cNvSpPr/>
          <p:nvPr/>
        </p:nvSpPr>
        <p:spPr>
          <a:xfrm>
            <a:off x="7387162" y="1077733"/>
            <a:ext cx="256015" cy="164021"/>
          </a:xfrm>
          <a:prstGeom prst="roundRect">
            <a:avLst>
              <a:gd name="adj" fmla="val 5801376"/>
            </a:avLst>
          </a:prstGeom>
          <a:solidFill>
            <a:srgbClr val="C9A961"/>
          </a:solidFill>
          <a:ln/>
        </p:spPr>
        <p:txBody>
          <a:bodyPr wrap="square" rtlCol="0" anchor="ctr"/>
          <a:lstStyle/>
          <a:p>
            <a:pPr marL="0" indent="0">
              <a:buNone/>
            </a:pPr>
            <a:endParaRPr lang="en-US" dirty="0"/>
          </a:p>
        </p:txBody>
      </p:sp>
      <p:sp>
        <p:nvSpPr>
          <p:cNvPr id="38" name="Text 35"/>
          <p:cNvSpPr/>
          <p:nvPr/>
        </p:nvSpPr>
        <p:spPr>
          <a:xfrm>
            <a:off x="7398134" y="1086520"/>
            <a:ext cx="234069" cy="146447"/>
          </a:xfrm>
          <a:prstGeom prst="rect">
            <a:avLst/>
          </a:prstGeom>
          <a:noFill/>
          <a:ln/>
        </p:spPr>
        <p:txBody>
          <a:bodyPr wrap="none" lIns="0" tIns="0" rIns="0" bIns="0" rtlCol="0" anchor="ctr"/>
          <a:lstStyle/>
          <a:p>
            <a:pPr marL="0" indent="0" algn="ctr">
              <a:lnSpc>
                <a:spcPts val="928"/>
              </a:lnSpc>
              <a:buNone/>
            </a:pPr>
            <a:r>
              <a:rPr lang="en-US" sz="800" b="1" kern="0" spc="50" dirty="0">
                <a:solidFill>
                  <a:srgbClr val="0F2A4A"/>
                </a:solidFill>
                <a:latin typeface="Liberation Sans Narrow" pitchFamily="34" charset="0"/>
                <a:ea typeface="Liberation Sans Narrow" pitchFamily="34" charset="-122"/>
                <a:cs typeface="Liberation Sans Narrow" pitchFamily="34" charset="-120"/>
              </a:rPr>
              <a:t>05</a:t>
            </a:r>
            <a:endParaRPr lang="en-US" sz="800" dirty="0"/>
          </a:p>
        </p:txBody>
      </p:sp>
      <p:sp>
        <p:nvSpPr>
          <p:cNvPr id="39" name="Text 36"/>
          <p:cNvSpPr/>
          <p:nvPr/>
        </p:nvSpPr>
        <p:spPr>
          <a:xfrm>
            <a:off x="7379494" y="1318692"/>
            <a:ext cx="271463" cy="271463"/>
          </a:xfrm>
          <a:prstGeom prst="rect">
            <a:avLst/>
          </a:prstGeom>
          <a:noFill/>
          <a:ln/>
        </p:spPr>
        <p:txBody>
          <a:bodyPr wrap="none" lIns="0" tIns="0" rIns="0" bIns="0" rtlCol="0" anchor="ctr"/>
          <a:lstStyle/>
          <a:p>
            <a:pPr marL="0" indent="0" algn="ctr">
              <a:buNone/>
            </a:pPr>
            <a:r>
              <a:rPr lang="en-US" sz="2672" dirty="0">
                <a:solidFill>
                  <a:srgbClr val="C9A961"/>
                </a:solidFill>
                <a:latin typeface="Segoe UI Symbol" pitchFamily="34" charset="0"/>
                <a:ea typeface="Segoe UI Symbol" pitchFamily="34" charset="-122"/>
                <a:cs typeface="Segoe UI Symbol" pitchFamily="34" charset="-120"/>
              </a:rPr>
              <a:t>⚡</a:t>
            </a:r>
            <a:endParaRPr lang="en-US" sz="2672" dirty="0"/>
          </a:p>
        </p:txBody>
      </p:sp>
      <p:sp>
        <p:nvSpPr>
          <p:cNvPr id="40" name="Text 37"/>
          <p:cNvSpPr/>
          <p:nvPr/>
        </p:nvSpPr>
        <p:spPr>
          <a:xfrm>
            <a:off x="7344668" y="1661592"/>
            <a:ext cx="341114" cy="164592"/>
          </a:xfrm>
          <a:prstGeom prst="rect">
            <a:avLst/>
          </a:prstGeom>
          <a:noFill/>
          <a:ln/>
        </p:spPr>
        <p:txBody>
          <a:bodyPr wrap="none" lIns="0" tIns="0" rIns="0" bIns="0" rtlCol="0" anchor="t"/>
          <a:lstStyle/>
          <a:p>
            <a:pPr marL="0" indent="0" algn="ctr">
              <a:lnSpc>
                <a:spcPts val="1097"/>
              </a:lnSpc>
              <a:buNone/>
            </a:pPr>
            <a:r>
              <a:rPr lang="en-US" sz="800" b="1" kern="0" spc="59" dirty="0">
                <a:solidFill>
                  <a:srgbClr val="FFFFFF"/>
                </a:solidFill>
                <a:latin typeface="Carlito" pitchFamily="34" charset="0"/>
                <a:ea typeface="Carlito" pitchFamily="34" charset="-122"/>
                <a:cs typeface="Carlito" pitchFamily="34" charset="-120"/>
              </a:rPr>
              <a:t>ACT</a:t>
            </a:r>
            <a:endParaRPr lang="en-US" sz="800" dirty="0"/>
          </a:p>
        </p:txBody>
      </p:sp>
      <p:sp>
        <p:nvSpPr>
          <p:cNvPr id="41" name="Text 38"/>
          <p:cNvSpPr/>
          <p:nvPr/>
        </p:nvSpPr>
        <p:spPr>
          <a:xfrm>
            <a:off x="6965156" y="1858045"/>
            <a:ext cx="1100138" cy="373547"/>
          </a:xfrm>
          <a:prstGeom prst="rect">
            <a:avLst/>
          </a:prstGeom>
          <a:noFill/>
          <a:ln/>
        </p:spPr>
        <p:txBody>
          <a:bodyPr wrap="square" lIns="0" tIns="0" rIns="0" bIns="0" rtlCol="0" anchor="t"/>
          <a:lstStyle/>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FFFFFF"/>
                </a:solidFill>
                <a:latin typeface="Carlito" pitchFamily="34" charset="0"/>
                <a:ea typeface="Carlito" pitchFamily="34" charset="-122"/>
                <a:cs typeface="Carlito" pitchFamily="34" charset="-120"/>
              </a:rPr>
              <a:t>Isolate device</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FFFFFF"/>
                </a:solidFill>
                <a:latin typeface="Carlito" pitchFamily="34" charset="0"/>
                <a:ea typeface="Carlito" pitchFamily="34" charset="-122"/>
                <a:cs typeface="Carlito" pitchFamily="34" charset="-120"/>
              </a:rPr>
              <a:t>Revoke cert</a:t>
            </a:r>
            <a:endParaRPr lang="en-US" sz="800" dirty="0"/>
          </a:p>
          <a:p>
            <a:pPr marL="0" indent="0" algn="ctr">
              <a:lnSpc>
                <a:spcPts val="759"/>
              </a:lnSpc>
              <a:spcAft>
                <a:spcPts val="169"/>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FFFFFF"/>
                </a:solidFill>
                <a:latin typeface="Carlito" pitchFamily="34" charset="0"/>
                <a:ea typeface="Carlito" pitchFamily="34" charset="-122"/>
                <a:cs typeface="Carlito" pitchFamily="34" charset="-120"/>
              </a:rPr>
              <a:t>Push patch</a:t>
            </a:r>
            <a:endParaRPr lang="en-US" sz="800" dirty="0"/>
          </a:p>
        </p:txBody>
      </p:sp>
      <p:sp>
        <p:nvSpPr>
          <p:cNvPr id="42" name="Shape 39"/>
          <p:cNvSpPr/>
          <p:nvPr/>
        </p:nvSpPr>
        <p:spPr>
          <a:xfrm>
            <a:off x="7507300" y="2708151"/>
            <a:ext cx="0" cy="100013"/>
          </a:xfrm>
          <a:prstGeom prst="line">
            <a:avLst/>
          </a:prstGeom>
          <a:noFill/>
          <a:ln w="7144">
            <a:solidFill>
              <a:srgbClr val="1E3A5F"/>
            </a:solidFill>
            <a:prstDash val="dash"/>
          </a:ln>
        </p:spPr>
      </p:sp>
      <p:sp>
        <p:nvSpPr>
          <p:cNvPr id="43" name="Shape 40"/>
          <p:cNvSpPr/>
          <p:nvPr/>
        </p:nvSpPr>
        <p:spPr>
          <a:xfrm>
            <a:off x="4572000" y="2711723"/>
            <a:ext cx="2931728" cy="0"/>
          </a:xfrm>
          <a:prstGeom prst="line">
            <a:avLst/>
          </a:prstGeom>
          <a:noFill/>
          <a:ln w="7144">
            <a:solidFill>
              <a:srgbClr val="1E3A5F"/>
            </a:solidFill>
            <a:prstDash val="dash"/>
          </a:ln>
        </p:spPr>
      </p:sp>
      <p:sp>
        <p:nvSpPr>
          <p:cNvPr id="44" name="Shape 41"/>
          <p:cNvSpPr/>
          <p:nvPr/>
        </p:nvSpPr>
        <p:spPr>
          <a:xfrm>
            <a:off x="4575572" y="2608138"/>
            <a:ext cx="0" cy="100013"/>
          </a:xfrm>
          <a:prstGeom prst="line">
            <a:avLst/>
          </a:prstGeom>
          <a:noFill/>
          <a:ln w="7144">
            <a:solidFill>
              <a:srgbClr val="1E3A5F"/>
            </a:solidFill>
            <a:prstDash val="dash"/>
          </a:ln>
        </p:spPr>
      </p:sp>
      <p:sp>
        <p:nvSpPr>
          <p:cNvPr id="45" name="Text 42"/>
          <p:cNvSpPr/>
          <p:nvPr/>
        </p:nvSpPr>
        <p:spPr>
          <a:xfrm>
            <a:off x="3038326" y="2722438"/>
            <a:ext cx="3067348" cy="112514"/>
          </a:xfrm>
          <a:prstGeom prst="rect">
            <a:avLst/>
          </a:prstGeom>
          <a:solidFill>
            <a:srgbClr val="FAFBFC"/>
          </a:solidFill>
          <a:ln/>
        </p:spPr>
        <p:txBody>
          <a:bodyPr wrap="square" rtlCol="0" anchor="ctr"/>
          <a:lstStyle/>
          <a:p>
            <a:pPr marL="0" indent="0">
              <a:buNone/>
            </a:pPr>
            <a:endParaRPr lang="en-US" dirty="0"/>
          </a:p>
        </p:txBody>
      </p:sp>
      <p:sp>
        <p:nvSpPr>
          <p:cNvPr id="46" name="Text 43"/>
          <p:cNvSpPr/>
          <p:nvPr/>
        </p:nvSpPr>
        <p:spPr>
          <a:xfrm>
            <a:off x="3038326" y="2722438"/>
            <a:ext cx="3067348" cy="164592"/>
          </a:xfrm>
          <a:prstGeom prst="rect">
            <a:avLst/>
          </a:prstGeom>
          <a:noFill/>
          <a:ln/>
        </p:spPr>
        <p:txBody>
          <a:bodyPr wrap="none" lIns="85725" tIns="0" rIns="85725" bIns="0" rtlCol="0" anchor="t"/>
          <a:lstStyle/>
          <a:p>
            <a:pPr marL="0" indent="0" algn="l">
              <a:lnSpc>
                <a:spcPts val="886"/>
              </a:lnSpc>
              <a:buNone/>
            </a:pPr>
            <a:r>
              <a:rPr lang="en-US" sz="600" kern="0" spc="71" dirty="0">
                <a:solidFill>
                  <a:srgbClr val="C9A961"/>
                </a:solidFill>
                <a:latin typeface="Carlito" pitchFamily="34" charset="0"/>
                <a:ea typeface="Carlito" pitchFamily="34" charset="-122"/>
                <a:cs typeface="Carlito" pitchFamily="34" charset="-120"/>
              </a:rPr>
              <a:t>●</a:t>
            </a:r>
            <a:r>
              <a:rPr lang="en-US" sz="600" kern="0" spc="71" dirty="0">
                <a:solidFill>
                  <a:srgbClr val="1E3A5F"/>
                </a:solidFill>
                <a:latin typeface="Carlito" pitchFamily="34" charset="0"/>
                <a:ea typeface="Carlito" pitchFamily="34" charset="-122"/>
                <a:cs typeface="Carlito" pitchFamily="34" charset="-120"/>
              </a:rPr>
              <a:t>POST-INCIDENT LEARNING — UPDATE MODELS, REFINE RULES</a:t>
            </a:r>
            <a:endParaRPr lang="en-US" sz="600" dirty="0"/>
          </a:p>
        </p:txBody>
      </p:sp>
      <p:sp>
        <p:nvSpPr>
          <p:cNvPr id="47" name="Text 44"/>
          <p:cNvSpPr/>
          <p:nvPr/>
        </p:nvSpPr>
        <p:spPr>
          <a:xfrm>
            <a:off x="460772" y="2983185"/>
            <a:ext cx="8222456" cy="722858"/>
          </a:xfrm>
          <a:prstGeom prst="roundRect">
            <a:avLst>
              <a:gd name="adj" fmla="val 10541"/>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48" name="Text 45"/>
          <p:cNvSpPr/>
          <p:nvPr/>
        </p:nvSpPr>
        <p:spPr>
          <a:xfrm>
            <a:off x="750094" y="3086770"/>
            <a:ext cx="2089386" cy="119703"/>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APPLICATIONS — LIVE DEPLOYMENTS</a:t>
            </a:r>
            <a:endParaRPr lang="en-US" sz="800" dirty="0"/>
          </a:p>
        </p:txBody>
      </p:sp>
      <p:sp>
        <p:nvSpPr>
          <p:cNvPr id="49" name="Text 46"/>
          <p:cNvSpPr/>
          <p:nvPr/>
        </p:nvSpPr>
        <p:spPr>
          <a:xfrm>
            <a:off x="592931" y="3081412"/>
            <a:ext cx="100013" cy="100013"/>
          </a:xfrm>
          <a:prstGeom prst="rect">
            <a:avLst/>
          </a:prstGeom>
          <a:noFill/>
          <a:ln/>
        </p:spPr>
        <p:txBody>
          <a:bodyPr wrap="none" lIns="0" tIns="0" rIns="0" bIns="0" rtlCol="0" anchor="ctr"/>
          <a:lstStyle/>
          <a:p>
            <a:pPr marL="0" indent="0" algn="ctr">
              <a:buNone/>
            </a:pPr>
            <a:r>
              <a:rPr lang="en-US" sz="984" dirty="0">
                <a:solidFill>
                  <a:srgbClr val="C9A961"/>
                </a:solidFill>
                <a:latin typeface="Segoe UI Symbol" pitchFamily="34" charset="0"/>
                <a:ea typeface="Segoe UI Symbol" pitchFamily="34" charset="-122"/>
                <a:cs typeface="Segoe UI Symbol" pitchFamily="34" charset="-120"/>
              </a:rPr>
              <a:t>❄</a:t>
            </a:r>
            <a:endParaRPr lang="en-US" sz="984" dirty="0"/>
          </a:p>
        </p:txBody>
      </p:sp>
      <p:sp>
        <p:nvSpPr>
          <p:cNvPr id="50" name="Shape 47"/>
          <p:cNvSpPr/>
          <p:nvPr/>
        </p:nvSpPr>
        <p:spPr>
          <a:xfrm>
            <a:off x="600075" y="3247504"/>
            <a:ext cx="0" cy="369243"/>
          </a:xfrm>
          <a:prstGeom prst="line">
            <a:avLst/>
          </a:prstGeom>
          <a:noFill/>
          <a:ln w="14288">
            <a:solidFill>
              <a:srgbClr val="E5D5A3"/>
            </a:solidFill>
            <a:prstDash val="solid"/>
          </a:ln>
        </p:spPr>
      </p:sp>
      <p:sp>
        <p:nvSpPr>
          <p:cNvPr id="51" name="Text 48"/>
          <p:cNvSpPr/>
          <p:nvPr/>
        </p:nvSpPr>
        <p:spPr>
          <a:xfrm>
            <a:off x="678656" y="3247504"/>
            <a:ext cx="2490713" cy="111871"/>
          </a:xfrm>
          <a:prstGeom prst="rect">
            <a:avLst/>
          </a:prstGeom>
          <a:noFill/>
          <a:ln/>
        </p:spPr>
        <p:txBody>
          <a:bodyPr wrap="none" lIns="0" tIns="0" rIns="0" bIns="0" rtlCol="0" anchor="t">
            <a:normAutofit/>
          </a:bodyPr>
          <a:lstStyle/>
          <a:p>
            <a:pPr marL="0" indent="0" algn="l">
              <a:lnSpc>
                <a:spcPts val="928"/>
              </a:lnSpc>
              <a:buNone/>
            </a:pPr>
            <a:r>
              <a:rPr lang="en-US" sz="800" b="1" kern="0" spc="25" dirty="0">
                <a:solidFill>
                  <a:srgbClr val="0F2A4A"/>
                </a:solidFill>
                <a:latin typeface="Courier New" pitchFamily="34" charset="0"/>
                <a:ea typeface="Courier New" pitchFamily="34" charset="-122"/>
                <a:cs typeface="Courier New" pitchFamily="34" charset="-120"/>
              </a:rPr>
              <a:t>Smart Grid</a:t>
            </a:r>
            <a:endParaRPr lang="en-US" sz="800" dirty="0"/>
          </a:p>
        </p:txBody>
      </p:sp>
      <p:sp>
        <p:nvSpPr>
          <p:cNvPr id="52" name="Text 49"/>
          <p:cNvSpPr/>
          <p:nvPr/>
        </p:nvSpPr>
        <p:spPr>
          <a:xfrm>
            <a:off x="678656" y="3386807"/>
            <a:ext cx="2490713" cy="229939"/>
          </a:xfrm>
          <a:prstGeom prst="rect">
            <a:avLst/>
          </a:prstGeom>
          <a:noFill/>
          <a:ln/>
        </p:spPr>
        <p:txBody>
          <a:bodyPr wrap="square" lIns="0" tIns="0" rIns="0" bIns="0" rtlCol="0" anchor="t"/>
          <a:lstStyle/>
          <a:p>
            <a:pPr marL="0" indent="0" algn="l">
              <a:lnSpc>
                <a:spcPts val="906"/>
              </a:lnSpc>
              <a:buNone/>
            </a:pPr>
            <a:r>
              <a:rPr lang="en-US" sz="800" dirty="0">
                <a:solidFill>
                  <a:srgbClr val="4A5568"/>
                </a:solidFill>
                <a:latin typeface="Carlito" pitchFamily="34" charset="0"/>
                <a:ea typeface="Carlito" pitchFamily="34" charset="-122"/>
                <a:cs typeface="Carlito" pitchFamily="34" charset="-120"/>
              </a:rPr>
              <a:t>PMU sensors stream to regional collector; ML detects </a:t>
            </a:r>
            <a:r>
              <a:rPr lang="en-US" sz="800" dirty="0">
                <a:solidFill>
                  <a:srgbClr val="0F2A4A"/>
                </a:solidFill>
                <a:latin typeface="Carlito" pitchFamily="34" charset="0"/>
                <a:ea typeface="Carlito" pitchFamily="34" charset="-122"/>
                <a:cs typeface="Carlito" pitchFamily="34" charset="-120"/>
              </a:rPr>
              <a:t>FDI</a:t>
            </a:r>
            <a:r>
              <a:rPr lang="en-US" sz="800" dirty="0">
                <a:solidFill>
                  <a:srgbClr val="4A5568"/>
                </a:solidFill>
                <a:latin typeface="Carlito" pitchFamily="34" charset="0"/>
                <a:ea typeface="Carlito" pitchFamily="34" charset="-122"/>
                <a:cs typeface="Carlito" pitchFamily="34" charset="-120"/>
              </a:rPr>
              <a:t> (False Data Injection) attacks on state estimation.</a:t>
            </a:r>
            <a:endParaRPr lang="en-US" sz="800" dirty="0"/>
          </a:p>
        </p:txBody>
      </p:sp>
      <p:sp>
        <p:nvSpPr>
          <p:cNvPr id="53" name="Shape 50"/>
          <p:cNvSpPr/>
          <p:nvPr/>
        </p:nvSpPr>
        <p:spPr>
          <a:xfrm>
            <a:off x="3290813" y="3247504"/>
            <a:ext cx="0" cy="369243"/>
          </a:xfrm>
          <a:prstGeom prst="line">
            <a:avLst/>
          </a:prstGeom>
          <a:noFill/>
          <a:ln w="14288">
            <a:solidFill>
              <a:srgbClr val="E5D5A3"/>
            </a:solidFill>
            <a:prstDash val="solid"/>
          </a:ln>
        </p:spPr>
      </p:sp>
      <p:sp>
        <p:nvSpPr>
          <p:cNvPr id="54" name="Text 51"/>
          <p:cNvSpPr/>
          <p:nvPr/>
        </p:nvSpPr>
        <p:spPr>
          <a:xfrm>
            <a:off x="3369394" y="3247504"/>
            <a:ext cx="2490825" cy="111871"/>
          </a:xfrm>
          <a:prstGeom prst="rect">
            <a:avLst/>
          </a:prstGeom>
          <a:noFill/>
          <a:ln/>
        </p:spPr>
        <p:txBody>
          <a:bodyPr wrap="none" lIns="0" tIns="0" rIns="0" bIns="0" rtlCol="0" anchor="t">
            <a:normAutofit/>
          </a:bodyPr>
          <a:lstStyle/>
          <a:p>
            <a:pPr marL="0" indent="0" algn="l">
              <a:lnSpc>
                <a:spcPts val="928"/>
              </a:lnSpc>
              <a:buNone/>
            </a:pPr>
            <a:r>
              <a:rPr lang="en-US" sz="800" b="1" kern="0" spc="25" dirty="0">
                <a:solidFill>
                  <a:srgbClr val="0F2A4A"/>
                </a:solidFill>
                <a:latin typeface="Courier New" pitchFamily="34" charset="0"/>
                <a:ea typeface="Courier New" pitchFamily="34" charset="-122"/>
                <a:cs typeface="Courier New" pitchFamily="34" charset="-120"/>
              </a:rPr>
              <a:t>Connected Fleet</a:t>
            </a:r>
            <a:endParaRPr lang="en-US" sz="800" dirty="0"/>
          </a:p>
        </p:txBody>
      </p:sp>
      <p:sp>
        <p:nvSpPr>
          <p:cNvPr id="55" name="Text 52"/>
          <p:cNvSpPr/>
          <p:nvPr/>
        </p:nvSpPr>
        <p:spPr>
          <a:xfrm>
            <a:off x="3369394" y="3386807"/>
            <a:ext cx="2490825" cy="229939"/>
          </a:xfrm>
          <a:prstGeom prst="rect">
            <a:avLst/>
          </a:prstGeom>
          <a:noFill/>
          <a:ln/>
        </p:spPr>
        <p:txBody>
          <a:bodyPr wrap="square" lIns="0" tIns="0" rIns="0" bIns="0" rtlCol="0" anchor="t"/>
          <a:lstStyle/>
          <a:p>
            <a:pPr marL="0" indent="0" algn="l">
              <a:lnSpc>
                <a:spcPts val="906"/>
              </a:lnSpc>
              <a:buNone/>
            </a:pPr>
            <a:r>
              <a:rPr lang="en-US" sz="800" dirty="0">
                <a:solidFill>
                  <a:srgbClr val="4A5568"/>
                </a:solidFill>
                <a:latin typeface="Carlito" pitchFamily="34" charset="0"/>
                <a:ea typeface="Carlito" pitchFamily="34" charset="-122"/>
                <a:cs typeface="Carlito" pitchFamily="34" charset="-120"/>
              </a:rPr>
              <a:t>Each vehicle uploads </a:t>
            </a:r>
            <a:r>
              <a:rPr lang="en-US" sz="800" dirty="0">
                <a:solidFill>
                  <a:srgbClr val="0F2A4A"/>
                </a:solidFill>
                <a:latin typeface="Carlito" pitchFamily="34" charset="0"/>
                <a:ea typeface="Carlito" pitchFamily="34" charset="-122"/>
                <a:cs typeface="Carlito" pitchFamily="34" charset="-120"/>
              </a:rPr>
              <a:t>CAN-bus anomalies</a:t>
            </a:r>
            <a:r>
              <a:rPr lang="en-US" sz="800" dirty="0">
                <a:solidFill>
                  <a:srgbClr val="4A5568"/>
                </a:solidFill>
                <a:latin typeface="Carlito" pitchFamily="34" charset="0"/>
                <a:ea typeface="Carlito" pitchFamily="34" charset="-122"/>
                <a:cs typeface="Carlito" pitchFamily="34" charset="-120"/>
              </a:rPr>
              <a:t> to the OEM SOC; SELinux audit logs trip HIDS rules.</a:t>
            </a:r>
            <a:endParaRPr lang="en-US" sz="800" dirty="0"/>
          </a:p>
        </p:txBody>
      </p:sp>
      <p:sp>
        <p:nvSpPr>
          <p:cNvPr id="56" name="Shape 53"/>
          <p:cNvSpPr/>
          <p:nvPr/>
        </p:nvSpPr>
        <p:spPr>
          <a:xfrm>
            <a:off x="5981663" y="3247504"/>
            <a:ext cx="0" cy="369243"/>
          </a:xfrm>
          <a:prstGeom prst="line">
            <a:avLst/>
          </a:prstGeom>
          <a:noFill/>
          <a:ln w="14288">
            <a:solidFill>
              <a:srgbClr val="E5D5A3"/>
            </a:solidFill>
            <a:prstDash val="solid"/>
          </a:ln>
        </p:spPr>
      </p:sp>
      <p:sp>
        <p:nvSpPr>
          <p:cNvPr id="57" name="Text 54"/>
          <p:cNvSpPr/>
          <p:nvPr/>
        </p:nvSpPr>
        <p:spPr>
          <a:xfrm>
            <a:off x="6060244" y="3247504"/>
            <a:ext cx="2490713" cy="111871"/>
          </a:xfrm>
          <a:prstGeom prst="rect">
            <a:avLst/>
          </a:prstGeom>
          <a:noFill/>
          <a:ln/>
        </p:spPr>
        <p:txBody>
          <a:bodyPr wrap="none" lIns="0" tIns="0" rIns="0" bIns="0" rtlCol="0" anchor="t">
            <a:normAutofit/>
          </a:bodyPr>
          <a:lstStyle/>
          <a:p>
            <a:pPr marL="0" indent="0" algn="l">
              <a:lnSpc>
                <a:spcPts val="928"/>
              </a:lnSpc>
              <a:buNone/>
            </a:pPr>
            <a:r>
              <a:rPr lang="en-US" sz="800" b="1" kern="0" spc="25" dirty="0">
                <a:solidFill>
                  <a:srgbClr val="0F2A4A"/>
                </a:solidFill>
                <a:latin typeface="Courier New" pitchFamily="34" charset="0"/>
                <a:ea typeface="Courier New" pitchFamily="34" charset="-122"/>
                <a:cs typeface="Courier New" pitchFamily="34" charset="-120"/>
              </a:rPr>
              <a:t>Hospital IoT</a:t>
            </a:r>
            <a:endParaRPr lang="en-US" sz="800" dirty="0"/>
          </a:p>
        </p:txBody>
      </p:sp>
      <p:sp>
        <p:nvSpPr>
          <p:cNvPr id="58" name="Text 55"/>
          <p:cNvSpPr/>
          <p:nvPr/>
        </p:nvSpPr>
        <p:spPr>
          <a:xfrm>
            <a:off x="6060244" y="3386807"/>
            <a:ext cx="2490713" cy="229939"/>
          </a:xfrm>
          <a:prstGeom prst="rect">
            <a:avLst/>
          </a:prstGeom>
          <a:noFill/>
          <a:ln/>
        </p:spPr>
        <p:txBody>
          <a:bodyPr wrap="square" lIns="0" tIns="0" rIns="0" bIns="0" rtlCol="0" anchor="t"/>
          <a:lstStyle/>
          <a:p>
            <a:pPr marL="0" indent="0" algn="l">
              <a:lnSpc>
                <a:spcPts val="906"/>
              </a:lnSpc>
              <a:buNone/>
            </a:pPr>
            <a:r>
              <a:rPr lang="en-US" sz="800" dirty="0">
                <a:solidFill>
                  <a:srgbClr val="4A5568"/>
                </a:solidFill>
                <a:latin typeface="Carlito" pitchFamily="34" charset="0"/>
                <a:ea typeface="Carlito" pitchFamily="34" charset="-122"/>
                <a:cs typeface="Carlito" pitchFamily="34" charset="-120"/>
              </a:rPr>
              <a:t>Medical-device IDS (e.g. </a:t>
            </a:r>
            <a:r>
              <a:rPr lang="en-US" sz="800" dirty="0">
                <a:solidFill>
                  <a:srgbClr val="0F2A4A"/>
                </a:solidFill>
                <a:latin typeface="Carlito" pitchFamily="34" charset="0"/>
                <a:ea typeface="Carlito" pitchFamily="34" charset="-122"/>
                <a:cs typeface="Carlito" pitchFamily="34" charset="-120"/>
              </a:rPr>
              <a:t>Cynerio</a:t>
            </a:r>
            <a:r>
              <a:rPr lang="en-US" sz="800" dirty="0">
                <a:solidFill>
                  <a:srgbClr val="4A5568"/>
                </a:solidFill>
                <a:latin typeface="Carlito" pitchFamily="34" charset="0"/>
                <a:ea typeface="Carlito" pitchFamily="34" charset="-122"/>
                <a:cs typeface="Carlito" pitchFamily="34" charset="-120"/>
              </a:rPr>
              <a:t>) fingerprints infusion pumps and flags protocol deviations in real time.</a:t>
            </a:r>
            <a:endParaRPr lang="en-US" sz="800" dirty="0"/>
          </a:p>
        </p:txBody>
      </p:sp>
      <p:sp>
        <p:nvSpPr>
          <p:cNvPr id="59" name="Text 56"/>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60" name="Text 57"/>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16 / 21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05395"/>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57175"/>
            <a:ext cx="7060927" cy="164592"/>
          </a:xfrm>
          <a:prstGeom prst="rect">
            <a:avLst/>
          </a:prstGeom>
          <a:noFill/>
          <a:ln/>
        </p:spPr>
        <p:txBody>
          <a:bodyPr wrap="none" lIns="0" tIns="0" rIns="0" bIns="0" rtlCol="0" anchor="t"/>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08 · THE ARMET APPROACH</a:t>
            </a:r>
            <a:endParaRPr lang="en-US" sz="800" dirty="0"/>
          </a:p>
        </p:txBody>
      </p:sp>
      <p:sp>
        <p:nvSpPr>
          <p:cNvPr id="5" name="Text 2"/>
          <p:cNvSpPr/>
          <p:nvPr/>
        </p:nvSpPr>
        <p:spPr>
          <a:xfrm>
            <a:off x="7532415" y="267891"/>
            <a:ext cx="1403751" cy="164592"/>
          </a:xfrm>
          <a:prstGeom prst="rect">
            <a:avLst/>
          </a:prstGeom>
          <a:noFill/>
          <a:ln/>
        </p:spPr>
        <p:txBody>
          <a:bodyPr wrap="none" lIns="0" tIns="0" rIns="0" bIns="0" rtlCol="0" anchor="t"/>
          <a:lstStyle/>
          <a:p>
            <a:pPr marL="0" indent="0" algn="l">
              <a:lnSpc>
                <a:spcPts val="928"/>
              </a:lnSpc>
              <a:buNone/>
            </a:pPr>
            <a:r>
              <a:rPr lang="en-US" sz="800" kern="0" spc="93" dirty="0">
                <a:solidFill>
                  <a:srgbClr val="6B7280"/>
                </a:solidFill>
                <a:latin typeface="Liberation Sans Narrow" pitchFamily="34" charset="0"/>
                <a:ea typeface="Liberation Sans Narrow" pitchFamily="34" charset="-122"/>
                <a:cs typeface="Liberation Sans Narrow" pitchFamily="34" charset="-120"/>
              </a:rPr>
              <a:t>CONCEPT · LECTURE 8 / 9</a:t>
            </a:r>
            <a:endParaRPr lang="en-US" sz="800" dirty="0"/>
          </a:p>
        </p:txBody>
      </p:sp>
      <p:sp>
        <p:nvSpPr>
          <p:cNvPr id="6" name="Text 3"/>
          <p:cNvSpPr/>
          <p:nvPr/>
        </p:nvSpPr>
        <p:spPr>
          <a:xfrm>
            <a:off x="457200" y="496491"/>
            <a:ext cx="4857795" cy="266176"/>
          </a:xfrm>
          <a:prstGeom prst="rect">
            <a:avLst/>
          </a:prstGeom>
          <a:noFill/>
          <a:ln/>
        </p:spPr>
        <p:txBody>
          <a:bodyPr wrap="square" lIns="0" tIns="0" rIns="0" bIns="0" rtlCol="0" anchor="t"/>
          <a:lstStyle/>
          <a:p>
            <a:pPr marL="0" indent="0" algn="l">
              <a:lnSpc>
                <a:spcPts val="1941"/>
              </a:lnSpc>
              <a:buNone/>
            </a:pPr>
            <a:r>
              <a:rPr lang="en-US" sz="1688" b="1" kern="0" spc="-25" dirty="0">
                <a:solidFill>
                  <a:srgbClr val="0F2A4A"/>
                </a:solidFill>
                <a:latin typeface="Tinos" pitchFamily="34" charset="0"/>
                <a:ea typeface="Tinos" pitchFamily="34" charset="-122"/>
                <a:cs typeface="Tinos" pitchFamily="34" charset="-120"/>
              </a:rPr>
              <a:t>Hardening Methodology for Microcontrollers</a:t>
            </a:r>
            <a:endParaRPr lang="en-US" sz="1688" dirty="0"/>
          </a:p>
        </p:txBody>
      </p:sp>
      <p:sp>
        <p:nvSpPr>
          <p:cNvPr id="7" name="Text 4"/>
          <p:cNvSpPr/>
          <p:nvPr/>
        </p:nvSpPr>
        <p:spPr>
          <a:xfrm>
            <a:off x="457200" y="828675"/>
            <a:ext cx="4416177" cy="896898"/>
          </a:xfrm>
          <a:prstGeom prst="rect">
            <a:avLst/>
          </a:prstGeom>
          <a:noFill/>
          <a:ln/>
        </p:spPr>
        <p:txBody>
          <a:bodyPr wrap="square" lIns="0" tIns="0" rIns="0" bIns="0" rtlCol="0" anchor="t"/>
          <a:lstStyle/>
          <a:p>
            <a:pPr marL="0" indent="0" algn="l">
              <a:lnSpc>
                <a:spcPts val="1308"/>
              </a:lnSpc>
              <a:buNone/>
            </a:pPr>
            <a:r>
              <a:rPr lang="en-US" sz="844" dirty="0">
                <a:solidFill>
                  <a:srgbClr val="0F2A4A"/>
                </a:solidFill>
                <a:latin typeface="Carlito" pitchFamily="34" charset="0"/>
                <a:ea typeface="Carlito" pitchFamily="34" charset="-122"/>
                <a:cs typeface="Carlito" pitchFamily="34" charset="-120"/>
              </a:rPr>
              <a:t>ARMET</a:t>
            </a:r>
            <a:r>
              <a:rPr lang="en-US" sz="844" dirty="0">
                <a:solidFill>
                  <a:srgbClr val="4A5568"/>
                </a:solidFill>
                <a:latin typeface="Carlito" pitchFamily="34" charset="0"/>
                <a:ea typeface="Carlito" pitchFamily="34" charset="-122"/>
                <a:cs typeface="Carlito" pitchFamily="34" charset="-120"/>
              </a:rPr>
              <a:t> — a hardening Approach for Reliable and secure Microcontrollers in IoT by applicaTion — is a structured, application-aware methodology for reducing the attack surface of resource-constrained IoT devices. Rather than applying generic hardening checklists, ARMET selects controls based on the application's threat model and the device's hardware capabilities.</a:t>
            </a:r>
            <a:endParaRPr lang="en-US" sz="844" dirty="0"/>
          </a:p>
        </p:txBody>
      </p:sp>
      <p:sp>
        <p:nvSpPr>
          <p:cNvPr id="8" name="Shape 5"/>
          <p:cNvSpPr/>
          <p:nvPr/>
        </p:nvSpPr>
        <p:spPr>
          <a:xfrm>
            <a:off x="457200" y="2007394"/>
            <a:ext cx="4416177" cy="0"/>
          </a:xfrm>
          <a:prstGeom prst="line">
            <a:avLst/>
          </a:prstGeom>
          <a:noFill/>
          <a:ln w="7144">
            <a:solidFill>
              <a:srgbClr val="E5E9EE"/>
            </a:solidFill>
            <a:prstDash val="solid"/>
          </a:ln>
        </p:spPr>
      </p:sp>
      <p:sp>
        <p:nvSpPr>
          <p:cNvPr id="9" name="Text 6"/>
          <p:cNvSpPr/>
          <p:nvPr/>
        </p:nvSpPr>
        <p:spPr>
          <a:xfrm>
            <a:off x="457200" y="1866305"/>
            <a:ext cx="57150" cy="57150"/>
          </a:xfrm>
          <a:prstGeom prst="ellipse">
            <a:avLst/>
          </a:prstGeom>
          <a:solidFill>
            <a:srgbClr val="C9A961"/>
          </a:solidFill>
          <a:ln/>
        </p:spPr>
        <p:txBody>
          <a:bodyPr wrap="square" rtlCol="0" anchor="ctr"/>
          <a:lstStyle/>
          <a:p>
            <a:pPr marL="0" indent="0">
              <a:buNone/>
            </a:pPr>
            <a:endParaRPr lang="en-US" dirty="0"/>
          </a:p>
        </p:txBody>
      </p:sp>
      <p:sp>
        <p:nvSpPr>
          <p:cNvPr id="10" name="Text 7"/>
          <p:cNvSpPr/>
          <p:nvPr/>
        </p:nvSpPr>
        <p:spPr>
          <a:xfrm>
            <a:off x="642938" y="1809155"/>
            <a:ext cx="4230439" cy="144661"/>
          </a:xfrm>
          <a:prstGeom prst="rect">
            <a:avLst/>
          </a:prstGeom>
          <a:noFill/>
          <a:ln/>
        </p:spPr>
        <p:txBody>
          <a:bodyPr wrap="square" lIns="0" tIns="0" rIns="0" bIns="0" rtlCol="0" anchor="t"/>
          <a:lstStyle/>
          <a:p>
            <a:pPr marL="0" indent="0" algn="l">
              <a:lnSpc>
                <a:spcPts val="1139"/>
              </a:lnSpc>
              <a:buNone/>
            </a:pPr>
            <a:r>
              <a:rPr lang="en-US" sz="800" dirty="0">
                <a:solidFill>
                  <a:srgbClr val="0F2A4A"/>
                </a:solidFill>
                <a:latin typeface="Carlito" pitchFamily="34" charset="0"/>
                <a:ea typeface="Carlito" pitchFamily="34" charset="-122"/>
                <a:cs typeface="Carlito" pitchFamily="34" charset="-120"/>
              </a:rPr>
              <a:t>Application-Aware</a:t>
            </a:r>
            <a:r>
              <a:rPr lang="en-US" sz="800" dirty="0">
                <a:solidFill>
                  <a:srgbClr val="1A2332"/>
                </a:solidFill>
                <a:latin typeface="Carlito" pitchFamily="34" charset="0"/>
                <a:ea typeface="Carlito" pitchFamily="34" charset="-122"/>
                <a:cs typeface="Carlito" pitchFamily="34" charset="-120"/>
              </a:rPr>
              <a:t> — threat model per device class drives control selection.</a:t>
            </a:r>
            <a:endParaRPr lang="en-US" sz="800" dirty="0"/>
          </a:p>
        </p:txBody>
      </p:sp>
      <p:sp>
        <p:nvSpPr>
          <p:cNvPr id="11" name="Shape 8"/>
          <p:cNvSpPr/>
          <p:nvPr/>
        </p:nvSpPr>
        <p:spPr>
          <a:xfrm>
            <a:off x="457200" y="2403872"/>
            <a:ext cx="4416177" cy="0"/>
          </a:xfrm>
          <a:prstGeom prst="line">
            <a:avLst/>
          </a:prstGeom>
          <a:noFill/>
          <a:ln w="7144">
            <a:solidFill>
              <a:srgbClr val="E5E9EE"/>
            </a:solidFill>
            <a:prstDash val="solid"/>
          </a:ln>
        </p:spPr>
      </p:sp>
      <p:sp>
        <p:nvSpPr>
          <p:cNvPr id="12" name="Text 9"/>
          <p:cNvSpPr/>
          <p:nvPr/>
        </p:nvSpPr>
        <p:spPr>
          <a:xfrm>
            <a:off x="457200" y="2118122"/>
            <a:ext cx="57150" cy="57150"/>
          </a:xfrm>
          <a:prstGeom prst="ellipse">
            <a:avLst/>
          </a:prstGeom>
          <a:solidFill>
            <a:srgbClr val="C9A961"/>
          </a:solidFill>
          <a:ln/>
        </p:spPr>
        <p:txBody>
          <a:bodyPr wrap="square" rtlCol="0" anchor="ctr"/>
          <a:lstStyle/>
          <a:p>
            <a:pPr marL="0" indent="0">
              <a:buNone/>
            </a:pPr>
            <a:endParaRPr lang="en-US" dirty="0"/>
          </a:p>
        </p:txBody>
      </p:sp>
      <p:sp>
        <p:nvSpPr>
          <p:cNvPr id="13" name="Text 10"/>
          <p:cNvSpPr/>
          <p:nvPr/>
        </p:nvSpPr>
        <p:spPr>
          <a:xfrm>
            <a:off x="642938" y="2060972"/>
            <a:ext cx="4230439" cy="289322"/>
          </a:xfrm>
          <a:prstGeom prst="rect">
            <a:avLst/>
          </a:prstGeom>
          <a:noFill/>
          <a:ln/>
        </p:spPr>
        <p:txBody>
          <a:bodyPr wrap="square" lIns="0" tIns="0" rIns="0" bIns="0" rtlCol="0" anchor="t"/>
          <a:lstStyle/>
          <a:p>
            <a:pPr marL="0" indent="0" algn="l">
              <a:lnSpc>
                <a:spcPts val="1139"/>
              </a:lnSpc>
              <a:buNone/>
            </a:pPr>
            <a:r>
              <a:rPr lang="en-US" sz="800" dirty="0">
                <a:solidFill>
                  <a:srgbClr val="0F2A4A"/>
                </a:solidFill>
                <a:latin typeface="Carlito" pitchFamily="34" charset="0"/>
                <a:ea typeface="Carlito" pitchFamily="34" charset="-122"/>
                <a:cs typeface="Carlito" pitchFamily="34" charset="-120"/>
              </a:rPr>
              <a:t>Capability-Driven</a:t>
            </a:r>
            <a:r>
              <a:rPr lang="en-US" sz="800" dirty="0">
                <a:solidFill>
                  <a:srgbClr val="1A2332"/>
                </a:solidFill>
                <a:latin typeface="Carlito" pitchFamily="34" charset="0"/>
                <a:ea typeface="Carlito" pitchFamily="34" charset="-122"/>
                <a:cs typeface="Carlito" pitchFamily="34" charset="-120"/>
              </a:rPr>
              <a:t> — chooses hardening based on what the silicon actually supports (TEE, crypto engine, MPU).</a:t>
            </a:r>
            <a:endParaRPr lang="en-US" sz="800" dirty="0"/>
          </a:p>
        </p:txBody>
      </p:sp>
      <p:sp>
        <p:nvSpPr>
          <p:cNvPr id="14" name="Text 11"/>
          <p:cNvSpPr/>
          <p:nvPr/>
        </p:nvSpPr>
        <p:spPr>
          <a:xfrm>
            <a:off x="457200" y="2514600"/>
            <a:ext cx="57150" cy="57150"/>
          </a:xfrm>
          <a:prstGeom prst="ellipse">
            <a:avLst/>
          </a:prstGeom>
          <a:solidFill>
            <a:srgbClr val="C9A961"/>
          </a:solidFill>
          <a:ln/>
        </p:spPr>
        <p:txBody>
          <a:bodyPr wrap="square" rtlCol="0" anchor="ctr"/>
          <a:lstStyle/>
          <a:p>
            <a:pPr marL="0" indent="0">
              <a:buNone/>
            </a:pPr>
            <a:endParaRPr lang="en-US" dirty="0"/>
          </a:p>
        </p:txBody>
      </p:sp>
      <p:sp>
        <p:nvSpPr>
          <p:cNvPr id="15" name="Text 12"/>
          <p:cNvSpPr/>
          <p:nvPr/>
        </p:nvSpPr>
        <p:spPr>
          <a:xfrm>
            <a:off x="642938" y="2457450"/>
            <a:ext cx="4230439" cy="329184"/>
          </a:xfrm>
          <a:prstGeom prst="rect">
            <a:avLst/>
          </a:prstGeom>
          <a:noFill/>
          <a:ln/>
        </p:spPr>
        <p:txBody>
          <a:bodyPr wrap="square" lIns="0" tIns="0" rIns="0" bIns="0" rtlCol="0" anchor="t"/>
          <a:lstStyle/>
          <a:p>
            <a:pPr marL="0" indent="0" algn="l">
              <a:lnSpc>
                <a:spcPts val="1139"/>
              </a:lnSpc>
              <a:buNone/>
            </a:pPr>
            <a:r>
              <a:rPr lang="en-US" sz="800" dirty="0">
                <a:solidFill>
                  <a:srgbClr val="0F2A4A"/>
                </a:solidFill>
                <a:latin typeface="Carlito" pitchFamily="34" charset="0"/>
                <a:ea typeface="Carlito" pitchFamily="34" charset="-122"/>
                <a:cs typeface="Carlito" pitchFamily="34" charset="-120"/>
              </a:rPr>
              <a:t>Verifiable</a:t>
            </a:r>
            <a:r>
              <a:rPr lang="en-US" sz="800" dirty="0">
                <a:solidFill>
                  <a:srgbClr val="1A2332"/>
                </a:solidFill>
                <a:latin typeface="Carlito" pitchFamily="34" charset="0"/>
                <a:ea typeface="Carlito" pitchFamily="34" charset="-122"/>
                <a:cs typeface="Carlito" pitchFamily="34" charset="-120"/>
              </a:rPr>
              <a:t> — each hardening step produces an artifact testable in CI/CD, not a doc-only deliverable.</a:t>
            </a:r>
            <a:endParaRPr lang="en-US" sz="800" dirty="0"/>
          </a:p>
        </p:txBody>
      </p:sp>
      <p:pic>
        <p:nvPicPr>
          <p:cNvPr id="16" name="Image 1" descr="/tmp/h2p-fit-1790255562642-t0s5ym.png"/>
          <p:cNvPicPr>
            <a:picLocks noChangeAspect="1"/>
          </p:cNvPicPr>
          <p:nvPr/>
        </p:nvPicPr>
        <p:blipFill>
          <a:blip r:embed="rId4"/>
          <a:stretch>
            <a:fillRect/>
          </a:stretch>
        </p:blipFill>
        <p:spPr>
          <a:xfrm>
            <a:off x="5073402" y="496491"/>
            <a:ext cx="3613398" cy="1500188"/>
          </a:xfrm>
          <a:prstGeom prst="rect">
            <a:avLst/>
          </a:prstGeom>
          <a:effectLst>
            <a:outerShdw blurRad="114300" dist="38100" dir="5400000" algn="bl" rotWithShape="0">
              <a:srgbClr val="0F2A4A">
                <a:alpha val="12000"/>
              </a:srgbClr>
            </a:outerShdw>
          </a:effectLst>
        </p:spPr>
      </p:pic>
      <p:sp>
        <p:nvSpPr>
          <p:cNvPr id="17" name="Text 13"/>
          <p:cNvSpPr/>
          <p:nvPr/>
        </p:nvSpPr>
        <p:spPr>
          <a:xfrm>
            <a:off x="5073402" y="2139553"/>
            <a:ext cx="3613398" cy="153526"/>
          </a:xfrm>
          <a:prstGeom prst="rect">
            <a:avLst/>
          </a:prstGeom>
          <a:noFill/>
          <a:ln/>
        </p:spPr>
        <p:txBody>
          <a:bodyPr wrap="square" lIns="0" tIns="0" rIns="0" bIns="0" rtlCol="0" anchor="t"/>
          <a:lstStyle/>
          <a:p>
            <a:pPr marL="0" indent="0" algn="l">
              <a:lnSpc>
                <a:spcPts val="866"/>
              </a:lnSpc>
              <a:buNone/>
            </a:pPr>
            <a:r>
              <a:rPr lang="en-US" sz="619" i="1" dirty="0">
                <a:solidFill>
                  <a:srgbClr val="6B7280"/>
                </a:solidFill>
                <a:latin typeface="Carlito" pitchFamily="34" charset="0"/>
                <a:ea typeface="Carlito" pitchFamily="34" charset="-122"/>
                <a:cs typeface="Carlito" pitchFamily="34" charset="-120"/>
              </a:rPr>
              <a:t>Example target — ESP32-class microcontroller with on-chip crypto, secure boot, and flash encryption.</a:t>
            </a:r>
            <a:endParaRPr lang="en-US" sz="619" dirty="0"/>
          </a:p>
        </p:txBody>
      </p:sp>
      <p:sp>
        <p:nvSpPr>
          <p:cNvPr id="18" name="Text 14"/>
          <p:cNvSpPr/>
          <p:nvPr/>
        </p:nvSpPr>
        <p:spPr>
          <a:xfrm>
            <a:off x="5073402" y="2335225"/>
            <a:ext cx="3613398" cy="277155"/>
          </a:xfrm>
          <a:prstGeom prst="roundRect">
            <a:avLst>
              <a:gd name="adj" fmla="val 27494"/>
            </a:avLst>
          </a:prstGeom>
          <a:solidFill>
            <a:srgbClr val="FFFFFF"/>
          </a:solidFill>
          <a:ln/>
        </p:spPr>
        <p:txBody>
          <a:bodyPr wrap="square" rtlCol="0" anchor="ctr"/>
          <a:lstStyle/>
          <a:p>
            <a:pPr marL="0" indent="0">
              <a:buNone/>
            </a:pPr>
            <a:endParaRPr lang="en-US" dirty="0"/>
          </a:p>
        </p:txBody>
      </p:sp>
      <p:sp>
        <p:nvSpPr>
          <p:cNvPr id="19" name="Shape 15"/>
          <p:cNvSpPr/>
          <p:nvPr/>
        </p:nvSpPr>
        <p:spPr>
          <a:xfrm>
            <a:off x="5073402" y="2338797"/>
            <a:ext cx="3613398" cy="0"/>
          </a:xfrm>
          <a:prstGeom prst="line">
            <a:avLst/>
          </a:prstGeom>
          <a:noFill/>
          <a:ln w="7144">
            <a:solidFill>
              <a:srgbClr val="D8DEE6"/>
            </a:solidFill>
            <a:prstDash val="solid"/>
          </a:ln>
        </p:spPr>
      </p:sp>
      <p:sp>
        <p:nvSpPr>
          <p:cNvPr id="20" name="Shape 16"/>
          <p:cNvSpPr/>
          <p:nvPr/>
        </p:nvSpPr>
        <p:spPr>
          <a:xfrm>
            <a:off x="8683228" y="2335225"/>
            <a:ext cx="0" cy="277155"/>
          </a:xfrm>
          <a:prstGeom prst="line">
            <a:avLst/>
          </a:prstGeom>
          <a:noFill/>
          <a:ln w="7144">
            <a:solidFill>
              <a:srgbClr val="D8DEE6"/>
            </a:solidFill>
            <a:prstDash val="solid"/>
          </a:ln>
        </p:spPr>
      </p:sp>
      <p:sp>
        <p:nvSpPr>
          <p:cNvPr id="21" name="Shape 17"/>
          <p:cNvSpPr/>
          <p:nvPr/>
        </p:nvSpPr>
        <p:spPr>
          <a:xfrm>
            <a:off x="5073402" y="2608808"/>
            <a:ext cx="3613398" cy="0"/>
          </a:xfrm>
          <a:prstGeom prst="line">
            <a:avLst/>
          </a:prstGeom>
          <a:noFill/>
          <a:ln w="7144">
            <a:solidFill>
              <a:srgbClr val="D8DEE6"/>
            </a:solidFill>
            <a:prstDash val="solid"/>
          </a:ln>
        </p:spPr>
      </p:sp>
      <p:sp>
        <p:nvSpPr>
          <p:cNvPr id="22" name="Shape 18"/>
          <p:cNvSpPr/>
          <p:nvPr/>
        </p:nvSpPr>
        <p:spPr>
          <a:xfrm>
            <a:off x="5084118" y="2335225"/>
            <a:ext cx="0" cy="277155"/>
          </a:xfrm>
          <a:prstGeom prst="line">
            <a:avLst/>
          </a:prstGeom>
          <a:noFill/>
          <a:ln w="21431">
            <a:solidFill>
              <a:srgbClr val="C9A961"/>
            </a:solidFill>
            <a:prstDash val="solid"/>
          </a:ln>
        </p:spPr>
      </p:sp>
      <p:sp>
        <p:nvSpPr>
          <p:cNvPr id="23" name="Text 19"/>
          <p:cNvSpPr/>
          <p:nvPr/>
        </p:nvSpPr>
        <p:spPr>
          <a:xfrm>
            <a:off x="5194846" y="2414811"/>
            <a:ext cx="969594" cy="118988"/>
          </a:xfrm>
          <a:prstGeom prst="rect">
            <a:avLst/>
          </a:prstGeom>
          <a:noFill/>
          <a:ln/>
        </p:spPr>
        <p:txBody>
          <a:bodyPr wrap="none" lIns="0" tIns="0" rIns="0" bIns="0" rtlCol="0" anchor="t"/>
          <a:lstStyle/>
          <a:p>
            <a:pPr marL="0" indent="0" algn="l">
              <a:lnSpc>
                <a:spcPts val="928"/>
              </a:lnSpc>
              <a:buNone/>
            </a:pPr>
            <a:r>
              <a:rPr lang="en-US" sz="800" b="1" kern="0" spc="50" dirty="0">
                <a:solidFill>
                  <a:srgbClr val="C9A961"/>
                </a:solidFill>
                <a:latin typeface="Liberation Sans Narrow" pitchFamily="34" charset="0"/>
                <a:ea typeface="Liberation Sans Narrow" pitchFamily="34" charset="-122"/>
                <a:cs typeface="Liberation Sans Narrow" pitchFamily="34" charset="-120"/>
              </a:rPr>
              <a:t>COMPONENT 1</a:t>
            </a:r>
            <a:endParaRPr lang="en-US" sz="800" dirty="0"/>
          </a:p>
        </p:txBody>
      </p:sp>
      <p:sp>
        <p:nvSpPr>
          <p:cNvPr id="24" name="Text 20"/>
          <p:cNvSpPr/>
          <p:nvPr/>
        </p:nvSpPr>
        <p:spPr>
          <a:xfrm>
            <a:off x="6052096" y="2413806"/>
            <a:ext cx="2637276" cy="119993"/>
          </a:xfrm>
          <a:prstGeom prst="rect">
            <a:avLst/>
          </a:prstGeom>
          <a:noFill/>
          <a:ln/>
        </p:spPr>
        <p:txBody>
          <a:bodyPr wrap="square" lIns="0" tIns="0" rIns="0" bIns="0" rtlCol="0" anchor="t"/>
          <a:lstStyle/>
          <a:p>
            <a:pPr marL="0" indent="0" algn="l">
              <a:lnSpc>
                <a:spcPts val="945"/>
              </a:lnSpc>
              <a:buNone/>
            </a:pPr>
            <a:r>
              <a:rPr lang="en-US" sz="675" dirty="0">
                <a:solidFill>
                  <a:srgbClr val="0F2A4A"/>
                </a:solidFill>
                <a:latin typeface="Carlito" pitchFamily="34" charset="0"/>
                <a:ea typeface="Carlito" pitchFamily="34" charset="-122"/>
                <a:cs typeface="Carlito" pitchFamily="34" charset="-120"/>
              </a:rPr>
              <a:t>Threat Modeling</a:t>
            </a:r>
            <a:r>
              <a:rPr lang="en-US" sz="675" dirty="0">
                <a:solidFill>
                  <a:srgbClr val="1A2332"/>
                </a:solidFill>
                <a:latin typeface="Carlito" pitchFamily="34" charset="0"/>
                <a:ea typeface="Carlito" pitchFamily="34" charset="-122"/>
                <a:cs typeface="Carlito" pitchFamily="34" charset="-120"/>
              </a:rPr>
              <a:t> — STRIDE per application context</a:t>
            </a:r>
            <a:endParaRPr lang="en-US" sz="675" dirty="0"/>
          </a:p>
        </p:txBody>
      </p:sp>
      <p:sp>
        <p:nvSpPr>
          <p:cNvPr id="25" name="Text 21"/>
          <p:cNvSpPr/>
          <p:nvPr/>
        </p:nvSpPr>
        <p:spPr>
          <a:xfrm>
            <a:off x="5073402" y="2669530"/>
            <a:ext cx="3613398" cy="277155"/>
          </a:xfrm>
          <a:prstGeom prst="roundRect">
            <a:avLst>
              <a:gd name="adj" fmla="val 27494"/>
            </a:avLst>
          </a:prstGeom>
          <a:solidFill>
            <a:srgbClr val="FFFFFF"/>
          </a:solidFill>
          <a:ln/>
        </p:spPr>
        <p:txBody>
          <a:bodyPr wrap="square" rtlCol="0" anchor="ctr"/>
          <a:lstStyle/>
          <a:p>
            <a:pPr marL="0" indent="0">
              <a:buNone/>
            </a:pPr>
            <a:endParaRPr lang="en-US" dirty="0"/>
          </a:p>
        </p:txBody>
      </p:sp>
      <p:sp>
        <p:nvSpPr>
          <p:cNvPr id="26" name="Shape 22"/>
          <p:cNvSpPr/>
          <p:nvPr/>
        </p:nvSpPr>
        <p:spPr>
          <a:xfrm>
            <a:off x="5073402" y="2673102"/>
            <a:ext cx="3613398" cy="0"/>
          </a:xfrm>
          <a:prstGeom prst="line">
            <a:avLst/>
          </a:prstGeom>
          <a:noFill/>
          <a:ln w="7144">
            <a:solidFill>
              <a:srgbClr val="D8DEE6"/>
            </a:solidFill>
            <a:prstDash val="solid"/>
          </a:ln>
        </p:spPr>
      </p:sp>
      <p:sp>
        <p:nvSpPr>
          <p:cNvPr id="27" name="Shape 23"/>
          <p:cNvSpPr/>
          <p:nvPr/>
        </p:nvSpPr>
        <p:spPr>
          <a:xfrm>
            <a:off x="8683228" y="2669530"/>
            <a:ext cx="0" cy="277155"/>
          </a:xfrm>
          <a:prstGeom prst="line">
            <a:avLst/>
          </a:prstGeom>
          <a:noFill/>
          <a:ln w="7144">
            <a:solidFill>
              <a:srgbClr val="D8DEE6"/>
            </a:solidFill>
            <a:prstDash val="solid"/>
          </a:ln>
        </p:spPr>
      </p:sp>
      <p:sp>
        <p:nvSpPr>
          <p:cNvPr id="28" name="Shape 24"/>
          <p:cNvSpPr/>
          <p:nvPr/>
        </p:nvSpPr>
        <p:spPr>
          <a:xfrm>
            <a:off x="5073402" y="2943113"/>
            <a:ext cx="3613398" cy="0"/>
          </a:xfrm>
          <a:prstGeom prst="line">
            <a:avLst/>
          </a:prstGeom>
          <a:noFill/>
          <a:ln w="7144">
            <a:solidFill>
              <a:srgbClr val="D8DEE6"/>
            </a:solidFill>
            <a:prstDash val="solid"/>
          </a:ln>
        </p:spPr>
      </p:sp>
      <p:sp>
        <p:nvSpPr>
          <p:cNvPr id="29" name="Shape 25"/>
          <p:cNvSpPr/>
          <p:nvPr/>
        </p:nvSpPr>
        <p:spPr>
          <a:xfrm>
            <a:off x="5084118" y="2669530"/>
            <a:ext cx="0" cy="277155"/>
          </a:xfrm>
          <a:prstGeom prst="line">
            <a:avLst/>
          </a:prstGeom>
          <a:noFill/>
          <a:ln w="21431">
            <a:solidFill>
              <a:srgbClr val="C9A961"/>
            </a:solidFill>
            <a:prstDash val="solid"/>
          </a:ln>
        </p:spPr>
      </p:sp>
      <p:sp>
        <p:nvSpPr>
          <p:cNvPr id="30" name="Text 26"/>
          <p:cNvSpPr/>
          <p:nvPr/>
        </p:nvSpPr>
        <p:spPr>
          <a:xfrm>
            <a:off x="5194846" y="2749116"/>
            <a:ext cx="969594" cy="118988"/>
          </a:xfrm>
          <a:prstGeom prst="rect">
            <a:avLst/>
          </a:prstGeom>
          <a:noFill/>
          <a:ln/>
        </p:spPr>
        <p:txBody>
          <a:bodyPr wrap="none" lIns="0" tIns="0" rIns="0" bIns="0" rtlCol="0" anchor="t"/>
          <a:lstStyle/>
          <a:p>
            <a:pPr marL="0" indent="0" algn="l">
              <a:lnSpc>
                <a:spcPts val="928"/>
              </a:lnSpc>
              <a:buNone/>
            </a:pPr>
            <a:r>
              <a:rPr lang="en-US" sz="800" b="1" kern="0" spc="50" dirty="0">
                <a:solidFill>
                  <a:srgbClr val="C9A961"/>
                </a:solidFill>
                <a:latin typeface="Liberation Sans Narrow" pitchFamily="34" charset="0"/>
                <a:ea typeface="Liberation Sans Narrow" pitchFamily="34" charset="-122"/>
                <a:cs typeface="Liberation Sans Narrow" pitchFamily="34" charset="-120"/>
              </a:rPr>
              <a:t>COMPONENT 2</a:t>
            </a:r>
            <a:endParaRPr lang="en-US" sz="800" dirty="0"/>
          </a:p>
        </p:txBody>
      </p:sp>
      <p:sp>
        <p:nvSpPr>
          <p:cNvPr id="31" name="Text 27"/>
          <p:cNvSpPr/>
          <p:nvPr/>
        </p:nvSpPr>
        <p:spPr>
          <a:xfrm>
            <a:off x="6052096" y="2748111"/>
            <a:ext cx="2527548" cy="119993"/>
          </a:xfrm>
          <a:prstGeom prst="rect">
            <a:avLst/>
          </a:prstGeom>
          <a:noFill/>
          <a:ln/>
        </p:spPr>
        <p:txBody>
          <a:bodyPr wrap="square" lIns="0" tIns="0" rIns="0" bIns="0" rtlCol="0" anchor="t"/>
          <a:lstStyle/>
          <a:p>
            <a:pPr marL="0" indent="0" algn="l">
              <a:lnSpc>
                <a:spcPts val="945"/>
              </a:lnSpc>
              <a:buNone/>
            </a:pPr>
            <a:r>
              <a:rPr lang="en-US" sz="675" dirty="0">
                <a:solidFill>
                  <a:srgbClr val="0F2A4A"/>
                </a:solidFill>
                <a:latin typeface="Carlito" pitchFamily="34" charset="0"/>
                <a:ea typeface="Carlito" pitchFamily="34" charset="-122"/>
                <a:cs typeface="Carlito" pitchFamily="34" charset="-120"/>
              </a:rPr>
              <a:t>Hardening Catalog</a:t>
            </a:r>
            <a:r>
              <a:rPr lang="en-US" sz="675" dirty="0">
                <a:solidFill>
                  <a:srgbClr val="1A2332"/>
                </a:solidFill>
                <a:latin typeface="Carlito" pitchFamily="34" charset="0"/>
                <a:ea typeface="Carlito" pitchFamily="34" charset="-122"/>
                <a:cs typeface="Carlito" pitchFamily="34" charset="-120"/>
              </a:rPr>
              <a:t> — 7 control categories mapped to capabilities</a:t>
            </a:r>
            <a:endParaRPr lang="en-US" sz="675" dirty="0"/>
          </a:p>
        </p:txBody>
      </p:sp>
      <p:sp>
        <p:nvSpPr>
          <p:cNvPr id="32" name="Text 28"/>
          <p:cNvSpPr/>
          <p:nvPr/>
        </p:nvSpPr>
        <p:spPr>
          <a:xfrm>
            <a:off x="5073402" y="3003835"/>
            <a:ext cx="3613398" cy="277155"/>
          </a:xfrm>
          <a:prstGeom prst="roundRect">
            <a:avLst>
              <a:gd name="adj" fmla="val 27494"/>
            </a:avLst>
          </a:prstGeom>
          <a:solidFill>
            <a:srgbClr val="FFFFFF"/>
          </a:solidFill>
          <a:ln/>
        </p:spPr>
        <p:txBody>
          <a:bodyPr wrap="square" rtlCol="0" anchor="ctr"/>
          <a:lstStyle/>
          <a:p>
            <a:pPr marL="0" indent="0">
              <a:buNone/>
            </a:pPr>
            <a:endParaRPr lang="en-US" dirty="0"/>
          </a:p>
        </p:txBody>
      </p:sp>
      <p:sp>
        <p:nvSpPr>
          <p:cNvPr id="33" name="Shape 29"/>
          <p:cNvSpPr/>
          <p:nvPr/>
        </p:nvSpPr>
        <p:spPr>
          <a:xfrm>
            <a:off x="5073402" y="3007407"/>
            <a:ext cx="3613398" cy="0"/>
          </a:xfrm>
          <a:prstGeom prst="line">
            <a:avLst/>
          </a:prstGeom>
          <a:noFill/>
          <a:ln w="7144">
            <a:solidFill>
              <a:srgbClr val="D8DEE6"/>
            </a:solidFill>
            <a:prstDash val="solid"/>
          </a:ln>
        </p:spPr>
      </p:sp>
      <p:sp>
        <p:nvSpPr>
          <p:cNvPr id="34" name="Shape 30"/>
          <p:cNvSpPr/>
          <p:nvPr/>
        </p:nvSpPr>
        <p:spPr>
          <a:xfrm>
            <a:off x="8683228" y="3003835"/>
            <a:ext cx="0" cy="277155"/>
          </a:xfrm>
          <a:prstGeom prst="line">
            <a:avLst/>
          </a:prstGeom>
          <a:noFill/>
          <a:ln w="7144">
            <a:solidFill>
              <a:srgbClr val="D8DEE6"/>
            </a:solidFill>
            <a:prstDash val="solid"/>
          </a:ln>
        </p:spPr>
      </p:sp>
      <p:sp>
        <p:nvSpPr>
          <p:cNvPr id="35" name="Shape 31"/>
          <p:cNvSpPr/>
          <p:nvPr/>
        </p:nvSpPr>
        <p:spPr>
          <a:xfrm>
            <a:off x="5073402" y="3277419"/>
            <a:ext cx="3613398" cy="0"/>
          </a:xfrm>
          <a:prstGeom prst="line">
            <a:avLst/>
          </a:prstGeom>
          <a:noFill/>
          <a:ln w="7144">
            <a:solidFill>
              <a:srgbClr val="D8DEE6"/>
            </a:solidFill>
            <a:prstDash val="solid"/>
          </a:ln>
        </p:spPr>
      </p:sp>
      <p:sp>
        <p:nvSpPr>
          <p:cNvPr id="36" name="Shape 32"/>
          <p:cNvSpPr/>
          <p:nvPr/>
        </p:nvSpPr>
        <p:spPr>
          <a:xfrm>
            <a:off x="5084118" y="3003835"/>
            <a:ext cx="0" cy="277155"/>
          </a:xfrm>
          <a:prstGeom prst="line">
            <a:avLst/>
          </a:prstGeom>
          <a:noFill/>
          <a:ln w="21431">
            <a:solidFill>
              <a:srgbClr val="C9A961"/>
            </a:solidFill>
            <a:prstDash val="solid"/>
          </a:ln>
        </p:spPr>
      </p:sp>
      <p:sp>
        <p:nvSpPr>
          <p:cNvPr id="37" name="Text 33"/>
          <p:cNvSpPr/>
          <p:nvPr/>
        </p:nvSpPr>
        <p:spPr>
          <a:xfrm>
            <a:off x="5194846" y="3083421"/>
            <a:ext cx="969594" cy="118988"/>
          </a:xfrm>
          <a:prstGeom prst="rect">
            <a:avLst/>
          </a:prstGeom>
          <a:noFill/>
          <a:ln/>
        </p:spPr>
        <p:txBody>
          <a:bodyPr wrap="none" lIns="0" tIns="0" rIns="0" bIns="0" rtlCol="0" anchor="t"/>
          <a:lstStyle/>
          <a:p>
            <a:pPr marL="0" indent="0" algn="l">
              <a:lnSpc>
                <a:spcPts val="928"/>
              </a:lnSpc>
              <a:buNone/>
            </a:pPr>
            <a:r>
              <a:rPr lang="en-US" sz="800" b="1" kern="0" spc="50" dirty="0">
                <a:solidFill>
                  <a:srgbClr val="C9A961"/>
                </a:solidFill>
                <a:latin typeface="Liberation Sans Narrow" pitchFamily="34" charset="0"/>
                <a:ea typeface="Liberation Sans Narrow" pitchFamily="34" charset="-122"/>
                <a:cs typeface="Liberation Sans Narrow" pitchFamily="34" charset="-120"/>
              </a:rPr>
              <a:t>COMPONENT 3</a:t>
            </a:r>
            <a:endParaRPr lang="en-US" sz="800" dirty="0"/>
          </a:p>
        </p:txBody>
      </p:sp>
      <p:sp>
        <p:nvSpPr>
          <p:cNvPr id="38" name="Text 34"/>
          <p:cNvSpPr/>
          <p:nvPr/>
        </p:nvSpPr>
        <p:spPr>
          <a:xfrm>
            <a:off x="6052096" y="3082417"/>
            <a:ext cx="2527548" cy="119993"/>
          </a:xfrm>
          <a:prstGeom prst="rect">
            <a:avLst/>
          </a:prstGeom>
          <a:noFill/>
          <a:ln/>
        </p:spPr>
        <p:txBody>
          <a:bodyPr wrap="square" lIns="0" tIns="0" rIns="0" bIns="0" rtlCol="0" anchor="t"/>
          <a:lstStyle/>
          <a:p>
            <a:pPr marL="0" indent="0" algn="l">
              <a:lnSpc>
                <a:spcPts val="945"/>
              </a:lnSpc>
              <a:buNone/>
            </a:pPr>
            <a:r>
              <a:rPr lang="en-US" sz="675" dirty="0">
                <a:solidFill>
                  <a:srgbClr val="0F2A4A"/>
                </a:solidFill>
                <a:latin typeface="Carlito" pitchFamily="34" charset="0"/>
                <a:ea typeface="Carlito" pitchFamily="34" charset="-122"/>
                <a:cs typeface="Carlito" pitchFamily="34" charset="-120"/>
              </a:rPr>
              <a:t>Verification</a:t>
            </a:r>
            <a:r>
              <a:rPr lang="en-US" sz="675" dirty="0">
                <a:solidFill>
                  <a:srgbClr val="1A2332"/>
                </a:solidFill>
                <a:latin typeface="Carlito" pitchFamily="34" charset="0"/>
                <a:ea typeface="Carlito" pitchFamily="34" charset="-122"/>
                <a:cs typeface="Carlito" pitchFamily="34" charset="-120"/>
              </a:rPr>
              <a:t> — Test harness in CI/CD proving each control</a:t>
            </a:r>
            <a:endParaRPr lang="en-US" sz="675" dirty="0"/>
          </a:p>
        </p:txBody>
      </p:sp>
      <p:sp>
        <p:nvSpPr>
          <p:cNvPr id="39" name="Text 35"/>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40" name="Text 36"/>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17 / 21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357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87536"/>
            <a:ext cx="2368600" cy="156520"/>
          </a:xfrm>
          <a:prstGeom prst="rect">
            <a:avLst/>
          </a:prstGeom>
          <a:noFill/>
          <a:ln/>
        </p:spPr>
        <p:txBody>
          <a:bodyPr wrap="non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08 · THE ARMET APPROACH</a:t>
            </a:r>
            <a:endParaRPr lang="en-US" sz="800" dirty="0"/>
          </a:p>
        </p:txBody>
      </p:sp>
      <p:sp>
        <p:nvSpPr>
          <p:cNvPr id="5" name="Text 2"/>
          <p:cNvSpPr/>
          <p:nvPr/>
        </p:nvSpPr>
        <p:spPr>
          <a:xfrm>
            <a:off x="457200" y="471488"/>
            <a:ext cx="3415338" cy="198266"/>
          </a:xfrm>
          <a:prstGeom prst="rect">
            <a:avLst/>
          </a:prstGeom>
          <a:noFill/>
          <a:ln/>
        </p:spPr>
        <p:txBody>
          <a:bodyPr wrap="square" lIns="0" tIns="0" rIns="0" bIns="0" rtlCol="0" anchor="t">
            <a:normAutofit/>
          </a:bodyPr>
          <a:lstStyle/>
          <a:p>
            <a:pPr marL="0" indent="0" algn="l">
              <a:lnSpc>
                <a:spcPts val="1553"/>
              </a:lnSpc>
              <a:buNone/>
            </a:pPr>
            <a:r>
              <a:rPr lang="en-US" sz="1350" b="1" kern="0" spc="-20" dirty="0">
                <a:solidFill>
                  <a:srgbClr val="0F2A4A"/>
                </a:solidFill>
                <a:latin typeface="Liberation Sans Narrow" pitchFamily="34" charset="0"/>
                <a:ea typeface="Liberation Sans Narrow" pitchFamily="34" charset="-122"/>
                <a:cs typeface="Liberation Sans Narrow" pitchFamily="34" charset="-120"/>
              </a:rPr>
              <a:t>ARMET — 7-Step Hardening Methodology</a:t>
            </a:r>
            <a:endParaRPr lang="en-US" sz="1350" dirty="0"/>
          </a:p>
        </p:txBody>
      </p:sp>
      <p:sp>
        <p:nvSpPr>
          <p:cNvPr id="6" name="Text 3"/>
          <p:cNvSpPr/>
          <p:nvPr/>
        </p:nvSpPr>
        <p:spPr>
          <a:xfrm>
            <a:off x="457200" y="697185"/>
            <a:ext cx="3104852" cy="164592"/>
          </a:xfrm>
          <a:prstGeom prst="rect">
            <a:avLst/>
          </a:prstGeom>
          <a:noFill/>
          <a:ln/>
        </p:spPr>
        <p:txBody>
          <a:bodyPr wrap="square" lIns="0" tIns="0" rIns="0" bIns="0" rtlCol="0" anchor="t"/>
          <a:lstStyle/>
          <a:p>
            <a:pPr marL="0" indent="0" algn="l">
              <a:lnSpc>
                <a:spcPts val="1097"/>
              </a:lnSpc>
              <a:buNone/>
            </a:pPr>
            <a:r>
              <a:rPr lang="en-US" sz="731" dirty="0">
                <a:solidFill>
                  <a:srgbClr val="6B7280"/>
                </a:solidFill>
                <a:latin typeface="Carlito" pitchFamily="34" charset="0"/>
                <a:ea typeface="Carlito" pitchFamily="34" charset="-122"/>
                <a:cs typeface="Carlito" pitchFamily="34" charset="-120"/>
              </a:rPr>
              <a:t>A linear pipeline feeding a continuous-improvement feedback loop.</a:t>
            </a:r>
            <a:endParaRPr lang="en-US" sz="731" dirty="0"/>
          </a:p>
        </p:txBody>
      </p:sp>
      <p:sp>
        <p:nvSpPr>
          <p:cNvPr id="7" name="Text 4"/>
          <p:cNvSpPr/>
          <p:nvPr/>
        </p:nvSpPr>
        <p:spPr>
          <a:xfrm>
            <a:off x="8022766" y="718617"/>
            <a:ext cx="855286" cy="164592"/>
          </a:xfrm>
          <a:prstGeom prst="rect">
            <a:avLst/>
          </a:prstGeom>
          <a:noFill/>
          <a:ln/>
        </p:spPr>
        <p:txBody>
          <a:bodyPr wrap="none" lIns="0" tIns="0" rIns="0" bIns="0" rtlCol="0" anchor="t"/>
          <a:lstStyle/>
          <a:p>
            <a:pPr marL="0" indent="0" algn="l">
              <a:lnSpc>
                <a:spcPts val="928"/>
              </a:lnSpc>
              <a:buNone/>
            </a:pPr>
            <a:r>
              <a:rPr lang="en-US" sz="619" kern="0" spc="93" dirty="0">
                <a:solidFill>
                  <a:srgbClr val="6B7280"/>
                </a:solidFill>
                <a:latin typeface="Courier New" pitchFamily="34" charset="0"/>
                <a:ea typeface="Courier New" pitchFamily="34" charset="-122"/>
                <a:cs typeface="Courier New" pitchFamily="34" charset="-120"/>
              </a:rPr>
              <a:t>BLOCK DIAGRAM</a:t>
            </a:r>
            <a:endParaRPr lang="en-US" sz="619" dirty="0"/>
          </a:p>
        </p:txBody>
      </p:sp>
      <p:sp>
        <p:nvSpPr>
          <p:cNvPr id="8" name="Text 5"/>
          <p:cNvSpPr/>
          <p:nvPr/>
        </p:nvSpPr>
        <p:spPr>
          <a:xfrm>
            <a:off x="460772" y="968648"/>
            <a:ext cx="1100138" cy="707231"/>
          </a:xfrm>
          <a:prstGeom prst="roundRect">
            <a:avLst>
              <a:gd name="adj" fmla="val 8081"/>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9" name="Text 6"/>
          <p:cNvSpPr/>
          <p:nvPr/>
        </p:nvSpPr>
        <p:spPr>
          <a:xfrm>
            <a:off x="524808" y="899461"/>
            <a:ext cx="223310" cy="158020"/>
          </a:xfrm>
          <a:prstGeom prst="roundRect">
            <a:avLst>
              <a:gd name="adj" fmla="val 6021690"/>
            </a:avLst>
          </a:prstGeom>
          <a:solidFill>
            <a:srgbClr val="C9A961"/>
          </a:solidFill>
          <a:ln/>
        </p:spPr>
        <p:txBody>
          <a:bodyPr wrap="square" rtlCol="0" anchor="ctr"/>
          <a:lstStyle/>
          <a:p>
            <a:pPr marL="0" indent="0">
              <a:buNone/>
            </a:pPr>
            <a:endParaRPr lang="en-US" dirty="0"/>
          </a:p>
        </p:txBody>
      </p:sp>
      <p:sp>
        <p:nvSpPr>
          <p:cNvPr id="10" name="Text 7"/>
          <p:cNvSpPr/>
          <p:nvPr/>
        </p:nvSpPr>
        <p:spPr>
          <a:xfrm>
            <a:off x="535781" y="907926"/>
            <a:ext cx="201364" cy="141089"/>
          </a:xfrm>
          <a:prstGeom prst="rect">
            <a:avLst/>
          </a:prstGeom>
          <a:noFill/>
          <a:ln/>
        </p:spPr>
        <p:txBody>
          <a:bodyPr wrap="none" lIns="0" tIns="0" rIns="0" bIns="0" rtlCol="0" anchor="ctr"/>
          <a:lstStyle/>
          <a:p>
            <a:pPr marL="0" indent="0" algn="ctr">
              <a:lnSpc>
                <a:spcPts val="886"/>
              </a:lnSpc>
              <a:buNone/>
            </a:pPr>
            <a:r>
              <a:rPr lang="en-US" sz="800" b="1" kern="0" spc="47" dirty="0">
                <a:solidFill>
                  <a:srgbClr val="0F2A4A"/>
                </a:solidFill>
                <a:latin typeface="Liberation Sans Narrow" pitchFamily="34" charset="0"/>
                <a:ea typeface="Liberation Sans Narrow" pitchFamily="34" charset="-122"/>
                <a:cs typeface="Liberation Sans Narrow" pitchFamily="34" charset="-120"/>
              </a:rPr>
              <a:t>01</a:t>
            </a:r>
            <a:endParaRPr lang="en-US" sz="800" dirty="0"/>
          </a:p>
        </p:txBody>
      </p:sp>
      <p:sp>
        <p:nvSpPr>
          <p:cNvPr id="11" name="Text 8"/>
          <p:cNvSpPr/>
          <p:nvPr/>
        </p:nvSpPr>
        <p:spPr>
          <a:xfrm>
            <a:off x="535781" y="1076809"/>
            <a:ext cx="142875" cy="142875"/>
          </a:xfrm>
          <a:prstGeom prst="rect">
            <a:avLst/>
          </a:prstGeom>
          <a:noFill/>
          <a:ln/>
        </p:spPr>
        <p:txBody>
          <a:bodyPr wrap="none" lIns="0" tIns="0" rIns="0" bIns="0" rtlCol="0" anchor="ctr"/>
          <a:lstStyle/>
          <a:p>
            <a:pPr marL="0" indent="0" algn="ctr">
              <a:buNone/>
            </a:pPr>
            <a:r>
              <a:rPr lang="en-US" sz="1406" dirty="0">
                <a:solidFill>
                  <a:srgbClr val="0F2A4A"/>
                </a:solidFill>
                <a:latin typeface="Segoe UI Symbol" pitchFamily="34" charset="0"/>
                <a:ea typeface="Segoe UI Symbol" pitchFamily="34" charset="-122"/>
                <a:cs typeface="Segoe UI Symbol" pitchFamily="34" charset="-120"/>
              </a:rPr>
              <a:t>▣</a:t>
            </a:r>
            <a:endParaRPr lang="en-US" sz="1406" dirty="0"/>
          </a:p>
        </p:txBody>
      </p:sp>
      <p:sp>
        <p:nvSpPr>
          <p:cNvPr id="12" name="Text 9"/>
          <p:cNvSpPr/>
          <p:nvPr/>
        </p:nvSpPr>
        <p:spPr>
          <a:xfrm>
            <a:off x="721519" y="1057945"/>
            <a:ext cx="764381" cy="252187"/>
          </a:xfrm>
          <a:prstGeom prst="rect">
            <a:avLst/>
          </a:prstGeom>
          <a:noFill/>
          <a:ln/>
        </p:spPr>
        <p:txBody>
          <a:bodyPr wrap="square" lIns="0" tIns="0" rIns="0" bIns="0" rtlCol="0" anchor="t"/>
          <a:lstStyle/>
          <a:p>
            <a:pPr marL="0" indent="0" algn="l">
              <a:lnSpc>
                <a:spcPts val="712"/>
              </a:lnSpc>
              <a:buNone/>
            </a:pPr>
            <a:r>
              <a:rPr lang="en-US" sz="800" b="1" kern="0" spc="31" dirty="0">
                <a:solidFill>
                  <a:srgbClr val="0F2A4A"/>
                </a:solidFill>
                <a:latin typeface="Carlito" pitchFamily="34" charset="0"/>
                <a:ea typeface="Carlito" pitchFamily="34" charset="-122"/>
                <a:cs typeface="Carlito" pitchFamily="34" charset="-120"/>
              </a:rPr>
              <a:t>ASSET INVENTORY</a:t>
            </a:r>
            <a:endParaRPr lang="en-US" sz="800" dirty="0"/>
          </a:p>
        </p:txBody>
      </p:sp>
      <p:sp>
        <p:nvSpPr>
          <p:cNvPr id="13" name="Text 10"/>
          <p:cNvSpPr/>
          <p:nvPr/>
        </p:nvSpPr>
        <p:spPr>
          <a:xfrm>
            <a:off x="535781" y="1267123"/>
            <a:ext cx="950119" cy="296200"/>
          </a:xfrm>
          <a:prstGeom prst="rect">
            <a:avLst/>
          </a:prstGeom>
          <a:noFill/>
          <a:ln/>
        </p:spPr>
        <p:txBody>
          <a:bodyPr wrap="square" lIns="0" tIns="0" rIns="0" bIns="0" rtlCol="0" anchor="t"/>
          <a:lstStyle/>
          <a:p>
            <a:pPr marL="0" indent="0" algn="l">
              <a:lnSpc>
                <a:spcPts val="797"/>
              </a:lnSpc>
              <a:buNone/>
            </a:pPr>
            <a:r>
              <a:rPr lang="en-US" sz="800" dirty="0">
                <a:solidFill>
                  <a:srgbClr val="4A5568"/>
                </a:solidFill>
                <a:latin typeface="Carlito" pitchFamily="34" charset="0"/>
                <a:ea typeface="Carlito" pitchFamily="34" charset="-122"/>
                <a:cs typeface="Carlito" pitchFamily="34" charset="-120"/>
              </a:rPr>
              <a:t>Enumerate device, OS, libs, data</a:t>
            </a:r>
            <a:endParaRPr lang="en-US" sz="800" dirty="0"/>
          </a:p>
        </p:txBody>
      </p:sp>
      <p:sp>
        <p:nvSpPr>
          <p:cNvPr id="14" name="Text 11"/>
          <p:cNvSpPr/>
          <p:nvPr/>
        </p:nvSpPr>
        <p:spPr>
          <a:xfrm>
            <a:off x="1564481" y="1316906"/>
            <a:ext cx="185738" cy="10716"/>
          </a:xfrm>
          <a:prstGeom prst="rect">
            <a:avLst/>
          </a:prstGeom>
          <a:solidFill>
            <a:srgbClr val="0F2A4A"/>
          </a:solidFill>
          <a:ln/>
        </p:spPr>
        <p:txBody>
          <a:bodyPr wrap="square" rtlCol="0" anchor="ctr"/>
          <a:lstStyle/>
          <a:p>
            <a:pPr marL="0" indent="0">
              <a:buNone/>
            </a:pPr>
            <a:endParaRPr lang="en-US" dirty="0"/>
          </a:p>
        </p:txBody>
      </p:sp>
      <p:sp>
        <p:nvSpPr>
          <p:cNvPr id="15" name="Text 12"/>
          <p:cNvSpPr/>
          <p:nvPr/>
        </p:nvSpPr>
        <p:spPr>
          <a:xfrm>
            <a:off x="1753791" y="968648"/>
            <a:ext cx="1100138" cy="707231"/>
          </a:xfrm>
          <a:prstGeom prst="roundRect">
            <a:avLst>
              <a:gd name="adj" fmla="val 8081"/>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6" name="Text 13"/>
          <p:cNvSpPr/>
          <p:nvPr/>
        </p:nvSpPr>
        <p:spPr>
          <a:xfrm>
            <a:off x="1817827" y="899461"/>
            <a:ext cx="223310" cy="158020"/>
          </a:xfrm>
          <a:prstGeom prst="roundRect">
            <a:avLst>
              <a:gd name="adj" fmla="val 6021690"/>
            </a:avLst>
          </a:prstGeom>
          <a:solidFill>
            <a:srgbClr val="C9A961"/>
          </a:solidFill>
          <a:ln/>
        </p:spPr>
        <p:txBody>
          <a:bodyPr wrap="square" rtlCol="0" anchor="ctr"/>
          <a:lstStyle/>
          <a:p>
            <a:pPr marL="0" indent="0">
              <a:buNone/>
            </a:pPr>
            <a:endParaRPr lang="en-US" dirty="0"/>
          </a:p>
        </p:txBody>
      </p:sp>
      <p:sp>
        <p:nvSpPr>
          <p:cNvPr id="17" name="Text 14"/>
          <p:cNvSpPr/>
          <p:nvPr/>
        </p:nvSpPr>
        <p:spPr>
          <a:xfrm>
            <a:off x="1828800" y="907926"/>
            <a:ext cx="201364" cy="141089"/>
          </a:xfrm>
          <a:prstGeom prst="rect">
            <a:avLst/>
          </a:prstGeom>
          <a:noFill/>
          <a:ln/>
        </p:spPr>
        <p:txBody>
          <a:bodyPr wrap="none" lIns="0" tIns="0" rIns="0" bIns="0" rtlCol="0" anchor="ctr"/>
          <a:lstStyle/>
          <a:p>
            <a:pPr marL="0" indent="0" algn="ctr">
              <a:lnSpc>
                <a:spcPts val="886"/>
              </a:lnSpc>
              <a:buNone/>
            </a:pPr>
            <a:r>
              <a:rPr lang="en-US" sz="800" b="1" kern="0" spc="47" dirty="0">
                <a:solidFill>
                  <a:srgbClr val="0F2A4A"/>
                </a:solidFill>
                <a:latin typeface="Liberation Sans Narrow" pitchFamily="34" charset="0"/>
                <a:ea typeface="Liberation Sans Narrow" pitchFamily="34" charset="-122"/>
                <a:cs typeface="Liberation Sans Narrow" pitchFamily="34" charset="-120"/>
              </a:rPr>
              <a:t>02</a:t>
            </a:r>
            <a:endParaRPr lang="en-US" sz="800" dirty="0"/>
          </a:p>
        </p:txBody>
      </p:sp>
      <p:sp>
        <p:nvSpPr>
          <p:cNvPr id="18" name="Text 15"/>
          <p:cNvSpPr/>
          <p:nvPr/>
        </p:nvSpPr>
        <p:spPr>
          <a:xfrm>
            <a:off x="1828800" y="1057945"/>
            <a:ext cx="142875" cy="142875"/>
          </a:xfrm>
          <a:prstGeom prst="rect">
            <a:avLst/>
          </a:prstGeom>
          <a:noFill/>
          <a:ln/>
        </p:spPr>
        <p:txBody>
          <a:bodyPr wrap="none" lIns="0" tIns="0" rIns="0" bIns="0" rtlCol="0" anchor="ctr"/>
          <a:lstStyle/>
          <a:p>
            <a:pPr marL="0" indent="0" algn="ctr">
              <a:buNone/>
            </a:pPr>
            <a:r>
              <a:rPr lang="en-US" sz="1406" dirty="0">
                <a:solidFill>
                  <a:srgbClr val="0F2A4A"/>
                </a:solidFill>
                <a:latin typeface="Segoe UI Symbol" pitchFamily="34" charset="0"/>
                <a:ea typeface="Segoe UI Symbol" pitchFamily="34" charset="-122"/>
                <a:cs typeface="Segoe UI Symbol" pitchFamily="34" charset="-120"/>
              </a:rPr>
              <a:t>⛨</a:t>
            </a:r>
            <a:endParaRPr lang="en-US" sz="1406" dirty="0"/>
          </a:p>
        </p:txBody>
      </p:sp>
      <p:sp>
        <p:nvSpPr>
          <p:cNvPr id="19" name="Text 16"/>
          <p:cNvSpPr/>
          <p:nvPr/>
        </p:nvSpPr>
        <p:spPr>
          <a:xfrm>
            <a:off x="2014538" y="1084176"/>
            <a:ext cx="764381" cy="126094"/>
          </a:xfrm>
          <a:prstGeom prst="rect">
            <a:avLst/>
          </a:prstGeom>
          <a:noFill/>
          <a:ln/>
        </p:spPr>
        <p:txBody>
          <a:bodyPr wrap="none" lIns="0" tIns="0" rIns="0" bIns="0" rtlCol="0" anchor="t"/>
          <a:lstStyle/>
          <a:p>
            <a:pPr marL="0" indent="0" algn="l">
              <a:lnSpc>
                <a:spcPts val="712"/>
              </a:lnSpc>
              <a:buNone/>
            </a:pPr>
            <a:r>
              <a:rPr lang="en-US" sz="619" b="1" kern="0" spc="31" dirty="0">
                <a:solidFill>
                  <a:srgbClr val="0F2A4A"/>
                </a:solidFill>
                <a:latin typeface="Carlito" pitchFamily="34" charset="0"/>
                <a:ea typeface="Carlito" pitchFamily="34" charset="-122"/>
                <a:cs typeface="Carlito" pitchFamily="34" charset="-120"/>
              </a:rPr>
              <a:t>THREAT MODEL</a:t>
            </a:r>
            <a:endParaRPr lang="en-US" sz="619" dirty="0"/>
          </a:p>
        </p:txBody>
      </p:sp>
      <p:sp>
        <p:nvSpPr>
          <p:cNvPr id="20" name="Text 17"/>
          <p:cNvSpPr/>
          <p:nvPr/>
        </p:nvSpPr>
        <p:spPr>
          <a:xfrm>
            <a:off x="1828800" y="1229395"/>
            <a:ext cx="950119" cy="296200"/>
          </a:xfrm>
          <a:prstGeom prst="rect">
            <a:avLst/>
          </a:prstGeom>
          <a:noFill/>
          <a:ln/>
        </p:spPr>
        <p:txBody>
          <a:bodyPr wrap="square" lIns="0" tIns="0" rIns="0" bIns="0" rtlCol="0" anchor="t"/>
          <a:lstStyle/>
          <a:p>
            <a:pPr marL="0" indent="0" algn="l">
              <a:lnSpc>
                <a:spcPts val="797"/>
              </a:lnSpc>
              <a:buNone/>
            </a:pPr>
            <a:r>
              <a:rPr lang="en-US" sz="800" dirty="0">
                <a:solidFill>
                  <a:srgbClr val="4A5568"/>
                </a:solidFill>
                <a:latin typeface="Carlito" pitchFamily="34" charset="0"/>
                <a:ea typeface="Carlito" pitchFamily="34" charset="-122"/>
                <a:cs typeface="Carlito" pitchFamily="34" charset="-120"/>
              </a:rPr>
              <a:t>STRIDE per application context</a:t>
            </a:r>
            <a:endParaRPr lang="en-US" sz="800" dirty="0"/>
          </a:p>
        </p:txBody>
      </p:sp>
      <p:sp>
        <p:nvSpPr>
          <p:cNvPr id="21" name="Text 18"/>
          <p:cNvSpPr/>
          <p:nvPr/>
        </p:nvSpPr>
        <p:spPr>
          <a:xfrm>
            <a:off x="2857500" y="1316906"/>
            <a:ext cx="185738" cy="10716"/>
          </a:xfrm>
          <a:prstGeom prst="rect">
            <a:avLst/>
          </a:prstGeom>
          <a:solidFill>
            <a:srgbClr val="0F2A4A"/>
          </a:solidFill>
          <a:ln/>
        </p:spPr>
        <p:txBody>
          <a:bodyPr wrap="square" rtlCol="0" anchor="ctr"/>
          <a:lstStyle/>
          <a:p>
            <a:pPr marL="0" indent="0">
              <a:buNone/>
            </a:pPr>
            <a:endParaRPr lang="en-US" dirty="0"/>
          </a:p>
        </p:txBody>
      </p:sp>
      <p:sp>
        <p:nvSpPr>
          <p:cNvPr id="22" name="Text 19"/>
          <p:cNvSpPr/>
          <p:nvPr/>
        </p:nvSpPr>
        <p:spPr>
          <a:xfrm>
            <a:off x="3046809" y="968648"/>
            <a:ext cx="1100138" cy="707231"/>
          </a:xfrm>
          <a:prstGeom prst="roundRect">
            <a:avLst>
              <a:gd name="adj" fmla="val 8081"/>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23" name="Text 20"/>
          <p:cNvSpPr/>
          <p:nvPr/>
        </p:nvSpPr>
        <p:spPr>
          <a:xfrm>
            <a:off x="3110846" y="899461"/>
            <a:ext cx="223310" cy="158020"/>
          </a:xfrm>
          <a:prstGeom prst="roundRect">
            <a:avLst>
              <a:gd name="adj" fmla="val 6021690"/>
            </a:avLst>
          </a:prstGeom>
          <a:solidFill>
            <a:srgbClr val="C9A961"/>
          </a:solidFill>
          <a:ln/>
        </p:spPr>
        <p:txBody>
          <a:bodyPr wrap="square" rtlCol="0" anchor="ctr"/>
          <a:lstStyle/>
          <a:p>
            <a:pPr marL="0" indent="0">
              <a:buNone/>
            </a:pPr>
            <a:endParaRPr lang="en-US" dirty="0"/>
          </a:p>
        </p:txBody>
      </p:sp>
      <p:sp>
        <p:nvSpPr>
          <p:cNvPr id="24" name="Text 21"/>
          <p:cNvSpPr/>
          <p:nvPr/>
        </p:nvSpPr>
        <p:spPr>
          <a:xfrm>
            <a:off x="3121819" y="907926"/>
            <a:ext cx="201364" cy="141089"/>
          </a:xfrm>
          <a:prstGeom prst="rect">
            <a:avLst/>
          </a:prstGeom>
          <a:noFill/>
          <a:ln/>
        </p:spPr>
        <p:txBody>
          <a:bodyPr wrap="none" lIns="0" tIns="0" rIns="0" bIns="0" rtlCol="0" anchor="ctr"/>
          <a:lstStyle/>
          <a:p>
            <a:pPr marL="0" indent="0" algn="ctr">
              <a:lnSpc>
                <a:spcPts val="886"/>
              </a:lnSpc>
              <a:buNone/>
            </a:pPr>
            <a:r>
              <a:rPr lang="en-US" sz="800" b="1" kern="0" spc="47" dirty="0">
                <a:solidFill>
                  <a:srgbClr val="0F2A4A"/>
                </a:solidFill>
                <a:latin typeface="Liberation Sans Narrow" pitchFamily="34" charset="0"/>
                <a:ea typeface="Liberation Sans Narrow" pitchFamily="34" charset="-122"/>
                <a:cs typeface="Liberation Sans Narrow" pitchFamily="34" charset="-120"/>
              </a:rPr>
              <a:t>03</a:t>
            </a:r>
            <a:endParaRPr lang="en-US" sz="800" dirty="0"/>
          </a:p>
        </p:txBody>
      </p:sp>
      <p:sp>
        <p:nvSpPr>
          <p:cNvPr id="25" name="Text 22"/>
          <p:cNvSpPr/>
          <p:nvPr/>
        </p:nvSpPr>
        <p:spPr>
          <a:xfrm>
            <a:off x="3121819" y="1057945"/>
            <a:ext cx="142875" cy="142875"/>
          </a:xfrm>
          <a:prstGeom prst="rect">
            <a:avLst/>
          </a:prstGeom>
          <a:noFill/>
          <a:ln/>
        </p:spPr>
        <p:txBody>
          <a:bodyPr wrap="none" lIns="0" tIns="0" rIns="0" bIns="0" rtlCol="0" anchor="ctr"/>
          <a:lstStyle/>
          <a:p>
            <a:pPr marL="0" indent="0" algn="ctr">
              <a:buNone/>
            </a:pPr>
            <a:r>
              <a:rPr lang="en-US" sz="1406" dirty="0">
                <a:solidFill>
                  <a:srgbClr val="0F2A4A"/>
                </a:solidFill>
                <a:latin typeface="Segoe UI Symbol" pitchFamily="34" charset="0"/>
                <a:ea typeface="Segoe UI Symbol" pitchFamily="34" charset="-122"/>
                <a:cs typeface="Segoe UI Symbol" pitchFamily="34" charset="-120"/>
              </a:rPr>
              <a:t>▦</a:t>
            </a:r>
            <a:endParaRPr lang="en-US" sz="1406" dirty="0"/>
          </a:p>
        </p:txBody>
      </p:sp>
      <p:sp>
        <p:nvSpPr>
          <p:cNvPr id="26" name="Text 23"/>
          <p:cNvSpPr/>
          <p:nvPr/>
        </p:nvSpPr>
        <p:spPr>
          <a:xfrm>
            <a:off x="3307556" y="1084176"/>
            <a:ext cx="764381" cy="126094"/>
          </a:xfrm>
          <a:prstGeom prst="rect">
            <a:avLst/>
          </a:prstGeom>
          <a:noFill/>
          <a:ln/>
        </p:spPr>
        <p:txBody>
          <a:bodyPr wrap="none" lIns="0" tIns="0" rIns="0" bIns="0" rtlCol="0" anchor="t"/>
          <a:lstStyle/>
          <a:p>
            <a:pPr marL="0" indent="0" algn="l">
              <a:lnSpc>
                <a:spcPts val="712"/>
              </a:lnSpc>
              <a:buNone/>
            </a:pPr>
            <a:r>
              <a:rPr lang="en-US" sz="619" b="1" kern="0" spc="31" dirty="0">
                <a:solidFill>
                  <a:srgbClr val="0F2A4A"/>
                </a:solidFill>
                <a:latin typeface="Carlito" pitchFamily="34" charset="0"/>
                <a:ea typeface="Carlito" pitchFamily="34" charset="-122"/>
                <a:cs typeface="Carlito" pitchFamily="34" charset="-120"/>
              </a:rPr>
              <a:t>CAPABILITY MAP</a:t>
            </a:r>
            <a:endParaRPr lang="en-US" sz="619" dirty="0"/>
          </a:p>
        </p:txBody>
      </p:sp>
      <p:sp>
        <p:nvSpPr>
          <p:cNvPr id="27" name="Text 24"/>
          <p:cNvSpPr/>
          <p:nvPr/>
        </p:nvSpPr>
        <p:spPr>
          <a:xfrm>
            <a:off x="3121819" y="1229395"/>
            <a:ext cx="950119" cy="296200"/>
          </a:xfrm>
          <a:prstGeom prst="rect">
            <a:avLst/>
          </a:prstGeom>
          <a:noFill/>
          <a:ln/>
        </p:spPr>
        <p:txBody>
          <a:bodyPr wrap="square" lIns="0" tIns="0" rIns="0" bIns="0" rtlCol="0" anchor="t"/>
          <a:lstStyle/>
          <a:p>
            <a:pPr marL="0" indent="0" algn="l">
              <a:lnSpc>
                <a:spcPts val="797"/>
              </a:lnSpc>
              <a:buNone/>
            </a:pPr>
            <a:r>
              <a:rPr lang="en-US" sz="800" dirty="0">
                <a:solidFill>
                  <a:srgbClr val="4A5568"/>
                </a:solidFill>
                <a:latin typeface="Carlito" pitchFamily="34" charset="0"/>
                <a:ea typeface="Carlito" pitchFamily="34" charset="-122"/>
                <a:cs typeface="Carlito" pitchFamily="34" charset="-120"/>
              </a:rPr>
              <a:t>TEE, crypto, MPU, secure boot</a:t>
            </a:r>
            <a:endParaRPr lang="en-US" sz="800" dirty="0"/>
          </a:p>
        </p:txBody>
      </p:sp>
      <p:sp>
        <p:nvSpPr>
          <p:cNvPr id="28" name="Text 25"/>
          <p:cNvSpPr/>
          <p:nvPr/>
        </p:nvSpPr>
        <p:spPr>
          <a:xfrm>
            <a:off x="4150519" y="1316906"/>
            <a:ext cx="185738" cy="10716"/>
          </a:xfrm>
          <a:prstGeom prst="rect">
            <a:avLst/>
          </a:prstGeom>
          <a:solidFill>
            <a:srgbClr val="0F2A4A"/>
          </a:solidFill>
          <a:ln/>
        </p:spPr>
        <p:txBody>
          <a:bodyPr wrap="square" rtlCol="0" anchor="ctr"/>
          <a:lstStyle/>
          <a:p>
            <a:pPr marL="0" indent="0">
              <a:buNone/>
            </a:pPr>
            <a:endParaRPr lang="en-US" dirty="0"/>
          </a:p>
        </p:txBody>
      </p:sp>
      <p:sp>
        <p:nvSpPr>
          <p:cNvPr id="29" name="Text 26"/>
          <p:cNvSpPr/>
          <p:nvPr/>
        </p:nvSpPr>
        <p:spPr>
          <a:xfrm>
            <a:off x="4339828" y="968648"/>
            <a:ext cx="1100138" cy="707231"/>
          </a:xfrm>
          <a:prstGeom prst="roundRect">
            <a:avLst>
              <a:gd name="adj" fmla="val 8081"/>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30" name="Text 27"/>
          <p:cNvSpPr/>
          <p:nvPr/>
        </p:nvSpPr>
        <p:spPr>
          <a:xfrm>
            <a:off x="4403865" y="899461"/>
            <a:ext cx="223310" cy="158020"/>
          </a:xfrm>
          <a:prstGeom prst="roundRect">
            <a:avLst>
              <a:gd name="adj" fmla="val 6021690"/>
            </a:avLst>
          </a:prstGeom>
          <a:solidFill>
            <a:srgbClr val="C9A961"/>
          </a:solidFill>
          <a:ln/>
        </p:spPr>
        <p:txBody>
          <a:bodyPr wrap="square" rtlCol="0" anchor="ctr"/>
          <a:lstStyle/>
          <a:p>
            <a:pPr marL="0" indent="0">
              <a:buNone/>
            </a:pPr>
            <a:endParaRPr lang="en-US" dirty="0"/>
          </a:p>
        </p:txBody>
      </p:sp>
      <p:sp>
        <p:nvSpPr>
          <p:cNvPr id="31" name="Text 28"/>
          <p:cNvSpPr/>
          <p:nvPr/>
        </p:nvSpPr>
        <p:spPr>
          <a:xfrm>
            <a:off x="4414838" y="907926"/>
            <a:ext cx="201364" cy="141089"/>
          </a:xfrm>
          <a:prstGeom prst="rect">
            <a:avLst/>
          </a:prstGeom>
          <a:noFill/>
          <a:ln/>
        </p:spPr>
        <p:txBody>
          <a:bodyPr wrap="none" lIns="0" tIns="0" rIns="0" bIns="0" rtlCol="0" anchor="ctr"/>
          <a:lstStyle/>
          <a:p>
            <a:pPr marL="0" indent="0" algn="ctr">
              <a:lnSpc>
                <a:spcPts val="886"/>
              </a:lnSpc>
              <a:buNone/>
            </a:pPr>
            <a:r>
              <a:rPr lang="en-US" sz="800" b="1" kern="0" spc="47" dirty="0">
                <a:solidFill>
                  <a:srgbClr val="0F2A4A"/>
                </a:solidFill>
                <a:latin typeface="Liberation Sans Narrow" pitchFamily="34" charset="0"/>
                <a:ea typeface="Liberation Sans Narrow" pitchFamily="34" charset="-122"/>
                <a:cs typeface="Liberation Sans Narrow" pitchFamily="34" charset="-120"/>
              </a:rPr>
              <a:t>04</a:t>
            </a:r>
            <a:endParaRPr lang="en-US" sz="800" dirty="0"/>
          </a:p>
        </p:txBody>
      </p:sp>
      <p:sp>
        <p:nvSpPr>
          <p:cNvPr id="32" name="Text 29"/>
          <p:cNvSpPr/>
          <p:nvPr/>
        </p:nvSpPr>
        <p:spPr>
          <a:xfrm>
            <a:off x="4414838" y="1076809"/>
            <a:ext cx="142875" cy="142875"/>
          </a:xfrm>
          <a:prstGeom prst="rect">
            <a:avLst/>
          </a:prstGeom>
          <a:noFill/>
          <a:ln/>
        </p:spPr>
        <p:txBody>
          <a:bodyPr wrap="none" lIns="0" tIns="0" rIns="0" bIns="0" rtlCol="0" anchor="ctr"/>
          <a:lstStyle/>
          <a:p>
            <a:pPr marL="0" indent="0" algn="ctr">
              <a:buNone/>
            </a:pPr>
            <a:r>
              <a:rPr lang="en-US" sz="1406" dirty="0">
                <a:solidFill>
                  <a:srgbClr val="0F2A4A"/>
                </a:solidFill>
                <a:latin typeface="Segoe UI Symbol" pitchFamily="34" charset="0"/>
                <a:ea typeface="Segoe UI Symbol" pitchFamily="34" charset="-122"/>
                <a:cs typeface="Segoe UI Symbol" pitchFamily="34" charset="-120"/>
              </a:rPr>
              <a:t>✓</a:t>
            </a:r>
            <a:endParaRPr lang="en-US" sz="1406" dirty="0"/>
          </a:p>
        </p:txBody>
      </p:sp>
      <p:sp>
        <p:nvSpPr>
          <p:cNvPr id="33" name="Text 30"/>
          <p:cNvSpPr/>
          <p:nvPr/>
        </p:nvSpPr>
        <p:spPr>
          <a:xfrm>
            <a:off x="4600575" y="1057945"/>
            <a:ext cx="764381" cy="252187"/>
          </a:xfrm>
          <a:prstGeom prst="rect">
            <a:avLst/>
          </a:prstGeom>
          <a:noFill/>
          <a:ln/>
        </p:spPr>
        <p:txBody>
          <a:bodyPr wrap="none" lIns="0" tIns="0" rIns="0" bIns="0" rtlCol="0" anchor="t"/>
          <a:lstStyle/>
          <a:p>
            <a:pPr marL="0" indent="0" algn="l">
              <a:lnSpc>
                <a:spcPts val="712"/>
              </a:lnSpc>
              <a:buNone/>
            </a:pPr>
            <a:r>
              <a:rPr lang="en-US" sz="800" b="1" kern="0" spc="31" dirty="0">
                <a:solidFill>
                  <a:srgbClr val="0F2A4A"/>
                </a:solidFill>
                <a:latin typeface="Carlito" pitchFamily="34" charset="0"/>
                <a:ea typeface="Carlito" pitchFamily="34" charset="-122"/>
                <a:cs typeface="Carlito" pitchFamily="34" charset="-120"/>
              </a:rPr>
              <a:t>CONTROL SELECT</a:t>
            </a:r>
            <a:endParaRPr lang="en-US" sz="800" dirty="0"/>
          </a:p>
        </p:txBody>
      </p:sp>
      <p:sp>
        <p:nvSpPr>
          <p:cNvPr id="34" name="Text 31"/>
          <p:cNvSpPr/>
          <p:nvPr/>
        </p:nvSpPr>
        <p:spPr>
          <a:xfrm>
            <a:off x="4414838" y="1267123"/>
            <a:ext cx="950119" cy="296200"/>
          </a:xfrm>
          <a:prstGeom prst="rect">
            <a:avLst/>
          </a:prstGeom>
          <a:noFill/>
          <a:ln/>
        </p:spPr>
        <p:txBody>
          <a:bodyPr wrap="square" lIns="0" tIns="0" rIns="0" bIns="0" rtlCol="0" anchor="t"/>
          <a:lstStyle/>
          <a:p>
            <a:pPr marL="0" indent="0" algn="l">
              <a:lnSpc>
                <a:spcPts val="797"/>
              </a:lnSpc>
              <a:buNone/>
            </a:pPr>
            <a:r>
              <a:rPr lang="en-US" sz="800" dirty="0">
                <a:solidFill>
                  <a:srgbClr val="4A5568"/>
                </a:solidFill>
                <a:latin typeface="Carlito" pitchFamily="34" charset="0"/>
                <a:ea typeface="Carlito" pitchFamily="34" charset="-122"/>
                <a:cs typeface="Carlito" pitchFamily="34" charset="-120"/>
              </a:rPr>
              <a:t>Choose hardening per asset+threat</a:t>
            </a:r>
            <a:endParaRPr lang="en-US" sz="800" dirty="0"/>
          </a:p>
        </p:txBody>
      </p:sp>
      <p:sp>
        <p:nvSpPr>
          <p:cNvPr id="35" name="Text 32"/>
          <p:cNvSpPr/>
          <p:nvPr/>
        </p:nvSpPr>
        <p:spPr>
          <a:xfrm>
            <a:off x="4886325" y="1679451"/>
            <a:ext cx="10716" cy="114300"/>
          </a:xfrm>
          <a:prstGeom prst="rect">
            <a:avLst/>
          </a:prstGeom>
          <a:solidFill>
            <a:srgbClr val="0F2A4A"/>
          </a:solidFill>
          <a:ln/>
        </p:spPr>
        <p:txBody>
          <a:bodyPr wrap="square" rtlCol="0" anchor="ctr"/>
          <a:lstStyle/>
          <a:p>
            <a:pPr marL="0" indent="0">
              <a:buNone/>
            </a:pPr>
            <a:endParaRPr lang="en-US" dirty="0"/>
          </a:p>
        </p:txBody>
      </p:sp>
      <p:sp>
        <p:nvSpPr>
          <p:cNvPr id="36" name="Text 33"/>
          <p:cNvSpPr/>
          <p:nvPr/>
        </p:nvSpPr>
        <p:spPr>
          <a:xfrm>
            <a:off x="1014413" y="1793751"/>
            <a:ext cx="3871913" cy="10716"/>
          </a:xfrm>
          <a:prstGeom prst="rect">
            <a:avLst/>
          </a:prstGeom>
          <a:solidFill>
            <a:srgbClr val="0F2A4A"/>
          </a:solidFill>
          <a:ln/>
        </p:spPr>
        <p:txBody>
          <a:bodyPr wrap="square" rtlCol="0" anchor="ctr"/>
          <a:lstStyle/>
          <a:p>
            <a:pPr marL="0" indent="0">
              <a:buNone/>
            </a:pPr>
            <a:endParaRPr lang="en-US" dirty="0"/>
          </a:p>
        </p:txBody>
      </p:sp>
      <p:sp>
        <p:nvSpPr>
          <p:cNvPr id="37" name="Text 34"/>
          <p:cNvSpPr/>
          <p:nvPr/>
        </p:nvSpPr>
        <p:spPr>
          <a:xfrm>
            <a:off x="1014413" y="1793751"/>
            <a:ext cx="10716" cy="114300"/>
          </a:xfrm>
          <a:prstGeom prst="rect">
            <a:avLst/>
          </a:prstGeom>
          <a:solidFill>
            <a:srgbClr val="0F2A4A"/>
          </a:solidFill>
          <a:ln/>
        </p:spPr>
        <p:txBody>
          <a:bodyPr wrap="square" rtlCol="0" anchor="ctr"/>
          <a:lstStyle/>
          <a:p>
            <a:pPr marL="0" indent="0">
              <a:buNone/>
            </a:pPr>
            <a:endParaRPr lang="en-US" dirty="0"/>
          </a:p>
        </p:txBody>
      </p:sp>
      <p:sp>
        <p:nvSpPr>
          <p:cNvPr id="38" name="Text 35"/>
          <p:cNvSpPr/>
          <p:nvPr/>
        </p:nvSpPr>
        <p:spPr>
          <a:xfrm>
            <a:off x="460772" y="1911623"/>
            <a:ext cx="1100138" cy="707231"/>
          </a:xfrm>
          <a:prstGeom prst="roundRect">
            <a:avLst>
              <a:gd name="adj" fmla="val 8081"/>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39" name="Text 36"/>
          <p:cNvSpPr/>
          <p:nvPr/>
        </p:nvSpPr>
        <p:spPr>
          <a:xfrm>
            <a:off x="524808" y="1842436"/>
            <a:ext cx="223310" cy="158020"/>
          </a:xfrm>
          <a:prstGeom prst="roundRect">
            <a:avLst>
              <a:gd name="adj" fmla="val 6021690"/>
            </a:avLst>
          </a:prstGeom>
          <a:solidFill>
            <a:srgbClr val="C9A961"/>
          </a:solidFill>
          <a:ln/>
        </p:spPr>
        <p:txBody>
          <a:bodyPr wrap="square" rtlCol="0" anchor="ctr"/>
          <a:lstStyle/>
          <a:p>
            <a:pPr marL="0" indent="0">
              <a:buNone/>
            </a:pPr>
            <a:endParaRPr lang="en-US" dirty="0"/>
          </a:p>
        </p:txBody>
      </p:sp>
      <p:sp>
        <p:nvSpPr>
          <p:cNvPr id="40" name="Text 37"/>
          <p:cNvSpPr/>
          <p:nvPr/>
        </p:nvSpPr>
        <p:spPr>
          <a:xfrm>
            <a:off x="535781" y="1850901"/>
            <a:ext cx="201364" cy="141089"/>
          </a:xfrm>
          <a:prstGeom prst="rect">
            <a:avLst/>
          </a:prstGeom>
          <a:noFill/>
          <a:ln/>
        </p:spPr>
        <p:txBody>
          <a:bodyPr wrap="none" lIns="0" tIns="0" rIns="0" bIns="0" rtlCol="0" anchor="ctr"/>
          <a:lstStyle/>
          <a:p>
            <a:pPr marL="0" indent="0" algn="ctr">
              <a:lnSpc>
                <a:spcPts val="886"/>
              </a:lnSpc>
              <a:buNone/>
            </a:pPr>
            <a:r>
              <a:rPr lang="en-US" sz="800" b="1" kern="0" spc="47" dirty="0">
                <a:solidFill>
                  <a:srgbClr val="0F2A4A"/>
                </a:solidFill>
                <a:latin typeface="Liberation Sans Narrow" pitchFamily="34" charset="0"/>
                <a:ea typeface="Liberation Sans Narrow" pitchFamily="34" charset="-122"/>
                <a:cs typeface="Liberation Sans Narrow" pitchFamily="34" charset="-120"/>
              </a:rPr>
              <a:t>05</a:t>
            </a:r>
            <a:endParaRPr lang="en-US" sz="800" dirty="0"/>
          </a:p>
        </p:txBody>
      </p:sp>
      <p:sp>
        <p:nvSpPr>
          <p:cNvPr id="41" name="Text 38"/>
          <p:cNvSpPr/>
          <p:nvPr/>
        </p:nvSpPr>
        <p:spPr>
          <a:xfrm>
            <a:off x="535781" y="2000920"/>
            <a:ext cx="142875" cy="142875"/>
          </a:xfrm>
          <a:prstGeom prst="rect">
            <a:avLst/>
          </a:prstGeom>
          <a:noFill/>
          <a:ln/>
        </p:spPr>
        <p:txBody>
          <a:bodyPr wrap="none" lIns="0" tIns="0" rIns="0" bIns="0" rtlCol="0" anchor="ctr"/>
          <a:lstStyle/>
          <a:p>
            <a:pPr marL="0" indent="0" algn="ctr">
              <a:buNone/>
            </a:pPr>
            <a:r>
              <a:rPr lang="en-US" sz="1406" dirty="0">
                <a:solidFill>
                  <a:srgbClr val="0F2A4A"/>
                </a:solidFill>
                <a:latin typeface="Segoe UI Symbol" pitchFamily="34" charset="0"/>
                <a:ea typeface="Segoe UI Symbol" pitchFamily="34" charset="-122"/>
                <a:cs typeface="Segoe UI Symbol" pitchFamily="34" charset="-120"/>
              </a:rPr>
              <a:t>⚒</a:t>
            </a:r>
            <a:endParaRPr lang="en-US" sz="1406" dirty="0"/>
          </a:p>
        </p:txBody>
      </p:sp>
      <p:sp>
        <p:nvSpPr>
          <p:cNvPr id="42" name="Text 39"/>
          <p:cNvSpPr/>
          <p:nvPr/>
        </p:nvSpPr>
        <p:spPr>
          <a:xfrm>
            <a:off x="721519" y="2027151"/>
            <a:ext cx="764381" cy="126094"/>
          </a:xfrm>
          <a:prstGeom prst="rect">
            <a:avLst/>
          </a:prstGeom>
          <a:noFill/>
          <a:ln/>
        </p:spPr>
        <p:txBody>
          <a:bodyPr wrap="none" lIns="0" tIns="0" rIns="0" bIns="0" rtlCol="0" anchor="t"/>
          <a:lstStyle/>
          <a:p>
            <a:pPr marL="0" indent="0" algn="l">
              <a:lnSpc>
                <a:spcPts val="712"/>
              </a:lnSpc>
              <a:buNone/>
            </a:pPr>
            <a:r>
              <a:rPr lang="en-US" sz="800" b="1" kern="0" spc="31" dirty="0">
                <a:solidFill>
                  <a:srgbClr val="0F2A4A"/>
                </a:solidFill>
                <a:latin typeface="Carlito" pitchFamily="34" charset="0"/>
                <a:ea typeface="Carlito" pitchFamily="34" charset="-122"/>
                <a:cs typeface="Carlito" pitchFamily="34" charset="-120"/>
              </a:rPr>
              <a:t>IMPLEMENT</a:t>
            </a:r>
            <a:endParaRPr lang="en-US" sz="800" dirty="0"/>
          </a:p>
        </p:txBody>
      </p:sp>
      <p:sp>
        <p:nvSpPr>
          <p:cNvPr id="43" name="Text 40"/>
          <p:cNvSpPr/>
          <p:nvPr/>
        </p:nvSpPr>
        <p:spPr>
          <a:xfrm>
            <a:off x="535781" y="2172370"/>
            <a:ext cx="1007126" cy="296200"/>
          </a:xfrm>
          <a:prstGeom prst="rect">
            <a:avLst/>
          </a:prstGeom>
          <a:noFill/>
          <a:ln/>
        </p:spPr>
        <p:txBody>
          <a:bodyPr wrap="square" lIns="0" tIns="0" rIns="0" bIns="0" rtlCol="0" anchor="t"/>
          <a:lstStyle/>
          <a:p>
            <a:pPr marL="0" indent="0" algn="l">
              <a:lnSpc>
                <a:spcPts val="797"/>
              </a:lnSpc>
              <a:buNone/>
            </a:pPr>
            <a:r>
              <a:rPr lang="en-US" sz="800" dirty="0">
                <a:solidFill>
                  <a:srgbClr val="4A5568"/>
                </a:solidFill>
                <a:latin typeface="Carlito" pitchFamily="34" charset="0"/>
                <a:ea typeface="Carlito" pitchFamily="34" charset="-122"/>
                <a:cs typeface="Carlito" pitchFamily="34" charset="-120"/>
              </a:rPr>
              <a:t>Apply configs, code, key provisioning</a:t>
            </a:r>
            <a:endParaRPr lang="en-US" sz="800" dirty="0"/>
          </a:p>
        </p:txBody>
      </p:sp>
      <p:sp>
        <p:nvSpPr>
          <p:cNvPr id="44" name="Text 41"/>
          <p:cNvSpPr/>
          <p:nvPr/>
        </p:nvSpPr>
        <p:spPr>
          <a:xfrm>
            <a:off x="1564481" y="2259881"/>
            <a:ext cx="185738" cy="10716"/>
          </a:xfrm>
          <a:prstGeom prst="rect">
            <a:avLst/>
          </a:prstGeom>
          <a:solidFill>
            <a:srgbClr val="0F2A4A"/>
          </a:solidFill>
          <a:ln/>
        </p:spPr>
        <p:txBody>
          <a:bodyPr wrap="square" rtlCol="0" anchor="ctr"/>
          <a:lstStyle/>
          <a:p>
            <a:pPr marL="0" indent="0">
              <a:buNone/>
            </a:pPr>
            <a:endParaRPr lang="en-US" dirty="0"/>
          </a:p>
        </p:txBody>
      </p:sp>
      <p:sp>
        <p:nvSpPr>
          <p:cNvPr id="45" name="Text 42"/>
          <p:cNvSpPr/>
          <p:nvPr/>
        </p:nvSpPr>
        <p:spPr>
          <a:xfrm>
            <a:off x="1753791" y="1911623"/>
            <a:ext cx="1100138" cy="707231"/>
          </a:xfrm>
          <a:prstGeom prst="roundRect">
            <a:avLst>
              <a:gd name="adj" fmla="val 8081"/>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46" name="Text 43"/>
          <p:cNvSpPr/>
          <p:nvPr/>
        </p:nvSpPr>
        <p:spPr>
          <a:xfrm>
            <a:off x="1817827" y="1842436"/>
            <a:ext cx="223310" cy="158020"/>
          </a:xfrm>
          <a:prstGeom prst="roundRect">
            <a:avLst>
              <a:gd name="adj" fmla="val 6021690"/>
            </a:avLst>
          </a:prstGeom>
          <a:solidFill>
            <a:srgbClr val="C9A961"/>
          </a:solidFill>
          <a:ln/>
        </p:spPr>
        <p:txBody>
          <a:bodyPr wrap="square" rtlCol="0" anchor="ctr"/>
          <a:lstStyle/>
          <a:p>
            <a:pPr marL="0" indent="0">
              <a:buNone/>
            </a:pPr>
            <a:endParaRPr lang="en-US" dirty="0"/>
          </a:p>
        </p:txBody>
      </p:sp>
      <p:sp>
        <p:nvSpPr>
          <p:cNvPr id="47" name="Text 44"/>
          <p:cNvSpPr/>
          <p:nvPr/>
        </p:nvSpPr>
        <p:spPr>
          <a:xfrm>
            <a:off x="1828800" y="1850901"/>
            <a:ext cx="201364" cy="141089"/>
          </a:xfrm>
          <a:prstGeom prst="rect">
            <a:avLst/>
          </a:prstGeom>
          <a:noFill/>
          <a:ln/>
        </p:spPr>
        <p:txBody>
          <a:bodyPr wrap="none" lIns="0" tIns="0" rIns="0" bIns="0" rtlCol="0" anchor="ctr"/>
          <a:lstStyle/>
          <a:p>
            <a:pPr marL="0" indent="0" algn="ctr">
              <a:lnSpc>
                <a:spcPts val="886"/>
              </a:lnSpc>
              <a:buNone/>
            </a:pPr>
            <a:r>
              <a:rPr lang="en-US" sz="800" b="1" kern="0" spc="47" dirty="0">
                <a:solidFill>
                  <a:srgbClr val="0F2A4A"/>
                </a:solidFill>
                <a:latin typeface="Liberation Sans Narrow" pitchFamily="34" charset="0"/>
                <a:ea typeface="Liberation Sans Narrow" pitchFamily="34" charset="-122"/>
                <a:cs typeface="Liberation Sans Narrow" pitchFamily="34" charset="-120"/>
              </a:rPr>
              <a:t>06</a:t>
            </a:r>
            <a:endParaRPr lang="en-US" sz="800" dirty="0"/>
          </a:p>
        </p:txBody>
      </p:sp>
      <p:sp>
        <p:nvSpPr>
          <p:cNvPr id="48" name="Text 45"/>
          <p:cNvSpPr/>
          <p:nvPr/>
        </p:nvSpPr>
        <p:spPr>
          <a:xfrm>
            <a:off x="1828800" y="2000920"/>
            <a:ext cx="142875" cy="142875"/>
          </a:xfrm>
          <a:prstGeom prst="rect">
            <a:avLst/>
          </a:prstGeom>
          <a:noFill/>
          <a:ln/>
        </p:spPr>
        <p:txBody>
          <a:bodyPr wrap="none" lIns="0" tIns="0" rIns="0" bIns="0" rtlCol="0" anchor="ctr"/>
          <a:lstStyle/>
          <a:p>
            <a:pPr marL="0" indent="0" algn="ctr">
              <a:buNone/>
            </a:pPr>
            <a:r>
              <a:rPr lang="en-US" sz="1406" dirty="0">
                <a:solidFill>
                  <a:srgbClr val="0F2A4A"/>
                </a:solidFill>
                <a:latin typeface="Segoe UI Symbol" pitchFamily="34" charset="0"/>
                <a:ea typeface="Segoe UI Symbol" pitchFamily="34" charset="-122"/>
                <a:cs typeface="Segoe UI Symbol" pitchFamily="34" charset="-120"/>
              </a:rPr>
              <a:t>✓</a:t>
            </a:r>
            <a:endParaRPr lang="en-US" sz="1406" dirty="0"/>
          </a:p>
        </p:txBody>
      </p:sp>
      <p:sp>
        <p:nvSpPr>
          <p:cNvPr id="49" name="Text 46"/>
          <p:cNvSpPr/>
          <p:nvPr/>
        </p:nvSpPr>
        <p:spPr>
          <a:xfrm>
            <a:off x="2014538" y="2027151"/>
            <a:ext cx="764381" cy="126094"/>
          </a:xfrm>
          <a:prstGeom prst="rect">
            <a:avLst/>
          </a:prstGeom>
          <a:noFill/>
          <a:ln/>
        </p:spPr>
        <p:txBody>
          <a:bodyPr wrap="none" lIns="0" tIns="0" rIns="0" bIns="0" rtlCol="0" anchor="t"/>
          <a:lstStyle/>
          <a:p>
            <a:pPr marL="0" indent="0" algn="l">
              <a:lnSpc>
                <a:spcPts val="712"/>
              </a:lnSpc>
              <a:buNone/>
            </a:pPr>
            <a:r>
              <a:rPr lang="en-US" sz="800" b="1" kern="0" spc="31" dirty="0">
                <a:solidFill>
                  <a:srgbClr val="0F2A4A"/>
                </a:solidFill>
                <a:latin typeface="Carlito" pitchFamily="34" charset="0"/>
                <a:ea typeface="Carlito" pitchFamily="34" charset="-122"/>
                <a:cs typeface="Carlito" pitchFamily="34" charset="-120"/>
              </a:rPr>
              <a:t>VERIFY</a:t>
            </a:r>
            <a:endParaRPr lang="en-US" sz="800" dirty="0"/>
          </a:p>
        </p:txBody>
      </p:sp>
      <p:sp>
        <p:nvSpPr>
          <p:cNvPr id="50" name="Text 47"/>
          <p:cNvSpPr/>
          <p:nvPr/>
        </p:nvSpPr>
        <p:spPr>
          <a:xfrm>
            <a:off x="1828800" y="2172370"/>
            <a:ext cx="950119" cy="296200"/>
          </a:xfrm>
          <a:prstGeom prst="rect">
            <a:avLst/>
          </a:prstGeom>
          <a:noFill/>
          <a:ln/>
        </p:spPr>
        <p:txBody>
          <a:bodyPr wrap="square" lIns="0" tIns="0" rIns="0" bIns="0" rtlCol="0" anchor="t"/>
          <a:lstStyle/>
          <a:p>
            <a:pPr marL="0" indent="0" algn="l">
              <a:lnSpc>
                <a:spcPts val="797"/>
              </a:lnSpc>
              <a:buNone/>
            </a:pPr>
            <a:r>
              <a:rPr lang="en-US" sz="800" dirty="0">
                <a:solidFill>
                  <a:srgbClr val="4A5568"/>
                </a:solidFill>
                <a:latin typeface="Carlito" pitchFamily="34" charset="0"/>
                <a:ea typeface="Carlito" pitchFamily="34" charset="-122"/>
                <a:cs typeface="Carlito" pitchFamily="34" charset="-120"/>
              </a:rPr>
              <a:t>CI tests prove each control holds</a:t>
            </a:r>
            <a:endParaRPr lang="en-US" sz="800" dirty="0"/>
          </a:p>
        </p:txBody>
      </p:sp>
      <p:sp>
        <p:nvSpPr>
          <p:cNvPr id="51" name="Text 48"/>
          <p:cNvSpPr/>
          <p:nvPr/>
        </p:nvSpPr>
        <p:spPr>
          <a:xfrm>
            <a:off x="2857500" y="2259881"/>
            <a:ext cx="185738" cy="10716"/>
          </a:xfrm>
          <a:prstGeom prst="rect">
            <a:avLst/>
          </a:prstGeom>
          <a:solidFill>
            <a:srgbClr val="0F2A4A"/>
          </a:solidFill>
          <a:ln/>
        </p:spPr>
        <p:txBody>
          <a:bodyPr wrap="square" rtlCol="0" anchor="ctr"/>
          <a:lstStyle/>
          <a:p>
            <a:pPr marL="0" indent="0">
              <a:buNone/>
            </a:pPr>
            <a:endParaRPr lang="en-US" dirty="0"/>
          </a:p>
        </p:txBody>
      </p:sp>
      <p:sp>
        <p:nvSpPr>
          <p:cNvPr id="52" name="Text 49"/>
          <p:cNvSpPr/>
          <p:nvPr/>
        </p:nvSpPr>
        <p:spPr>
          <a:xfrm>
            <a:off x="3046809" y="1911623"/>
            <a:ext cx="1100138" cy="707231"/>
          </a:xfrm>
          <a:prstGeom prst="roundRect">
            <a:avLst>
              <a:gd name="adj" fmla="val 8081"/>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53" name="Text 50"/>
          <p:cNvSpPr/>
          <p:nvPr/>
        </p:nvSpPr>
        <p:spPr>
          <a:xfrm>
            <a:off x="3110846" y="1842436"/>
            <a:ext cx="223310" cy="158020"/>
          </a:xfrm>
          <a:prstGeom prst="roundRect">
            <a:avLst>
              <a:gd name="adj" fmla="val 6021690"/>
            </a:avLst>
          </a:prstGeom>
          <a:solidFill>
            <a:srgbClr val="C9A961"/>
          </a:solidFill>
          <a:ln/>
        </p:spPr>
        <p:txBody>
          <a:bodyPr wrap="square" rtlCol="0" anchor="ctr"/>
          <a:lstStyle/>
          <a:p>
            <a:pPr marL="0" indent="0">
              <a:buNone/>
            </a:pPr>
            <a:endParaRPr lang="en-US" dirty="0"/>
          </a:p>
        </p:txBody>
      </p:sp>
      <p:sp>
        <p:nvSpPr>
          <p:cNvPr id="54" name="Text 51"/>
          <p:cNvSpPr/>
          <p:nvPr/>
        </p:nvSpPr>
        <p:spPr>
          <a:xfrm>
            <a:off x="3121819" y="1850901"/>
            <a:ext cx="201364" cy="141089"/>
          </a:xfrm>
          <a:prstGeom prst="rect">
            <a:avLst/>
          </a:prstGeom>
          <a:noFill/>
          <a:ln/>
        </p:spPr>
        <p:txBody>
          <a:bodyPr wrap="none" lIns="0" tIns="0" rIns="0" bIns="0" rtlCol="0" anchor="ctr"/>
          <a:lstStyle/>
          <a:p>
            <a:pPr marL="0" indent="0" algn="ctr">
              <a:lnSpc>
                <a:spcPts val="886"/>
              </a:lnSpc>
              <a:buNone/>
            </a:pPr>
            <a:r>
              <a:rPr lang="en-US" sz="800" b="1" kern="0" spc="47" dirty="0">
                <a:solidFill>
                  <a:srgbClr val="0F2A4A"/>
                </a:solidFill>
                <a:latin typeface="Liberation Sans Narrow" pitchFamily="34" charset="0"/>
                <a:ea typeface="Liberation Sans Narrow" pitchFamily="34" charset="-122"/>
                <a:cs typeface="Liberation Sans Narrow" pitchFamily="34" charset="-120"/>
              </a:rPr>
              <a:t>07</a:t>
            </a:r>
            <a:endParaRPr lang="en-US" sz="800" dirty="0"/>
          </a:p>
        </p:txBody>
      </p:sp>
      <p:sp>
        <p:nvSpPr>
          <p:cNvPr id="55" name="Text 52"/>
          <p:cNvSpPr/>
          <p:nvPr/>
        </p:nvSpPr>
        <p:spPr>
          <a:xfrm>
            <a:off x="3121819" y="2000920"/>
            <a:ext cx="142875" cy="142875"/>
          </a:xfrm>
          <a:prstGeom prst="rect">
            <a:avLst/>
          </a:prstGeom>
          <a:noFill/>
          <a:ln/>
        </p:spPr>
        <p:txBody>
          <a:bodyPr wrap="none" lIns="0" tIns="0" rIns="0" bIns="0" rtlCol="0" anchor="ctr"/>
          <a:lstStyle/>
          <a:p>
            <a:pPr marL="0" indent="0" algn="ctr">
              <a:buNone/>
            </a:pPr>
            <a:r>
              <a:rPr lang="en-US" sz="1406" dirty="0">
                <a:solidFill>
                  <a:srgbClr val="0F2A4A"/>
                </a:solidFill>
                <a:latin typeface="Segoe UI Symbol" pitchFamily="34" charset="0"/>
                <a:ea typeface="Segoe UI Symbol" pitchFamily="34" charset="-122"/>
                <a:cs typeface="Segoe UI Symbol" pitchFamily="34" charset="-120"/>
              </a:rPr>
              <a:t>♥</a:t>
            </a:r>
            <a:endParaRPr lang="en-US" sz="1406" dirty="0"/>
          </a:p>
        </p:txBody>
      </p:sp>
      <p:sp>
        <p:nvSpPr>
          <p:cNvPr id="56" name="Text 53"/>
          <p:cNvSpPr/>
          <p:nvPr/>
        </p:nvSpPr>
        <p:spPr>
          <a:xfrm>
            <a:off x="3307556" y="2027151"/>
            <a:ext cx="764381" cy="126094"/>
          </a:xfrm>
          <a:prstGeom prst="rect">
            <a:avLst/>
          </a:prstGeom>
          <a:noFill/>
          <a:ln/>
        </p:spPr>
        <p:txBody>
          <a:bodyPr wrap="none" lIns="0" tIns="0" rIns="0" bIns="0" rtlCol="0" anchor="t"/>
          <a:lstStyle/>
          <a:p>
            <a:pPr marL="0" indent="0" algn="l">
              <a:lnSpc>
                <a:spcPts val="712"/>
              </a:lnSpc>
              <a:buNone/>
            </a:pPr>
            <a:r>
              <a:rPr lang="en-US" sz="800" b="1" kern="0" spc="31" dirty="0">
                <a:solidFill>
                  <a:srgbClr val="0F2A4A"/>
                </a:solidFill>
                <a:latin typeface="Carlito" pitchFamily="34" charset="0"/>
                <a:ea typeface="Carlito" pitchFamily="34" charset="-122"/>
                <a:cs typeface="Carlito" pitchFamily="34" charset="-120"/>
              </a:rPr>
              <a:t>OPERATE</a:t>
            </a:r>
            <a:endParaRPr lang="en-US" sz="800" dirty="0"/>
          </a:p>
        </p:txBody>
      </p:sp>
      <p:sp>
        <p:nvSpPr>
          <p:cNvPr id="57" name="Text 54"/>
          <p:cNvSpPr/>
          <p:nvPr/>
        </p:nvSpPr>
        <p:spPr>
          <a:xfrm>
            <a:off x="3121819" y="2172370"/>
            <a:ext cx="950119" cy="296200"/>
          </a:xfrm>
          <a:prstGeom prst="rect">
            <a:avLst/>
          </a:prstGeom>
          <a:noFill/>
          <a:ln/>
        </p:spPr>
        <p:txBody>
          <a:bodyPr wrap="square" lIns="0" tIns="0" rIns="0" bIns="0" rtlCol="0" anchor="t"/>
          <a:lstStyle/>
          <a:p>
            <a:pPr marL="0" indent="0" algn="l">
              <a:lnSpc>
                <a:spcPts val="797"/>
              </a:lnSpc>
              <a:buNone/>
            </a:pPr>
            <a:r>
              <a:rPr lang="en-US" sz="800" dirty="0">
                <a:solidFill>
                  <a:srgbClr val="4A5568"/>
                </a:solidFill>
                <a:latin typeface="Carlito" pitchFamily="34" charset="0"/>
                <a:ea typeface="Carlito" pitchFamily="34" charset="-122"/>
                <a:cs typeface="Carlito" pitchFamily="34" charset="-120"/>
              </a:rPr>
              <a:t>Monitor, re-harden on incident</a:t>
            </a:r>
            <a:endParaRPr lang="en-US" sz="800" dirty="0"/>
          </a:p>
        </p:txBody>
      </p:sp>
      <p:sp>
        <p:nvSpPr>
          <p:cNvPr id="58" name="Text 55"/>
          <p:cNvSpPr/>
          <p:nvPr/>
        </p:nvSpPr>
        <p:spPr>
          <a:xfrm>
            <a:off x="3593306" y="2565276"/>
            <a:ext cx="10716" cy="100013"/>
          </a:xfrm>
          <a:prstGeom prst="rect">
            <a:avLst/>
          </a:prstGeom>
          <a:solidFill>
            <a:srgbClr val="1E3A5F"/>
          </a:solidFill>
          <a:ln/>
        </p:spPr>
        <p:txBody>
          <a:bodyPr wrap="square" rtlCol="0" anchor="ctr"/>
          <a:lstStyle/>
          <a:p>
            <a:pPr marL="0" indent="0">
              <a:buNone/>
            </a:pPr>
            <a:endParaRPr lang="en-US" dirty="0"/>
          </a:p>
        </p:txBody>
      </p:sp>
      <p:sp>
        <p:nvSpPr>
          <p:cNvPr id="59" name="Shape 56"/>
          <p:cNvSpPr/>
          <p:nvPr/>
        </p:nvSpPr>
        <p:spPr>
          <a:xfrm>
            <a:off x="2300288" y="2668860"/>
            <a:ext cx="1293019" cy="0"/>
          </a:xfrm>
          <a:prstGeom prst="line">
            <a:avLst/>
          </a:prstGeom>
          <a:noFill/>
          <a:ln w="7144">
            <a:solidFill>
              <a:srgbClr val="1E3A5F"/>
            </a:solidFill>
            <a:prstDash val="dash"/>
          </a:ln>
        </p:spPr>
      </p:sp>
      <p:sp>
        <p:nvSpPr>
          <p:cNvPr id="60" name="Text 57"/>
          <p:cNvSpPr/>
          <p:nvPr/>
        </p:nvSpPr>
        <p:spPr>
          <a:xfrm>
            <a:off x="2261497" y="2722438"/>
            <a:ext cx="1370600" cy="263271"/>
          </a:xfrm>
          <a:prstGeom prst="rect">
            <a:avLst/>
          </a:prstGeom>
          <a:noFill/>
          <a:ln/>
        </p:spPr>
        <p:txBody>
          <a:bodyPr wrap="square" lIns="0" tIns="0" rIns="0" bIns="0" rtlCol="0" anchor="t"/>
          <a:lstStyle/>
          <a:p>
            <a:pPr marL="0" indent="0" algn="ctr">
              <a:lnSpc>
                <a:spcPts val="608"/>
              </a:lnSpc>
              <a:buNone/>
            </a:pPr>
            <a:r>
              <a:rPr lang="en-US" sz="800" b="1" kern="0" spc="41" dirty="0">
                <a:solidFill>
                  <a:srgbClr val="1E3A5F"/>
                </a:solidFill>
                <a:latin typeface="Carlito" pitchFamily="34" charset="0"/>
                <a:ea typeface="Carlito" pitchFamily="34" charset="-122"/>
                <a:cs typeface="Carlito" pitchFamily="34" charset="-120"/>
              </a:rPr>
              <a:t>RE-EVALUATE THREAT MODEL · BACK TO STAGE 2</a:t>
            </a:r>
            <a:endParaRPr lang="en-US" sz="800" dirty="0"/>
          </a:p>
        </p:txBody>
      </p:sp>
      <p:sp>
        <p:nvSpPr>
          <p:cNvPr id="61" name="Shape 58"/>
          <p:cNvSpPr/>
          <p:nvPr/>
        </p:nvSpPr>
        <p:spPr>
          <a:xfrm>
            <a:off x="7261622" y="965076"/>
            <a:ext cx="0" cy="1885950"/>
          </a:xfrm>
          <a:prstGeom prst="line">
            <a:avLst/>
          </a:prstGeom>
          <a:noFill/>
          <a:ln w="7144">
            <a:solidFill>
              <a:srgbClr val="D8DEE6"/>
            </a:solidFill>
            <a:prstDash val="solid"/>
          </a:ln>
        </p:spPr>
      </p:sp>
      <p:sp>
        <p:nvSpPr>
          <p:cNvPr id="62" name="Text 59"/>
          <p:cNvSpPr/>
          <p:nvPr/>
        </p:nvSpPr>
        <p:spPr>
          <a:xfrm>
            <a:off x="7393781" y="965076"/>
            <a:ext cx="1293019" cy="164592"/>
          </a:xfrm>
          <a:prstGeom prst="rect">
            <a:avLst/>
          </a:prstGeom>
          <a:noFill/>
          <a:ln/>
        </p:spPr>
        <p:txBody>
          <a:bodyPr wrap="none" lIns="0" tIns="0" rIns="0" bIns="0" rtlCol="0" anchor="t"/>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CONTROL CATEGORIES</a:t>
            </a:r>
            <a:endParaRPr lang="en-US" sz="800" dirty="0"/>
          </a:p>
        </p:txBody>
      </p:sp>
      <p:sp>
        <p:nvSpPr>
          <p:cNvPr id="63" name="Text 60"/>
          <p:cNvSpPr/>
          <p:nvPr/>
        </p:nvSpPr>
        <p:spPr>
          <a:xfrm>
            <a:off x="7370921" y="1156457"/>
            <a:ext cx="1338739" cy="228029"/>
          </a:xfrm>
          <a:prstGeom prst="roundRect">
            <a:avLst>
              <a:gd name="adj" fmla="val 4172923"/>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64" name="Text 61"/>
          <p:cNvSpPr/>
          <p:nvPr/>
        </p:nvSpPr>
        <p:spPr>
          <a:xfrm>
            <a:off x="7393781" y="1168673"/>
            <a:ext cx="1293019" cy="203597"/>
          </a:xfrm>
          <a:prstGeom prst="rect">
            <a:avLst/>
          </a:prstGeom>
          <a:noFill/>
          <a:ln/>
        </p:spPr>
        <p:txBody>
          <a:bodyPr wrap="none" lIns="0" tIns="0" rIns="0" bIns="0" rtlCol="0" anchor="ctr"/>
          <a:lstStyle/>
          <a:p>
            <a:pPr marL="0" indent="0" algn="ctr">
              <a:lnSpc>
                <a:spcPts val="928"/>
              </a:lnSpc>
              <a:buNone/>
            </a:pPr>
            <a:r>
              <a:rPr lang="en-US" sz="800" dirty="0">
                <a:solidFill>
                  <a:srgbClr val="0F2A4A"/>
                </a:solidFill>
                <a:latin typeface="Carlito" pitchFamily="34" charset="0"/>
                <a:ea typeface="Carlito" pitchFamily="34" charset="-122"/>
                <a:cs typeface="Carlito" pitchFamily="34" charset="-120"/>
              </a:rPr>
              <a:t>Secure Boot</a:t>
            </a:r>
            <a:endParaRPr lang="en-US" sz="800" dirty="0"/>
          </a:p>
        </p:txBody>
      </p:sp>
      <p:sp>
        <p:nvSpPr>
          <p:cNvPr id="65" name="Text 62"/>
          <p:cNvSpPr/>
          <p:nvPr/>
        </p:nvSpPr>
        <p:spPr>
          <a:xfrm>
            <a:off x="7370921" y="1402916"/>
            <a:ext cx="1338739" cy="228029"/>
          </a:xfrm>
          <a:prstGeom prst="roundRect">
            <a:avLst>
              <a:gd name="adj" fmla="val 4172923"/>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66" name="Text 63"/>
          <p:cNvSpPr/>
          <p:nvPr/>
        </p:nvSpPr>
        <p:spPr>
          <a:xfrm>
            <a:off x="7393781" y="1415132"/>
            <a:ext cx="1293019" cy="203597"/>
          </a:xfrm>
          <a:prstGeom prst="rect">
            <a:avLst/>
          </a:prstGeom>
          <a:noFill/>
          <a:ln/>
        </p:spPr>
        <p:txBody>
          <a:bodyPr wrap="none" lIns="0" tIns="0" rIns="0" bIns="0" rtlCol="0" anchor="ctr"/>
          <a:lstStyle/>
          <a:p>
            <a:pPr marL="0" indent="0" algn="ctr">
              <a:lnSpc>
                <a:spcPts val="928"/>
              </a:lnSpc>
              <a:buNone/>
            </a:pPr>
            <a:r>
              <a:rPr lang="en-US" sz="800" dirty="0">
                <a:solidFill>
                  <a:srgbClr val="0F2A4A"/>
                </a:solidFill>
                <a:latin typeface="Carlito" pitchFamily="34" charset="0"/>
                <a:ea typeface="Carlito" pitchFamily="34" charset="-122"/>
                <a:cs typeface="Carlito" pitchFamily="34" charset="-120"/>
              </a:rPr>
              <a:t>Crypto &amp; Keys</a:t>
            </a:r>
            <a:endParaRPr lang="en-US" sz="800" dirty="0"/>
          </a:p>
        </p:txBody>
      </p:sp>
      <p:sp>
        <p:nvSpPr>
          <p:cNvPr id="67" name="Text 64"/>
          <p:cNvSpPr/>
          <p:nvPr/>
        </p:nvSpPr>
        <p:spPr>
          <a:xfrm>
            <a:off x="7370921" y="1649376"/>
            <a:ext cx="1338739" cy="228029"/>
          </a:xfrm>
          <a:prstGeom prst="roundRect">
            <a:avLst>
              <a:gd name="adj" fmla="val 4172923"/>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68" name="Text 65"/>
          <p:cNvSpPr/>
          <p:nvPr/>
        </p:nvSpPr>
        <p:spPr>
          <a:xfrm>
            <a:off x="7393781" y="1661592"/>
            <a:ext cx="1293019" cy="203597"/>
          </a:xfrm>
          <a:prstGeom prst="rect">
            <a:avLst/>
          </a:prstGeom>
          <a:noFill/>
          <a:ln/>
        </p:spPr>
        <p:txBody>
          <a:bodyPr wrap="none" lIns="0" tIns="0" rIns="0" bIns="0" rtlCol="0" anchor="ctr"/>
          <a:lstStyle/>
          <a:p>
            <a:pPr marL="0" indent="0" algn="ctr">
              <a:lnSpc>
                <a:spcPts val="928"/>
              </a:lnSpc>
              <a:buNone/>
            </a:pPr>
            <a:r>
              <a:rPr lang="en-US" sz="800" dirty="0">
                <a:solidFill>
                  <a:srgbClr val="0F2A4A"/>
                </a:solidFill>
                <a:latin typeface="Carlito" pitchFamily="34" charset="0"/>
                <a:ea typeface="Carlito" pitchFamily="34" charset="-122"/>
                <a:cs typeface="Carlito" pitchFamily="34" charset="-120"/>
              </a:rPr>
              <a:t>Network Hardening</a:t>
            </a:r>
            <a:endParaRPr lang="en-US" sz="800" dirty="0"/>
          </a:p>
        </p:txBody>
      </p:sp>
      <p:sp>
        <p:nvSpPr>
          <p:cNvPr id="69" name="Text 66"/>
          <p:cNvSpPr/>
          <p:nvPr/>
        </p:nvSpPr>
        <p:spPr>
          <a:xfrm>
            <a:off x="7370921" y="1895835"/>
            <a:ext cx="1338739" cy="228029"/>
          </a:xfrm>
          <a:prstGeom prst="roundRect">
            <a:avLst>
              <a:gd name="adj" fmla="val 4172923"/>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70" name="Text 67"/>
          <p:cNvSpPr/>
          <p:nvPr/>
        </p:nvSpPr>
        <p:spPr>
          <a:xfrm>
            <a:off x="7393781" y="1908051"/>
            <a:ext cx="1293019" cy="203597"/>
          </a:xfrm>
          <a:prstGeom prst="rect">
            <a:avLst/>
          </a:prstGeom>
          <a:noFill/>
          <a:ln/>
        </p:spPr>
        <p:txBody>
          <a:bodyPr wrap="none" lIns="0" tIns="0" rIns="0" bIns="0" rtlCol="0" anchor="ctr"/>
          <a:lstStyle/>
          <a:p>
            <a:pPr marL="0" indent="0" algn="ctr">
              <a:lnSpc>
                <a:spcPts val="928"/>
              </a:lnSpc>
              <a:buNone/>
            </a:pPr>
            <a:r>
              <a:rPr lang="en-US" sz="800" dirty="0">
                <a:solidFill>
                  <a:srgbClr val="0F2A4A"/>
                </a:solidFill>
                <a:latin typeface="Carlito" pitchFamily="34" charset="0"/>
                <a:ea typeface="Carlito" pitchFamily="34" charset="-122"/>
                <a:cs typeface="Carlito" pitchFamily="34" charset="-120"/>
              </a:rPr>
              <a:t>Memory Protection</a:t>
            </a:r>
            <a:endParaRPr lang="en-US" sz="800" dirty="0"/>
          </a:p>
        </p:txBody>
      </p:sp>
      <p:sp>
        <p:nvSpPr>
          <p:cNvPr id="71" name="Text 68"/>
          <p:cNvSpPr/>
          <p:nvPr/>
        </p:nvSpPr>
        <p:spPr>
          <a:xfrm>
            <a:off x="7370921" y="2142295"/>
            <a:ext cx="1338739" cy="228029"/>
          </a:xfrm>
          <a:prstGeom prst="roundRect">
            <a:avLst>
              <a:gd name="adj" fmla="val 4172923"/>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72" name="Text 69"/>
          <p:cNvSpPr/>
          <p:nvPr/>
        </p:nvSpPr>
        <p:spPr>
          <a:xfrm>
            <a:off x="7393781" y="2154510"/>
            <a:ext cx="1293019" cy="203597"/>
          </a:xfrm>
          <a:prstGeom prst="rect">
            <a:avLst/>
          </a:prstGeom>
          <a:noFill/>
          <a:ln/>
        </p:spPr>
        <p:txBody>
          <a:bodyPr wrap="none" lIns="0" tIns="0" rIns="0" bIns="0" rtlCol="0" anchor="ctr"/>
          <a:lstStyle/>
          <a:p>
            <a:pPr marL="0" indent="0" algn="ctr">
              <a:lnSpc>
                <a:spcPts val="928"/>
              </a:lnSpc>
              <a:buNone/>
            </a:pPr>
            <a:r>
              <a:rPr lang="en-US" sz="800" dirty="0">
                <a:solidFill>
                  <a:srgbClr val="0F2A4A"/>
                </a:solidFill>
                <a:latin typeface="Carlito" pitchFamily="34" charset="0"/>
                <a:ea typeface="Carlito" pitchFamily="34" charset="-122"/>
                <a:cs typeface="Carlito" pitchFamily="34" charset="-120"/>
              </a:rPr>
              <a:t>Secure Update</a:t>
            </a:r>
            <a:endParaRPr lang="en-US" sz="800" dirty="0"/>
          </a:p>
        </p:txBody>
      </p:sp>
      <p:sp>
        <p:nvSpPr>
          <p:cNvPr id="73" name="Text 70"/>
          <p:cNvSpPr/>
          <p:nvPr/>
        </p:nvSpPr>
        <p:spPr>
          <a:xfrm>
            <a:off x="7370921" y="2388754"/>
            <a:ext cx="1338739" cy="228029"/>
          </a:xfrm>
          <a:prstGeom prst="roundRect">
            <a:avLst>
              <a:gd name="adj" fmla="val 4172923"/>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74" name="Text 71"/>
          <p:cNvSpPr/>
          <p:nvPr/>
        </p:nvSpPr>
        <p:spPr>
          <a:xfrm>
            <a:off x="7393781" y="2400970"/>
            <a:ext cx="1293019" cy="203597"/>
          </a:xfrm>
          <a:prstGeom prst="rect">
            <a:avLst/>
          </a:prstGeom>
          <a:noFill/>
          <a:ln/>
        </p:spPr>
        <p:txBody>
          <a:bodyPr wrap="none" lIns="0" tIns="0" rIns="0" bIns="0" rtlCol="0" anchor="ctr"/>
          <a:lstStyle/>
          <a:p>
            <a:pPr marL="0" indent="0" algn="ctr">
              <a:lnSpc>
                <a:spcPts val="928"/>
              </a:lnSpc>
              <a:buNone/>
            </a:pPr>
            <a:r>
              <a:rPr lang="en-US" sz="800" dirty="0">
                <a:solidFill>
                  <a:srgbClr val="0F2A4A"/>
                </a:solidFill>
                <a:latin typeface="Carlito" pitchFamily="34" charset="0"/>
                <a:ea typeface="Carlito" pitchFamily="34" charset="-122"/>
                <a:cs typeface="Carlito" pitchFamily="34" charset="-120"/>
              </a:rPr>
              <a:t>Logging &amp; Audit</a:t>
            </a:r>
            <a:endParaRPr lang="en-US" sz="800" dirty="0"/>
          </a:p>
        </p:txBody>
      </p:sp>
      <p:sp>
        <p:nvSpPr>
          <p:cNvPr id="75" name="Text 72"/>
          <p:cNvSpPr/>
          <p:nvPr/>
        </p:nvSpPr>
        <p:spPr>
          <a:xfrm>
            <a:off x="7370921" y="2635213"/>
            <a:ext cx="1338739" cy="228029"/>
          </a:xfrm>
          <a:prstGeom prst="roundRect">
            <a:avLst>
              <a:gd name="adj" fmla="val 4172923"/>
            </a:avLst>
          </a:prstGeom>
          <a:solidFill>
            <a:srgbClr val="F1F4F8"/>
          </a:solidFill>
          <a:ln w="7144">
            <a:solidFill>
              <a:srgbClr val="D8DEE6"/>
            </a:solidFill>
            <a:prstDash val="solid"/>
          </a:ln>
        </p:spPr>
        <p:txBody>
          <a:bodyPr wrap="square" rtlCol="0" anchor="ctr"/>
          <a:lstStyle/>
          <a:p>
            <a:pPr marL="0" indent="0">
              <a:buNone/>
            </a:pPr>
            <a:endParaRPr lang="en-US" dirty="0"/>
          </a:p>
        </p:txBody>
      </p:sp>
      <p:sp>
        <p:nvSpPr>
          <p:cNvPr id="76" name="Text 73"/>
          <p:cNvSpPr/>
          <p:nvPr/>
        </p:nvSpPr>
        <p:spPr>
          <a:xfrm>
            <a:off x="7393781" y="2647429"/>
            <a:ext cx="1293019" cy="203597"/>
          </a:xfrm>
          <a:prstGeom prst="rect">
            <a:avLst/>
          </a:prstGeom>
          <a:noFill/>
          <a:ln/>
        </p:spPr>
        <p:txBody>
          <a:bodyPr wrap="none" lIns="0" tIns="0" rIns="0" bIns="0" rtlCol="0" anchor="ctr"/>
          <a:lstStyle/>
          <a:p>
            <a:pPr marL="0" indent="0" algn="ctr">
              <a:lnSpc>
                <a:spcPts val="928"/>
              </a:lnSpc>
              <a:buNone/>
            </a:pPr>
            <a:r>
              <a:rPr lang="en-US" sz="800" dirty="0">
                <a:solidFill>
                  <a:srgbClr val="0F2A4A"/>
                </a:solidFill>
                <a:latin typeface="Carlito" pitchFamily="34" charset="0"/>
                <a:ea typeface="Carlito" pitchFamily="34" charset="-122"/>
                <a:cs typeface="Carlito" pitchFamily="34" charset="-120"/>
              </a:rPr>
              <a:t>Physical Tamper</a:t>
            </a:r>
            <a:endParaRPr lang="en-US" sz="800" dirty="0"/>
          </a:p>
        </p:txBody>
      </p:sp>
      <p:sp>
        <p:nvSpPr>
          <p:cNvPr id="77" name="Text 74"/>
          <p:cNvSpPr/>
          <p:nvPr/>
        </p:nvSpPr>
        <p:spPr>
          <a:xfrm>
            <a:off x="457200" y="2979613"/>
            <a:ext cx="8229600" cy="425053"/>
          </a:xfrm>
          <a:prstGeom prst="roundRect">
            <a:avLst>
              <a:gd name="adj" fmla="val 17927"/>
            </a:avLst>
          </a:prstGeom>
          <a:solidFill>
            <a:srgbClr val="FFFFFF"/>
          </a:solidFill>
          <a:ln/>
        </p:spPr>
        <p:txBody>
          <a:bodyPr wrap="square" rtlCol="0" anchor="ctr"/>
          <a:lstStyle/>
          <a:p>
            <a:pPr marL="0" indent="0">
              <a:buNone/>
            </a:pPr>
            <a:endParaRPr lang="en-US" dirty="0"/>
          </a:p>
        </p:txBody>
      </p:sp>
      <p:sp>
        <p:nvSpPr>
          <p:cNvPr id="78" name="Shape 75"/>
          <p:cNvSpPr/>
          <p:nvPr/>
        </p:nvSpPr>
        <p:spPr>
          <a:xfrm>
            <a:off x="457200" y="2983185"/>
            <a:ext cx="8229600" cy="0"/>
          </a:xfrm>
          <a:prstGeom prst="line">
            <a:avLst/>
          </a:prstGeom>
          <a:noFill/>
          <a:ln w="7144">
            <a:solidFill>
              <a:srgbClr val="D8DEE6"/>
            </a:solidFill>
            <a:prstDash val="solid"/>
          </a:ln>
        </p:spPr>
      </p:sp>
      <p:sp>
        <p:nvSpPr>
          <p:cNvPr id="79" name="Shape 76"/>
          <p:cNvSpPr/>
          <p:nvPr/>
        </p:nvSpPr>
        <p:spPr>
          <a:xfrm>
            <a:off x="8683228" y="2979613"/>
            <a:ext cx="0" cy="425053"/>
          </a:xfrm>
          <a:prstGeom prst="line">
            <a:avLst/>
          </a:prstGeom>
          <a:noFill/>
          <a:ln w="7144">
            <a:solidFill>
              <a:srgbClr val="D8DEE6"/>
            </a:solidFill>
            <a:prstDash val="solid"/>
          </a:ln>
        </p:spPr>
      </p:sp>
      <p:sp>
        <p:nvSpPr>
          <p:cNvPr id="80" name="Shape 77"/>
          <p:cNvSpPr/>
          <p:nvPr/>
        </p:nvSpPr>
        <p:spPr>
          <a:xfrm>
            <a:off x="457200" y="3401095"/>
            <a:ext cx="8229600" cy="0"/>
          </a:xfrm>
          <a:prstGeom prst="line">
            <a:avLst/>
          </a:prstGeom>
          <a:noFill/>
          <a:ln w="7144">
            <a:solidFill>
              <a:srgbClr val="D8DEE6"/>
            </a:solidFill>
            <a:prstDash val="solid"/>
          </a:ln>
        </p:spPr>
      </p:sp>
      <p:sp>
        <p:nvSpPr>
          <p:cNvPr id="81" name="Shape 78"/>
          <p:cNvSpPr/>
          <p:nvPr/>
        </p:nvSpPr>
        <p:spPr>
          <a:xfrm>
            <a:off x="467916" y="2979613"/>
            <a:ext cx="0" cy="425053"/>
          </a:xfrm>
          <a:prstGeom prst="line">
            <a:avLst/>
          </a:prstGeom>
          <a:noFill/>
          <a:ln w="21431">
            <a:solidFill>
              <a:srgbClr val="C9A961"/>
            </a:solidFill>
            <a:prstDash val="solid"/>
          </a:ln>
        </p:spPr>
      </p:sp>
      <p:sp>
        <p:nvSpPr>
          <p:cNvPr id="82" name="Text 79"/>
          <p:cNvSpPr/>
          <p:nvPr/>
        </p:nvSpPr>
        <p:spPr>
          <a:xfrm>
            <a:off x="592931" y="3113559"/>
            <a:ext cx="157163" cy="157163"/>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83" name="Text 80"/>
          <p:cNvSpPr/>
          <p:nvPr/>
        </p:nvSpPr>
        <p:spPr>
          <a:xfrm>
            <a:off x="864394" y="3058195"/>
            <a:ext cx="7700963" cy="267891"/>
          </a:xfrm>
          <a:prstGeom prst="rect">
            <a:avLst/>
          </a:prstGeom>
          <a:noFill/>
          <a:ln/>
        </p:spPr>
        <p:txBody>
          <a:bodyPr wrap="square" lIns="0" tIns="0" rIns="0" bIns="0" rtlCol="0" anchor="t"/>
          <a:lstStyle/>
          <a:p>
            <a:pPr marL="0" indent="0" algn="l">
              <a:lnSpc>
                <a:spcPts val="1055"/>
              </a:lnSpc>
              <a:buNone/>
            </a:pPr>
            <a:r>
              <a:rPr lang="en-US" sz="800" b="1" kern="0" spc="39" dirty="0">
                <a:solidFill>
                  <a:srgbClr val="0F2A4A"/>
                </a:solidFill>
                <a:latin typeface="Carlito" pitchFamily="34" charset="0"/>
                <a:ea typeface="Carlito" pitchFamily="34" charset="-122"/>
                <a:cs typeface="Carlito" pitchFamily="34" charset="-120"/>
              </a:rPr>
              <a:t>APPLICATION —</a:t>
            </a:r>
            <a:r>
              <a:rPr lang="en-US" sz="800" dirty="0">
                <a:solidFill>
                  <a:srgbClr val="1A2332"/>
                </a:solidFill>
                <a:latin typeface="Carlito" pitchFamily="34" charset="0"/>
                <a:ea typeface="Carlito" pitchFamily="34" charset="-122"/>
                <a:cs typeface="Carlito" pitchFamily="34" charset="-120"/>
              </a:rPr>
              <a:t>Smart-Lock vendor deploys ARMET: threat model identifies </a:t>
            </a:r>
            <a:r>
              <a:rPr lang="en-US" sz="800" dirty="0">
                <a:solidFill>
                  <a:srgbClr val="0F2A4A"/>
                </a:solidFill>
                <a:latin typeface="Carlito" pitchFamily="34" charset="0"/>
                <a:ea typeface="Carlito" pitchFamily="34" charset="-122"/>
                <a:cs typeface="Carlito" pitchFamily="34" charset="-120"/>
              </a:rPr>
              <a:t>relay attacks</a:t>
            </a:r>
            <a:r>
              <a:rPr lang="en-US" sz="800" dirty="0">
                <a:solidFill>
                  <a:srgbClr val="1A2332"/>
                </a:solidFill>
                <a:latin typeface="Liberation Sans Narrow" pitchFamily="34" charset="0"/>
                <a:ea typeface="Liberation Sans Narrow" pitchFamily="34" charset="-122"/>
                <a:cs typeface="Liberation Sans Narrow" pitchFamily="34" charset="-120"/>
              </a:rPr>
              <a:t>; capability map shows ESP32 has </a:t>
            </a:r>
            <a:r>
              <a:rPr lang="en-US" sz="800" dirty="0">
                <a:solidFill>
                  <a:srgbClr val="0F2A4A"/>
                </a:solidFill>
                <a:latin typeface="Carlito" pitchFamily="34" charset="0"/>
                <a:ea typeface="Carlito" pitchFamily="34" charset="-122"/>
                <a:cs typeface="Carlito" pitchFamily="34" charset="-120"/>
              </a:rPr>
              <a:t>AES + secure boot</a:t>
            </a:r>
            <a:r>
              <a:rPr lang="en-US" sz="800" dirty="0">
                <a:solidFill>
                  <a:srgbClr val="1A2332"/>
                </a:solidFill>
                <a:latin typeface="Carlito" pitchFamily="34" charset="0"/>
                <a:ea typeface="Carlito" pitchFamily="34" charset="-122"/>
                <a:cs typeface="Carlito" pitchFamily="34" charset="-120"/>
              </a:rPr>
              <a:t>; controls select </a:t>
            </a:r>
            <a:r>
              <a:rPr lang="en-US" sz="800" dirty="0">
                <a:solidFill>
                  <a:srgbClr val="0F2A4A"/>
                </a:solidFill>
                <a:latin typeface="Carlito" pitchFamily="34" charset="0"/>
                <a:ea typeface="Carlito" pitchFamily="34" charset="-122"/>
                <a:cs typeface="Carlito" pitchFamily="34" charset="-120"/>
              </a:rPr>
              <a:t>authenticated BLE + signed firmware</a:t>
            </a:r>
            <a:r>
              <a:rPr lang="en-US" sz="800" dirty="0">
                <a:solidFill>
                  <a:srgbClr val="1A2332"/>
                </a:solidFill>
                <a:latin typeface="Carlito" pitchFamily="34" charset="0"/>
                <a:ea typeface="Carlito" pitchFamily="34" charset="-122"/>
                <a:cs typeface="Carlito" pitchFamily="34" charset="-120"/>
              </a:rPr>
              <a:t>; CI verifies signatures on every build; runtime monitors door-actuator anomalies.</a:t>
            </a:r>
            <a:endParaRPr lang="en-US" sz="800" dirty="0"/>
          </a:p>
        </p:txBody>
      </p:sp>
      <p:sp>
        <p:nvSpPr>
          <p:cNvPr id="84" name="Text 81"/>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85" name="Text 82"/>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18 / 21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05395"/>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57175"/>
            <a:ext cx="7060927" cy="164592"/>
          </a:xfrm>
          <a:prstGeom prst="rect">
            <a:avLst/>
          </a:prstGeom>
          <a:noFill/>
          <a:ln/>
        </p:spPr>
        <p:txBody>
          <a:bodyPr wrap="none" lIns="0" tIns="0" rIns="0" bIns="0" rtlCol="0" anchor="t"/>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09 · PRIVACY &amp; DEPENDABILITY</a:t>
            </a:r>
            <a:endParaRPr lang="en-US" sz="800" dirty="0"/>
          </a:p>
        </p:txBody>
      </p:sp>
      <p:sp>
        <p:nvSpPr>
          <p:cNvPr id="5" name="Text 2"/>
          <p:cNvSpPr/>
          <p:nvPr/>
        </p:nvSpPr>
        <p:spPr>
          <a:xfrm>
            <a:off x="7532415" y="267891"/>
            <a:ext cx="1403751" cy="164592"/>
          </a:xfrm>
          <a:prstGeom prst="rect">
            <a:avLst/>
          </a:prstGeom>
          <a:noFill/>
          <a:ln/>
        </p:spPr>
        <p:txBody>
          <a:bodyPr wrap="none" lIns="0" tIns="0" rIns="0" bIns="0" rtlCol="0" anchor="t"/>
          <a:lstStyle/>
          <a:p>
            <a:pPr marL="0" indent="0" algn="l">
              <a:lnSpc>
                <a:spcPts val="928"/>
              </a:lnSpc>
              <a:buNone/>
            </a:pPr>
            <a:r>
              <a:rPr lang="en-US" sz="800" kern="0" spc="93" dirty="0">
                <a:solidFill>
                  <a:srgbClr val="6B7280"/>
                </a:solidFill>
                <a:latin typeface="Liberation Sans Narrow" pitchFamily="34" charset="0"/>
                <a:ea typeface="Liberation Sans Narrow" pitchFamily="34" charset="-122"/>
                <a:cs typeface="Liberation Sans Narrow" pitchFamily="34" charset="-120"/>
              </a:rPr>
              <a:t>CONCEPT · LECTURE 9 / 9</a:t>
            </a:r>
            <a:endParaRPr lang="en-US" sz="800" dirty="0"/>
          </a:p>
        </p:txBody>
      </p:sp>
      <p:sp>
        <p:nvSpPr>
          <p:cNvPr id="6" name="Text 3"/>
          <p:cNvSpPr/>
          <p:nvPr/>
        </p:nvSpPr>
        <p:spPr>
          <a:xfrm>
            <a:off x="457200" y="496491"/>
            <a:ext cx="4416177" cy="532352"/>
          </a:xfrm>
          <a:prstGeom prst="rect">
            <a:avLst/>
          </a:prstGeom>
          <a:noFill/>
          <a:ln/>
        </p:spPr>
        <p:txBody>
          <a:bodyPr wrap="square" lIns="0" tIns="0" rIns="0" bIns="0" rtlCol="0" anchor="t"/>
          <a:lstStyle/>
          <a:p>
            <a:pPr marL="0" indent="0" algn="l">
              <a:lnSpc>
                <a:spcPts val="1941"/>
              </a:lnSpc>
              <a:buNone/>
            </a:pPr>
            <a:r>
              <a:rPr lang="en-US" sz="1688" b="1" kern="0" spc="-25" dirty="0">
                <a:solidFill>
                  <a:srgbClr val="0F2A4A"/>
                </a:solidFill>
                <a:latin typeface="Tinos" pitchFamily="34" charset="0"/>
                <a:ea typeface="Tinos" pitchFamily="34" charset="-122"/>
                <a:cs typeface="Tinos" pitchFamily="34" charset="-120"/>
              </a:rPr>
              <a:t>Beyond Security — Privacy, Reliability, Availability, Safety</a:t>
            </a:r>
            <a:endParaRPr lang="en-US" sz="1688" dirty="0"/>
          </a:p>
        </p:txBody>
      </p:sp>
      <p:sp>
        <p:nvSpPr>
          <p:cNvPr id="7" name="Text 4"/>
          <p:cNvSpPr/>
          <p:nvPr/>
        </p:nvSpPr>
        <p:spPr>
          <a:xfrm>
            <a:off x="457200" y="1075134"/>
            <a:ext cx="4416177" cy="717518"/>
          </a:xfrm>
          <a:prstGeom prst="rect">
            <a:avLst/>
          </a:prstGeom>
          <a:noFill/>
          <a:ln/>
        </p:spPr>
        <p:txBody>
          <a:bodyPr wrap="square" lIns="0" tIns="0" rIns="0" bIns="0" rtlCol="0" anchor="t"/>
          <a:lstStyle/>
          <a:p>
            <a:pPr marL="0" indent="0" algn="l">
              <a:lnSpc>
                <a:spcPts val="1308"/>
              </a:lnSpc>
              <a:buNone/>
            </a:pPr>
            <a:r>
              <a:rPr lang="en-US" sz="844" dirty="0">
                <a:solidFill>
                  <a:srgbClr val="4A5568"/>
                </a:solidFill>
                <a:latin typeface="Carlito" pitchFamily="34" charset="0"/>
                <a:ea typeface="Carlito" pitchFamily="34" charset="-122"/>
                <a:cs typeface="Carlito" pitchFamily="34" charset="-120"/>
              </a:rPr>
              <a:t>Dependability is the umbrella property that encompasses reliability, availability, safety, and security. Privacy is the additional promise that personal data is collected, processed, and retained only with user consent and only for stated purposes — a regulated expectation under GDPR, CCPA, and similar frameworks.</a:t>
            </a:r>
            <a:endParaRPr lang="en-US" sz="844" dirty="0"/>
          </a:p>
        </p:txBody>
      </p:sp>
      <p:sp>
        <p:nvSpPr>
          <p:cNvPr id="8" name="Shape 5"/>
          <p:cNvSpPr/>
          <p:nvPr/>
        </p:nvSpPr>
        <p:spPr>
          <a:xfrm>
            <a:off x="457200" y="2207419"/>
            <a:ext cx="4416177" cy="0"/>
          </a:xfrm>
          <a:prstGeom prst="line">
            <a:avLst/>
          </a:prstGeom>
          <a:noFill/>
          <a:ln w="7144">
            <a:solidFill>
              <a:srgbClr val="E5E9EE"/>
            </a:solidFill>
            <a:prstDash val="solid"/>
          </a:ln>
        </p:spPr>
      </p:sp>
      <p:sp>
        <p:nvSpPr>
          <p:cNvPr id="9" name="Text 6"/>
          <p:cNvSpPr/>
          <p:nvPr/>
        </p:nvSpPr>
        <p:spPr>
          <a:xfrm>
            <a:off x="457200" y="1932384"/>
            <a:ext cx="57150" cy="57150"/>
          </a:xfrm>
          <a:prstGeom prst="ellipse">
            <a:avLst/>
          </a:prstGeom>
          <a:solidFill>
            <a:srgbClr val="C9A961"/>
          </a:solidFill>
          <a:ln/>
        </p:spPr>
        <p:txBody>
          <a:bodyPr wrap="square" rtlCol="0" anchor="ctr"/>
          <a:lstStyle/>
          <a:p>
            <a:pPr marL="0" indent="0">
              <a:buNone/>
            </a:pPr>
            <a:endParaRPr lang="en-US" dirty="0"/>
          </a:p>
        </p:txBody>
      </p:sp>
      <p:sp>
        <p:nvSpPr>
          <p:cNvPr id="10" name="Text 7"/>
          <p:cNvSpPr/>
          <p:nvPr/>
        </p:nvSpPr>
        <p:spPr>
          <a:xfrm>
            <a:off x="642938" y="1875234"/>
            <a:ext cx="4230439" cy="278606"/>
          </a:xfrm>
          <a:prstGeom prst="rect">
            <a:avLst/>
          </a:prstGeom>
          <a:noFill/>
          <a:ln/>
        </p:spPr>
        <p:txBody>
          <a:bodyPr wrap="square" lIns="0" tIns="0" rIns="0" bIns="0" rtlCol="0" anchor="t"/>
          <a:lstStyle/>
          <a:p>
            <a:pPr marL="0" indent="0" algn="l">
              <a:lnSpc>
                <a:spcPts val="1097"/>
              </a:lnSpc>
              <a:buNone/>
            </a:pPr>
            <a:r>
              <a:rPr lang="en-US" sz="800" dirty="0">
                <a:solidFill>
                  <a:srgbClr val="0F2A4A"/>
                </a:solidFill>
                <a:latin typeface="Carlito" pitchFamily="34" charset="0"/>
                <a:ea typeface="Carlito" pitchFamily="34" charset="-122"/>
                <a:cs typeface="Carlito" pitchFamily="34" charset="-120"/>
              </a:rPr>
              <a:t>Dependability attributes</a:t>
            </a:r>
            <a:r>
              <a:rPr lang="en-US" sz="800" dirty="0">
                <a:solidFill>
                  <a:srgbClr val="1A2332"/>
                </a:solidFill>
                <a:latin typeface="Carlito" pitchFamily="34" charset="0"/>
                <a:ea typeface="Carlito" pitchFamily="34" charset="-122"/>
                <a:cs typeface="Carlito" pitchFamily="34" charset="-120"/>
              </a:rPr>
              <a:t> — Reliability (MTBF), Availability (uptime), Safety (no harm), Security (no breach), Maintainability.</a:t>
            </a:r>
            <a:endParaRPr lang="en-US" sz="800" dirty="0"/>
          </a:p>
        </p:txBody>
      </p:sp>
      <p:sp>
        <p:nvSpPr>
          <p:cNvPr id="11" name="Shape 8"/>
          <p:cNvSpPr/>
          <p:nvPr/>
        </p:nvSpPr>
        <p:spPr>
          <a:xfrm>
            <a:off x="457200" y="2593181"/>
            <a:ext cx="4416177" cy="0"/>
          </a:xfrm>
          <a:prstGeom prst="line">
            <a:avLst/>
          </a:prstGeom>
          <a:noFill/>
          <a:ln w="7144">
            <a:solidFill>
              <a:srgbClr val="E5E9EE"/>
            </a:solidFill>
            <a:prstDash val="solid"/>
          </a:ln>
        </p:spPr>
      </p:sp>
      <p:sp>
        <p:nvSpPr>
          <p:cNvPr id="12" name="Text 9"/>
          <p:cNvSpPr/>
          <p:nvPr/>
        </p:nvSpPr>
        <p:spPr>
          <a:xfrm>
            <a:off x="457200" y="2318147"/>
            <a:ext cx="57150" cy="57150"/>
          </a:xfrm>
          <a:prstGeom prst="ellipse">
            <a:avLst/>
          </a:prstGeom>
          <a:solidFill>
            <a:srgbClr val="C9A961"/>
          </a:solidFill>
          <a:ln/>
        </p:spPr>
        <p:txBody>
          <a:bodyPr wrap="square" rtlCol="0" anchor="ctr"/>
          <a:lstStyle/>
          <a:p>
            <a:pPr marL="0" indent="0">
              <a:buNone/>
            </a:pPr>
            <a:endParaRPr lang="en-US" dirty="0"/>
          </a:p>
        </p:txBody>
      </p:sp>
      <p:sp>
        <p:nvSpPr>
          <p:cNvPr id="13" name="Text 10"/>
          <p:cNvSpPr/>
          <p:nvPr/>
        </p:nvSpPr>
        <p:spPr>
          <a:xfrm>
            <a:off x="642938" y="2260997"/>
            <a:ext cx="4230439" cy="278606"/>
          </a:xfrm>
          <a:prstGeom prst="rect">
            <a:avLst/>
          </a:prstGeom>
          <a:noFill/>
          <a:ln/>
        </p:spPr>
        <p:txBody>
          <a:bodyPr wrap="square" lIns="0" tIns="0" rIns="0" bIns="0" rtlCol="0" anchor="t"/>
          <a:lstStyle/>
          <a:p>
            <a:pPr marL="0" indent="0" algn="l">
              <a:lnSpc>
                <a:spcPts val="1097"/>
              </a:lnSpc>
              <a:buNone/>
            </a:pPr>
            <a:r>
              <a:rPr lang="en-US" sz="800" dirty="0">
                <a:solidFill>
                  <a:srgbClr val="0F2A4A"/>
                </a:solidFill>
                <a:latin typeface="Carlito" pitchFamily="34" charset="0"/>
                <a:ea typeface="Carlito" pitchFamily="34" charset="-122"/>
                <a:cs typeface="Carlito" pitchFamily="34" charset="-120"/>
              </a:rPr>
              <a:t>Privacy principles</a:t>
            </a:r>
            <a:r>
              <a:rPr lang="en-US" sz="800" dirty="0">
                <a:solidFill>
                  <a:srgbClr val="1A2332"/>
                </a:solidFill>
                <a:latin typeface="Carlito" pitchFamily="34" charset="0"/>
                <a:ea typeface="Carlito" pitchFamily="34" charset="-122"/>
                <a:cs typeface="Carlito" pitchFamily="34" charset="-120"/>
              </a:rPr>
              <a:t> — Data minimization, purpose limitation, consent, right to erasure, end-to-end encryption.</a:t>
            </a:r>
            <a:endParaRPr lang="en-US" sz="800" dirty="0"/>
          </a:p>
        </p:txBody>
      </p:sp>
      <p:sp>
        <p:nvSpPr>
          <p:cNvPr id="14" name="Text 11"/>
          <p:cNvSpPr/>
          <p:nvPr/>
        </p:nvSpPr>
        <p:spPr>
          <a:xfrm>
            <a:off x="457200" y="2703909"/>
            <a:ext cx="57150" cy="57150"/>
          </a:xfrm>
          <a:prstGeom prst="ellipse">
            <a:avLst/>
          </a:prstGeom>
          <a:solidFill>
            <a:srgbClr val="C9A961"/>
          </a:solidFill>
          <a:ln/>
        </p:spPr>
        <p:txBody>
          <a:bodyPr wrap="square" rtlCol="0" anchor="ctr"/>
          <a:lstStyle/>
          <a:p>
            <a:pPr marL="0" indent="0">
              <a:buNone/>
            </a:pPr>
            <a:endParaRPr lang="en-US" dirty="0"/>
          </a:p>
        </p:txBody>
      </p:sp>
      <p:sp>
        <p:nvSpPr>
          <p:cNvPr id="15" name="Text 12"/>
          <p:cNvSpPr/>
          <p:nvPr/>
        </p:nvSpPr>
        <p:spPr>
          <a:xfrm>
            <a:off x="642938" y="2646759"/>
            <a:ext cx="4230439" cy="329184"/>
          </a:xfrm>
          <a:prstGeom prst="rect">
            <a:avLst/>
          </a:prstGeom>
          <a:noFill/>
          <a:ln/>
        </p:spPr>
        <p:txBody>
          <a:bodyPr wrap="square" lIns="0" tIns="0" rIns="0" bIns="0" rtlCol="0" anchor="t"/>
          <a:lstStyle/>
          <a:p>
            <a:pPr marL="0" indent="0" algn="l">
              <a:lnSpc>
                <a:spcPts val="1097"/>
              </a:lnSpc>
              <a:buNone/>
            </a:pPr>
            <a:r>
              <a:rPr lang="en-US" sz="800" dirty="0">
                <a:solidFill>
                  <a:srgbClr val="0F2A4A"/>
                </a:solidFill>
                <a:latin typeface="Carlito" pitchFamily="34" charset="0"/>
                <a:ea typeface="Carlito" pitchFamily="34" charset="-122"/>
                <a:cs typeface="Carlito" pitchFamily="34" charset="-120"/>
              </a:rPr>
              <a:t>Fault → Error → Failure</a:t>
            </a:r>
            <a:r>
              <a:rPr lang="en-US" sz="800" dirty="0">
                <a:solidFill>
                  <a:srgbClr val="1A2332"/>
                </a:solidFill>
                <a:latin typeface="Carlito" pitchFamily="34" charset="0"/>
                <a:ea typeface="Carlito" pitchFamily="34" charset="-122"/>
                <a:cs typeface="Carlito" pitchFamily="34" charset="-120"/>
              </a:rPr>
              <a:t> — A fault (bug/attack) becomes an error (wrong state) becomes a failure (service unavailable).</a:t>
            </a:r>
            <a:endParaRPr lang="en-US" sz="800" dirty="0"/>
          </a:p>
        </p:txBody>
      </p:sp>
      <p:pic>
        <p:nvPicPr>
          <p:cNvPr id="16" name="Image 1" descr="/tmp/h2p-fit-1790255564968-6qx9p1.png"/>
          <p:cNvPicPr>
            <a:picLocks noChangeAspect="1"/>
          </p:cNvPicPr>
          <p:nvPr/>
        </p:nvPicPr>
        <p:blipFill>
          <a:blip r:embed="rId4"/>
          <a:stretch>
            <a:fillRect/>
          </a:stretch>
        </p:blipFill>
        <p:spPr>
          <a:xfrm>
            <a:off x="5073402" y="496491"/>
            <a:ext cx="3613398" cy="1428750"/>
          </a:xfrm>
          <a:prstGeom prst="rect">
            <a:avLst/>
          </a:prstGeom>
          <a:effectLst>
            <a:outerShdw blurRad="114300" dist="38100" dir="5400000" algn="bl" rotWithShape="0">
              <a:srgbClr val="0F2A4A">
                <a:alpha val="12000"/>
              </a:srgbClr>
            </a:outerShdw>
          </a:effectLst>
        </p:spPr>
      </p:pic>
      <p:sp>
        <p:nvSpPr>
          <p:cNvPr id="17" name="Text 13"/>
          <p:cNvSpPr/>
          <p:nvPr/>
        </p:nvSpPr>
        <p:spPr>
          <a:xfrm>
            <a:off x="5073402" y="1982391"/>
            <a:ext cx="3613398" cy="153526"/>
          </a:xfrm>
          <a:prstGeom prst="rect">
            <a:avLst/>
          </a:prstGeom>
          <a:noFill/>
          <a:ln/>
        </p:spPr>
        <p:txBody>
          <a:bodyPr wrap="square" lIns="0" tIns="0" rIns="0" bIns="0" rtlCol="0" anchor="t"/>
          <a:lstStyle/>
          <a:p>
            <a:pPr marL="0" indent="0" algn="l">
              <a:lnSpc>
                <a:spcPts val="866"/>
              </a:lnSpc>
              <a:buNone/>
            </a:pPr>
            <a:r>
              <a:rPr lang="en-US" sz="619" i="1" dirty="0">
                <a:solidFill>
                  <a:srgbClr val="6B7280"/>
                </a:solidFill>
                <a:latin typeface="Carlito" pitchFamily="34" charset="0"/>
                <a:ea typeface="Carlito" pitchFamily="34" charset="-122"/>
                <a:cs typeface="Carlito" pitchFamily="34" charset="-120"/>
              </a:rPr>
              <a:t>Privacy is a hardening outcome — the padlock is only as strong as the weakest control.</a:t>
            </a:r>
            <a:endParaRPr lang="en-US" sz="619" dirty="0"/>
          </a:p>
        </p:txBody>
      </p:sp>
      <p:sp>
        <p:nvSpPr>
          <p:cNvPr id="18" name="Text 14"/>
          <p:cNvSpPr/>
          <p:nvPr/>
        </p:nvSpPr>
        <p:spPr>
          <a:xfrm>
            <a:off x="5076974" y="2181634"/>
            <a:ext cx="3606254" cy="1163315"/>
          </a:xfrm>
          <a:prstGeom prst="roundRect">
            <a:avLst>
              <a:gd name="adj" fmla="val 6550"/>
            </a:avLst>
          </a:prstGeom>
          <a:solidFill>
            <a:srgbClr val="FFFFFF"/>
          </a:solidFill>
          <a:ln w="7144">
            <a:solidFill>
              <a:srgbClr val="D8DEE6"/>
            </a:solidFill>
            <a:prstDash val="solid"/>
          </a:ln>
        </p:spPr>
        <p:txBody>
          <a:bodyPr wrap="square" rtlCol="0" anchor="ctr"/>
          <a:lstStyle/>
          <a:p>
            <a:pPr marL="0" indent="0">
              <a:buNone/>
            </a:pPr>
            <a:endParaRPr lang="en-US" dirty="0"/>
          </a:p>
        </p:txBody>
      </p:sp>
      <p:sp>
        <p:nvSpPr>
          <p:cNvPr id="19" name="Shape 15"/>
          <p:cNvSpPr/>
          <p:nvPr/>
        </p:nvSpPr>
        <p:spPr>
          <a:xfrm>
            <a:off x="5209133" y="2463812"/>
            <a:ext cx="3341936" cy="0"/>
          </a:xfrm>
          <a:prstGeom prst="line">
            <a:avLst/>
          </a:prstGeom>
          <a:noFill/>
          <a:ln w="7144">
            <a:solidFill>
              <a:srgbClr val="E5E9EE"/>
            </a:solidFill>
            <a:prstDash val="solid"/>
          </a:ln>
        </p:spPr>
      </p:sp>
      <p:sp>
        <p:nvSpPr>
          <p:cNvPr id="20" name="Text 16"/>
          <p:cNvSpPr/>
          <p:nvPr/>
        </p:nvSpPr>
        <p:spPr>
          <a:xfrm>
            <a:off x="5366296" y="2299506"/>
            <a:ext cx="1334034" cy="119703"/>
          </a:xfrm>
          <a:prstGeom prst="rect">
            <a:avLst/>
          </a:prstGeom>
          <a:noFill/>
          <a:ln/>
        </p:spPr>
        <p:txBody>
          <a:bodyPr wrap="none" lIns="0" tIns="0" rIns="0" bIns="57150" rtlCol="0" anchor="t"/>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KEY REGULATIONS</a:t>
            </a:r>
            <a:endParaRPr lang="en-US" sz="800" dirty="0"/>
          </a:p>
        </p:txBody>
      </p:sp>
      <p:sp>
        <p:nvSpPr>
          <p:cNvPr id="21" name="Text 17"/>
          <p:cNvSpPr/>
          <p:nvPr/>
        </p:nvSpPr>
        <p:spPr>
          <a:xfrm>
            <a:off x="5209133" y="2294148"/>
            <a:ext cx="100013" cy="100013"/>
          </a:xfrm>
          <a:prstGeom prst="rect">
            <a:avLst/>
          </a:prstGeom>
          <a:noFill/>
          <a:ln/>
        </p:spPr>
        <p:txBody>
          <a:bodyPr wrap="none" lIns="0" tIns="0" rIns="0" bIns="0" rtlCol="0" anchor="ctr"/>
          <a:lstStyle/>
          <a:p>
            <a:pPr marL="0" indent="0" algn="ctr">
              <a:buNone/>
            </a:pPr>
            <a:r>
              <a:rPr lang="en-US" sz="984" dirty="0">
                <a:solidFill>
                  <a:srgbClr val="C9A961"/>
                </a:solidFill>
                <a:latin typeface="Segoe UI Symbol" pitchFamily="34" charset="0"/>
                <a:ea typeface="Segoe UI Symbol" pitchFamily="34" charset="-122"/>
                <a:cs typeface="Segoe UI Symbol" pitchFamily="34" charset="-120"/>
              </a:rPr>
              <a:t>⚖</a:t>
            </a:r>
            <a:endParaRPr lang="en-US" sz="984" dirty="0"/>
          </a:p>
        </p:txBody>
      </p:sp>
      <p:sp>
        <p:nvSpPr>
          <p:cNvPr id="22" name="Shape 18"/>
          <p:cNvSpPr/>
          <p:nvPr/>
        </p:nvSpPr>
        <p:spPr>
          <a:xfrm>
            <a:off x="5209133" y="2747218"/>
            <a:ext cx="3341936" cy="0"/>
          </a:xfrm>
          <a:prstGeom prst="line">
            <a:avLst/>
          </a:prstGeom>
          <a:noFill/>
          <a:ln w="7144">
            <a:solidFill>
              <a:srgbClr val="E5E9EE"/>
            </a:solidFill>
            <a:prstDash val="dash"/>
          </a:ln>
        </p:spPr>
      </p:sp>
      <p:sp>
        <p:nvSpPr>
          <p:cNvPr id="23" name="Text 19"/>
          <p:cNvSpPr/>
          <p:nvPr/>
        </p:nvSpPr>
        <p:spPr>
          <a:xfrm>
            <a:off x="5209133" y="2581684"/>
            <a:ext cx="889676" cy="119100"/>
          </a:xfrm>
          <a:prstGeom prst="rect">
            <a:avLst/>
          </a:prstGeom>
          <a:noFill/>
          <a:ln/>
        </p:spPr>
        <p:txBody>
          <a:bodyPr wrap="none" lIns="0" tIns="0" rIns="0" bIns="0" rtlCol="0" anchor="t"/>
          <a:lstStyle/>
          <a:p>
            <a:pPr marL="0" indent="0" algn="l">
              <a:lnSpc>
                <a:spcPts val="928"/>
              </a:lnSpc>
              <a:buNone/>
            </a:pPr>
            <a:r>
              <a:rPr lang="en-US" sz="800" b="1" kern="0" spc="25" dirty="0">
                <a:solidFill>
                  <a:srgbClr val="0F2A4A"/>
                </a:solidFill>
                <a:latin typeface="Courier New" pitchFamily="34" charset="0"/>
                <a:ea typeface="Courier New" pitchFamily="34" charset="-122"/>
                <a:cs typeface="Courier New" pitchFamily="34" charset="-120"/>
              </a:rPr>
              <a:t>GDPR (EU)</a:t>
            </a:r>
            <a:endParaRPr lang="en-US" sz="800" dirty="0"/>
          </a:p>
        </p:txBody>
      </p:sp>
      <p:sp>
        <p:nvSpPr>
          <p:cNvPr id="24" name="Text 20"/>
          <p:cNvSpPr/>
          <p:nvPr/>
        </p:nvSpPr>
        <p:spPr>
          <a:xfrm>
            <a:off x="5959227" y="2581684"/>
            <a:ext cx="2701570" cy="119100"/>
          </a:xfrm>
          <a:prstGeom prst="rect">
            <a:avLst/>
          </a:prstGeom>
          <a:noFill/>
          <a:ln/>
        </p:spPr>
        <p:txBody>
          <a:bodyPr wrap="square" lIns="0" tIns="0" rIns="0" bIns="0" rtlCol="0" anchor="t"/>
          <a:lstStyle/>
          <a:p>
            <a:pPr marL="0" indent="0" algn="l">
              <a:lnSpc>
                <a:spcPts val="938"/>
              </a:lnSpc>
              <a:buNone/>
            </a:pPr>
            <a:r>
              <a:rPr lang="en-US" sz="800" b="1" dirty="0">
                <a:solidFill>
                  <a:srgbClr val="B91C1C"/>
                </a:solidFill>
                <a:latin typeface="Liberation Sans Narrow" pitchFamily="34" charset="0"/>
                <a:ea typeface="Liberation Sans Narrow" pitchFamily="34" charset="-122"/>
                <a:cs typeface="Liberation Sans Narrow" pitchFamily="34" charset="-120"/>
              </a:rPr>
              <a:t>€20M</a:t>
            </a:r>
            <a:r>
              <a:rPr lang="en-US" sz="800" dirty="0">
                <a:solidFill>
                  <a:srgbClr val="4A5568"/>
                </a:solidFill>
                <a:latin typeface="Liberation Sans Narrow" pitchFamily="34" charset="0"/>
                <a:ea typeface="Liberation Sans Narrow" pitchFamily="34" charset="-122"/>
                <a:cs typeface="Liberation Sans Narrow" pitchFamily="34" charset="-120"/>
              </a:rPr>
              <a:t> or 4% of global revenue, max fine</a:t>
            </a:r>
            <a:endParaRPr lang="en-US" sz="800" dirty="0"/>
          </a:p>
        </p:txBody>
      </p:sp>
      <p:sp>
        <p:nvSpPr>
          <p:cNvPr id="25" name="Shape 21"/>
          <p:cNvSpPr/>
          <p:nvPr/>
        </p:nvSpPr>
        <p:spPr>
          <a:xfrm>
            <a:off x="5209133" y="3075831"/>
            <a:ext cx="3341936" cy="0"/>
          </a:xfrm>
          <a:prstGeom prst="line">
            <a:avLst/>
          </a:prstGeom>
          <a:noFill/>
          <a:ln w="7144">
            <a:solidFill>
              <a:srgbClr val="E5E9EE"/>
            </a:solidFill>
            <a:prstDash val="dash"/>
          </a:ln>
        </p:spPr>
      </p:sp>
      <p:sp>
        <p:nvSpPr>
          <p:cNvPr id="26" name="Text 22"/>
          <p:cNvSpPr/>
          <p:nvPr/>
        </p:nvSpPr>
        <p:spPr>
          <a:xfrm>
            <a:off x="5209133" y="2793653"/>
            <a:ext cx="678656" cy="235744"/>
          </a:xfrm>
          <a:prstGeom prst="rect">
            <a:avLst/>
          </a:prstGeom>
          <a:noFill/>
          <a:ln/>
        </p:spPr>
        <p:txBody>
          <a:bodyPr wrap="square" lIns="0" tIns="0" rIns="0" bIns="0" rtlCol="0" anchor="t"/>
          <a:lstStyle/>
          <a:p>
            <a:pPr marL="0" indent="0" algn="l">
              <a:lnSpc>
                <a:spcPts val="928"/>
              </a:lnSpc>
              <a:buNone/>
            </a:pPr>
            <a:r>
              <a:rPr lang="en-US" sz="800" b="1" kern="0" spc="25" dirty="0">
                <a:solidFill>
                  <a:srgbClr val="0F2A4A"/>
                </a:solidFill>
                <a:latin typeface="Courier New" pitchFamily="34" charset="0"/>
                <a:ea typeface="Courier New" pitchFamily="34" charset="-122"/>
                <a:cs typeface="Courier New" pitchFamily="34" charset="-120"/>
              </a:rPr>
              <a:t>CCPA / CPRA (CA)</a:t>
            </a:r>
            <a:endParaRPr lang="en-US" sz="800" dirty="0"/>
          </a:p>
        </p:txBody>
      </p:sp>
      <p:sp>
        <p:nvSpPr>
          <p:cNvPr id="27" name="Text 23"/>
          <p:cNvSpPr/>
          <p:nvPr/>
        </p:nvSpPr>
        <p:spPr>
          <a:xfrm>
            <a:off x="5959227" y="2793653"/>
            <a:ext cx="2701570" cy="159076"/>
          </a:xfrm>
          <a:prstGeom prst="rect">
            <a:avLst/>
          </a:prstGeom>
          <a:noFill/>
          <a:ln/>
        </p:spPr>
        <p:txBody>
          <a:bodyPr wrap="square" lIns="0" tIns="0" rIns="0" bIns="0" rtlCol="0" anchor="t"/>
          <a:lstStyle/>
          <a:p>
            <a:pPr marL="0" indent="0" algn="l">
              <a:lnSpc>
                <a:spcPts val="938"/>
              </a:lnSpc>
              <a:buNone/>
            </a:pPr>
            <a:r>
              <a:rPr lang="en-US" sz="800" b="1" dirty="0">
                <a:solidFill>
                  <a:srgbClr val="B91C1C"/>
                </a:solidFill>
                <a:latin typeface="Liberation Sans Narrow" pitchFamily="34" charset="0"/>
                <a:ea typeface="Liberation Sans Narrow" pitchFamily="34" charset="-122"/>
                <a:cs typeface="Liberation Sans Narrow" pitchFamily="34" charset="-120"/>
              </a:rPr>
              <a:t>$7,500</a:t>
            </a:r>
            <a:r>
              <a:rPr lang="en-US" sz="800" dirty="0">
                <a:solidFill>
                  <a:srgbClr val="4A5568"/>
                </a:solidFill>
                <a:latin typeface="Carlito" pitchFamily="34" charset="0"/>
                <a:ea typeface="Carlito" pitchFamily="34" charset="-122"/>
                <a:cs typeface="Carlito" pitchFamily="34" charset="-120"/>
              </a:rPr>
              <a:t> per intentional violation</a:t>
            </a:r>
            <a:endParaRPr lang="en-US" sz="800" dirty="0"/>
          </a:p>
        </p:txBody>
      </p:sp>
      <p:sp>
        <p:nvSpPr>
          <p:cNvPr id="28" name="Text 24"/>
          <p:cNvSpPr/>
          <p:nvPr/>
        </p:nvSpPr>
        <p:spPr>
          <a:xfrm>
            <a:off x="5209133" y="3122265"/>
            <a:ext cx="816381" cy="119100"/>
          </a:xfrm>
          <a:prstGeom prst="rect">
            <a:avLst/>
          </a:prstGeom>
          <a:noFill/>
          <a:ln/>
        </p:spPr>
        <p:txBody>
          <a:bodyPr wrap="none" lIns="0" tIns="0" rIns="0" bIns="0" rtlCol="0" anchor="t"/>
          <a:lstStyle/>
          <a:p>
            <a:pPr marL="0" indent="0" algn="l">
              <a:lnSpc>
                <a:spcPts val="928"/>
              </a:lnSpc>
              <a:buNone/>
            </a:pPr>
            <a:r>
              <a:rPr lang="en-US" sz="800" b="1" kern="0" spc="25" dirty="0">
                <a:solidFill>
                  <a:srgbClr val="0F2A4A"/>
                </a:solidFill>
                <a:latin typeface="Courier New" pitchFamily="34" charset="0"/>
                <a:ea typeface="Courier New" pitchFamily="34" charset="-122"/>
                <a:cs typeface="Courier New" pitchFamily="34" charset="-120"/>
              </a:rPr>
              <a:t>IoT Act (US)</a:t>
            </a:r>
            <a:endParaRPr lang="en-US" sz="800" dirty="0"/>
          </a:p>
        </p:txBody>
      </p:sp>
      <p:sp>
        <p:nvSpPr>
          <p:cNvPr id="29" name="Text 25"/>
          <p:cNvSpPr/>
          <p:nvPr/>
        </p:nvSpPr>
        <p:spPr>
          <a:xfrm>
            <a:off x="5959227" y="3122265"/>
            <a:ext cx="2591842" cy="119100"/>
          </a:xfrm>
          <a:prstGeom prst="rect">
            <a:avLst/>
          </a:prstGeom>
          <a:noFill/>
          <a:ln/>
        </p:spPr>
        <p:txBody>
          <a:bodyPr wrap="square" lIns="0" tIns="0" rIns="0" bIns="0" rtlCol="0" anchor="t"/>
          <a:lstStyle/>
          <a:p>
            <a:pPr marL="0" indent="0" algn="l">
              <a:lnSpc>
                <a:spcPts val="938"/>
              </a:lnSpc>
              <a:buNone/>
            </a:pPr>
            <a:r>
              <a:rPr lang="en-US" sz="647" dirty="0">
                <a:solidFill>
                  <a:srgbClr val="4A5568"/>
                </a:solidFill>
                <a:latin typeface="Carlito" pitchFamily="34" charset="0"/>
                <a:ea typeface="Carlito" pitchFamily="34" charset="-122"/>
                <a:cs typeface="Carlito" pitchFamily="34" charset="-120"/>
              </a:rPr>
              <a:t>NIST baseline for federal IoT — </a:t>
            </a:r>
            <a:r>
              <a:rPr lang="en-US" sz="647" b="1" dirty="0">
                <a:solidFill>
                  <a:srgbClr val="0F2A4A"/>
                </a:solidFill>
                <a:latin typeface="Carlito" pitchFamily="34" charset="0"/>
                <a:ea typeface="Carlito" pitchFamily="34" charset="-122"/>
                <a:cs typeface="Carlito" pitchFamily="34" charset="-120"/>
              </a:rPr>
              <a:t>IoT Cybersecurity Improvement Act</a:t>
            </a:r>
            <a:endParaRPr lang="en-US" sz="647" dirty="0"/>
          </a:p>
        </p:txBody>
      </p:sp>
      <p:sp>
        <p:nvSpPr>
          <p:cNvPr id="30" name="Text 26"/>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31" name="Text 27"/>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19 / 21</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457200" y="335756"/>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457200" y="287536"/>
            <a:ext cx="2112652" cy="156520"/>
          </a:xfrm>
          <a:prstGeom prst="rect">
            <a:avLst/>
          </a:prstGeom>
          <a:noFill/>
          <a:ln/>
        </p:spPr>
        <p:txBody>
          <a:bodyPr wrap="none" lIns="0" tIns="0" rIns="0" bIns="0" rtlCol="0" anchor="t">
            <a:normAutofit/>
          </a:bodyPr>
          <a:lstStyle/>
          <a:p>
            <a:pPr marL="0" indent="0" algn="l">
              <a:lnSpc>
                <a:spcPts val="1097"/>
              </a:lnSpc>
              <a:buNone/>
            </a:pPr>
            <a:r>
              <a:rPr lang="en-US" sz="800" kern="0" spc="110" dirty="0">
                <a:solidFill>
                  <a:srgbClr val="C9A961"/>
                </a:solidFill>
                <a:latin typeface="Liberation Sans Narrow" pitchFamily="34" charset="0"/>
                <a:ea typeface="Liberation Sans Narrow" pitchFamily="34" charset="-122"/>
                <a:cs typeface="Liberation Sans Narrow" pitchFamily="34" charset="-120"/>
              </a:rPr>
              <a:t>09 · PRIVACY &amp; DEPENDABILITY</a:t>
            </a:r>
            <a:endParaRPr lang="en-US" sz="800" dirty="0"/>
          </a:p>
        </p:txBody>
      </p:sp>
      <p:sp>
        <p:nvSpPr>
          <p:cNvPr id="5" name="Text 2"/>
          <p:cNvSpPr/>
          <p:nvPr/>
        </p:nvSpPr>
        <p:spPr>
          <a:xfrm>
            <a:off x="457200" y="471488"/>
            <a:ext cx="3802473" cy="198266"/>
          </a:xfrm>
          <a:prstGeom prst="rect">
            <a:avLst/>
          </a:prstGeom>
          <a:noFill/>
          <a:ln/>
        </p:spPr>
        <p:txBody>
          <a:bodyPr wrap="square" lIns="0" tIns="0" rIns="0" bIns="0" rtlCol="0" anchor="t">
            <a:normAutofit/>
          </a:bodyPr>
          <a:lstStyle/>
          <a:p>
            <a:pPr marL="0" indent="0" algn="l">
              <a:lnSpc>
                <a:spcPts val="1553"/>
              </a:lnSpc>
              <a:buNone/>
            </a:pPr>
            <a:r>
              <a:rPr lang="en-US" sz="1350" b="1" kern="0" spc="-20" dirty="0">
                <a:solidFill>
                  <a:srgbClr val="0F2A4A"/>
                </a:solidFill>
                <a:latin typeface="Tinos" pitchFamily="34" charset="0"/>
                <a:ea typeface="Tinos" pitchFamily="34" charset="-122"/>
                <a:cs typeface="Tinos" pitchFamily="34" charset="-120"/>
              </a:rPr>
              <a:t>Dependability &amp; Security — Unified Threat Tree</a:t>
            </a:r>
            <a:endParaRPr lang="en-US" sz="1350" dirty="0"/>
          </a:p>
        </p:txBody>
      </p:sp>
      <p:sp>
        <p:nvSpPr>
          <p:cNvPr id="6" name="Text 3"/>
          <p:cNvSpPr/>
          <p:nvPr/>
        </p:nvSpPr>
        <p:spPr>
          <a:xfrm>
            <a:off x="457200" y="697185"/>
            <a:ext cx="3456794" cy="164592"/>
          </a:xfrm>
          <a:prstGeom prst="rect">
            <a:avLst/>
          </a:prstGeom>
          <a:noFill/>
          <a:ln/>
        </p:spPr>
        <p:txBody>
          <a:bodyPr wrap="square" lIns="0" tIns="0" rIns="0" bIns="0" rtlCol="0" anchor="t"/>
          <a:lstStyle/>
          <a:p>
            <a:pPr marL="0" indent="0" algn="l">
              <a:lnSpc>
                <a:spcPts val="1097"/>
              </a:lnSpc>
              <a:buNone/>
            </a:pPr>
            <a:r>
              <a:rPr lang="en-US" sz="800" dirty="0">
                <a:solidFill>
                  <a:srgbClr val="6B7280"/>
                </a:solidFill>
                <a:latin typeface="Carlito" pitchFamily="34" charset="0"/>
                <a:ea typeface="Carlito" pitchFamily="34" charset="-122"/>
                <a:cs typeface="Carlito" pitchFamily="34" charset="-120"/>
              </a:rPr>
              <a:t>How faults cascade to failures — and where controls intervene.</a:t>
            </a:r>
            <a:endParaRPr lang="en-US" sz="800" dirty="0"/>
          </a:p>
        </p:txBody>
      </p:sp>
      <p:sp>
        <p:nvSpPr>
          <p:cNvPr id="7" name="Text 4"/>
          <p:cNvSpPr/>
          <p:nvPr/>
        </p:nvSpPr>
        <p:spPr>
          <a:xfrm>
            <a:off x="8022766" y="718617"/>
            <a:ext cx="855286" cy="164592"/>
          </a:xfrm>
          <a:prstGeom prst="rect">
            <a:avLst/>
          </a:prstGeom>
          <a:noFill/>
          <a:ln/>
        </p:spPr>
        <p:txBody>
          <a:bodyPr wrap="none" lIns="0" tIns="0" rIns="0" bIns="0" rtlCol="0" anchor="t"/>
          <a:lstStyle/>
          <a:p>
            <a:pPr marL="0" indent="0" algn="l">
              <a:lnSpc>
                <a:spcPts val="928"/>
              </a:lnSpc>
              <a:buNone/>
            </a:pPr>
            <a:r>
              <a:rPr lang="en-US" sz="619" kern="0" spc="93" dirty="0">
                <a:solidFill>
                  <a:srgbClr val="6B7280"/>
                </a:solidFill>
                <a:latin typeface="Courier New" pitchFamily="34" charset="0"/>
                <a:ea typeface="Courier New" pitchFamily="34" charset="-122"/>
                <a:cs typeface="Courier New" pitchFamily="34" charset="-120"/>
              </a:rPr>
              <a:t>BLOCK DIAGRAM</a:t>
            </a:r>
            <a:endParaRPr lang="en-US" sz="619" dirty="0"/>
          </a:p>
        </p:txBody>
      </p:sp>
      <p:sp>
        <p:nvSpPr>
          <p:cNvPr id="8" name="Text 5"/>
          <p:cNvSpPr/>
          <p:nvPr/>
        </p:nvSpPr>
        <p:spPr>
          <a:xfrm>
            <a:off x="967978" y="1025798"/>
            <a:ext cx="1421606" cy="635794"/>
          </a:xfrm>
          <a:prstGeom prst="roundRect">
            <a:avLst>
              <a:gd name="adj" fmla="val 8989"/>
            </a:avLst>
          </a:prstGeom>
          <a:solidFill>
            <a:srgbClr val="F1F4F8"/>
          </a:solidFill>
          <a:ln w="7144">
            <a:solidFill>
              <a:srgbClr val="0F2A4A"/>
            </a:solidFill>
            <a:prstDash val="dash"/>
          </a:ln>
        </p:spPr>
        <p:txBody>
          <a:bodyPr wrap="square" rtlCol="0" anchor="ctr"/>
          <a:lstStyle/>
          <a:p>
            <a:pPr marL="0" indent="0">
              <a:buNone/>
            </a:pPr>
            <a:endParaRPr lang="en-US" dirty="0"/>
          </a:p>
        </p:txBody>
      </p:sp>
      <p:sp>
        <p:nvSpPr>
          <p:cNvPr id="9" name="Text 6"/>
          <p:cNvSpPr/>
          <p:nvPr/>
        </p:nvSpPr>
        <p:spPr>
          <a:xfrm>
            <a:off x="1600200" y="1121680"/>
            <a:ext cx="157163" cy="157163"/>
          </a:xfrm>
          <a:prstGeom prst="rect">
            <a:avLst/>
          </a:prstGeom>
          <a:noFill/>
          <a:ln/>
        </p:spPr>
        <p:txBody>
          <a:bodyPr wrap="none" lIns="0" tIns="0" rIns="0" bIns="0" rtlCol="0" anchor="ctr"/>
          <a:lstStyle/>
          <a:p>
            <a:pPr marL="0" indent="0" algn="ctr">
              <a:buNone/>
            </a:pPr>
            <a:r>
              <a:rPr lang="en-US" sz="1547" dirty="0">
                <a:solidFill>
                  <a:srgbClr val="0F2A4A"/>
                </a:solidFill>
                <a:latin typeface="Segoe UI Symbol" pitchFamily="34" charset="0"/>
                <a:ea typeface="Segoe UI Symbol" pitchFamily="34" charset="-122"/>
                <a:cs typeface="Segoe UI Symbol" pitchFamily="34" charset="-120"/>
              </a:rPr>
              <a:t>✦</a:t>
            </a:r>
            <a:endParaRPr lang="en-US" sz="1547" dirty="0"/>
          </a:p>
        </p:txBody>
      </p:sp>
      <p:sp>
        <p:nvSpPr>
          <p:cNvPr id="10" name="Text 7"/>
          <p:cNvSpPr/>
          <p:nvPr/>
        </p:nvSpPr>
        <p:spPr>
          <a:xfrm>
            <a:off x="1415177" y="1307418"/>
            <a:ext cx="527209" cy="133302"/>
          </a:xfrm>
          <a:prstGeom prst="rect">
            <a:avLst/>
          </a:prstGeom>
          <a:noFill/>
          <a:ln/>
        </p:spPr>
        <p:txBody>
          <a:bodyPr wrap="none" lIns="0" tIns="0" rIns="0" bIns="0" rtlCol="0" anchor="t">
            <a:normAutofit/>
          </a:bodyPr>
          <a:lstStyle/>
          <a:p>
            <a:pPr marL="0" indent="0" algn="ctr">
              <a:lnSpc>
                <a:spcPts val="1097"/>
              </a:lnSpc>
              <a:buNone/>
            </a:pPr>
            <a:r>
              <a:rPr lang="en-US" sz="800" b="1" kern="0" spc="59" dirty="0">
                <a:solidFill>
                  <a:srgbClr val="0F2A4A"/>
                </a:solidFill>
                <a:latin typeface="Carlito" pitchFamily="34" charset="0"/>
                <a:ea typeface="Carlito" pitchFamily="34" charset="-122"/>
                <a:cs typeface="Carlito" pitchFamily="34" charset="-120"/>
              </a:rPr>
              <a:t>FAULT</a:t>
            </a:r>
            <a:endParaRPr lang="en-US" sz="800" dirty="0"/>
          </a:p>
        </p:txBody>
      </p:sp>
      <p:sp>
        <p:nvSpPr>
          <p:cNvPr id="11" name="Text 8"/>
          <p:cNvSpPr/>
          <p:nvPr/>
        </p:nvSpPr>
        <p:spPr>
          <a:xfrm>
            <a:off x="1163069" y="1468152"/>
            <a:ext cx="1031312" cy="118430"/>
          </a:xfrm>
          <a:prstGeom prst="rect">
            <a:avLst/>
          </a:prstGeom>
          <a:noFill/>
          <a:ln/>
        </p:spPr>
        <p:txBody>
          <a:bodyPr wrap="square" lIns="0" tIns="0" rIns="0" bIns="0" rtlCol="0" anchor="t"/>
          <a:lstStyle/>
          <a:p>
            <a:pPr marL="0" indent="0" algn="ctr">
              <a:lnSpc>
                <a:spcPts val="768"/>
              </a:lnSpc>
              <a:buNone/>
            </a:pPr>
            <a:r>
              <a:rPr lang="en-US" sz="600" dirty="0">
                <a:solidFill>
                  <a:srgbClr val="4A5568"/>
                </a:solidFill>
                <a:latin typeface="Carlito" pitchFamily="34" charset="0"/>
                <a:ea typeface="Carlito" pitchFamily="34" charset="-122"/>
                <a:cs typeface="Carlito" pitchFamily="34" charset="-120"/>
              </a:rPr>
              <a:t>Bug, attack, hardware defect</a:t>
            </a:r>
            <a:endParaRPr lang="en-US" sz="600" dirty="0"/>
          </a:p>
        </p:txBody>
      </p:sp>
      <p:sp>
        <p:nvSpPr>
          <p:cNvPr id="12" name="Text 9"/>
          <p:cNvSpPr/>
          <p:nvPr/>
        </p:nvSpPr>
        <p:spPr>
          <a:xfrm>
            <a:off x="2514600" y="1096454"/>
            <a:ext cx="257175" cy="10716"/>
          </a:xfrm>
          <a:prstGeom prst="rect">
            <a:avLst/>
          </a:prstGeom>
          <a:solidFill>
            <a:srgbClr val="0F2A4A"/>
          </a:solidFill>
          <a:ln/>
        </p:spPr>
        <p:txBody>
          <a:bodyPr wrap="square" rtlCol="0" anchor="ctr"/>
          <a:lstStyle/>
          <a:p>
            <a:pPr marL="0" indent="0">
              <a:buNone/>
            </a:pPr>
            <a:endParaRPr lang="en-US" dirty="0"/>
          </a:p>
        </p:txBody>
      </p:sp>
      <p:sp>
        <p:nvSpPr>
          <p:cNvPr id="13" name="Text 10"/>
          <p:cNvSpPr/>
          <p:nvPr/>
        </p:nvSpPr>
        <p:spPr>
          <a:xfrm>
            <a:off x="2393156" y="1150032"/>
            <a:ext cx="500063" cy="712871"/>
          </a:xfrm>
          <a:prstGeom prst="rect">
            <a:avLst/>
          </a:prstGeom>
          <a:noFill/>
          <a:ln/>
        </p:spPr>
        <p:txBody>
          <a:bodyPr wrap="square" lIns="0" tIns="0" rIns="0" bIns="0" rtlCol="0" anchor="t"/>
          <a:lstStyle/>
          <a:p>
            <a:pPr marL="0" indent="0" algn="ctr">
              <a:lnSpc>
                <a:spcPts val="695"/>
              </a:lnSpc>
              <a:buNone/>
            </a:pPr>
            <a:r>
              <a:rPr lang="en-US" sz="800" b="1" kern="0" spc="21" dirty="0">
                <a:solidFill>
                  <a:srgbClr val="0F2A4A"/>
                </a:solidFill>
                <a:latin typeface="Carlito" pitchFamily="34" charset="0"/>
                <a:ea typeface="Carlito" pitchFamily="34" charset="-122"/>
                <a:cs typeface="Carlito" pitchFamily="34" charset="-120"/>
              </a:rPr>
              <a:t>Fault prevention</a:t>
            </a:r>
            <a:endParaRPr lang="en-US" sz="800" dirty="0"/>
          </a:p>
          <a:p>
            <a:pPr marL="0" indent="0" algn="ctr">
              <a:lnSpc>
                <a:spcPts val="695"/>
              </a:lnSpc>
              <a:buNone/>
            </a:pPr>
            <a:r>
              <a:rPr lang="en-US" sz="800" kern="0" spc="21" dirty="0">
                <a:solidFill>
                  <a:srgbClr val="4A5568"/>
                </a:solidFill>
                <a:latin typeface="Carlito" pitchFamily="34" charset="0"/>
                <a:ea typeface="Carlito" pitchFamily="34" charset="-122"/>
                <a:cs typeface="Carlito" pitchFamily="34" charset="-120"/>
              </a:rPr>
              <a:t>coding standards, secure boot</a:t>
            </a:r>
            <a:endParaRPr lang="en-US" sz="800" dirty="0"/>
          </a:p>
        </p:txBody>
      </p:sp>
      <p:sp>
        <p:nvSpPr>
          <p:cNvPr id="14" name="Text 11"/>
          <p:cNvSpPr/>
          <p:nvPr/>
        </p:nvSpPr>
        <p:spPr>
          <a:xfrm>
            <a:off x="2896791" y="1025798"/>
            <a:ext cx="1421606" cy="635794"/>
          </a:xfrm>
          <a:prstGeom prst="roundRect">
            <a:avLst>
              <a:gd name="adj" fmla="val 8989"/>
            </a:avLst>
          </a:prstGeom>
          <a:solidFill>
            <a:srgbClr val="FFFFFF"/>
          </a:solidFill>
          <a:ln w="7144">
            <a:solidFill>
              <a:srgbClr val="0F2A4A"/>
            </a:solidFill>
            <a:prstDash val="solid"/>
          </a:ln>
        </p:spPr>
        <p:txBody>
          <a:bodyPr wrap="square" rtlCol="0" anchor="ctr"/>
          <a:lstStyle/>
          <a:p>
            <a:pPr marL="0" indent="0">
              <a:buNone/>
            </a:pPr>
            <a:endParaRPr lang="en-US" dirty="0"/>
          </a:p>
        </p:txBody>
      </p:sp>
      <p:sp>
        <p:nvSpPr>
          <p:cNvPr id="15" name="Text 12"/>
          <p:cNvSpPr/>
          <p:nvPr/>
        </p:nvSpPr>
        <p:spPr>
          <a:xfrm>
            <a:off x="3529013" y="1121680"/>
            <a:ext cx="157163" cy="157163"/>
          </a:xfrm>
          <a:prstGeom prst="rect">
            <a:avLst/>
          </a:prstGeom>
          <a:noFill/>
          <a:ln/>
        </p:spPr>
        <p:txBody>
          <a:bodyPr wrap="none" lIns="0" tIns="0" rIns="0" bIns="0" rtlCol="0" anchor="ctr"/>
          <a:lstStyle/>
          <a:p>
            <a:pPr marL="0" indent="0" algn="ctr">
              <a:buNone/>
            </a:pPr>
            <a:r>
              <a:rPr lang="en-US" sz="1547" dirty="0">
                <a:solidFill>
                  <a:srgbClr val="0F2A4A"/>
                </a:solidFill>
                <a:latin typeface="Segoe UI Symbol" pitchFamily="34" charset="0"/>
                <a:ea typeface="Segoe UI Symbol" pitchFamily="34" charset="-122"/>
                <a:cs typeface="Segoe UI Symbol" pitchFamily="34" charset="-120"/>
              </a:rPr>
              <a:t>⊗</a:t>
            </a:r>
            <a:endParaRPr lang="en-US" sz="1547" dirty="0"/>
          </a:p>
        </p:txBody>
      </p:sp>
      <p:sp>
        <p:nvSpPr>
          <p:cNvPr id="16" name="Text 13"/>
          <p:cNvSpPr/>
          <p:nvPr/>
        </p:nvSpPr>
        <p:spPr>
          <a:xfrm>
            <a:off x="3309521" y="1307418"/>
            <a:ext cx="596146" cy="133302"/>
          </a:xfrm>
          <a:prstGeom prst="rect">
            <a:avLst/>
          </a:prstGeom>
          <a:noFill/>
          <a:ln/>
        </p:spPr>
        <p:txBody>
          <a:bodyPr wrap="none" lIns="0" tIns="0" rIns="0" bIns="0" rtlCol="0" anchor="t">
            <a:normAutofit/>
          </a:bodyPr>
          <a:lstStyle/>
          <a:p>
            <a:pPr marL="0" indent="0" algn="ctr">
              <a:lnSpc>
                <a:spcPts val="1097"/>
              </a:lnSpc>
              <a:buNone/>
            </a:pPr>
            <a:r>
              <a:rPr lang="en-US" sz="800" b="1" kern="0" spc="59" dirty="0">
                <a:solidFill>
                  <a:srgbClr val="0F2A4A"/>
                </a:solidFill>
                <a:latin typeface="Carlito" pitchFamily="34" charset="0"/>
                <a:ea typeface="Carlito" pitchFamily="34" charset="-122"/>
                <a:cs typeface="Carlito" pitchFamily="34" charset="-120"/>
              </a:rPr>
              <a:t>ERROR</a:t>
            </a:r>
            <a:endParaRPr lang="en-US" sz="800" dirty="0"/>
          </a:p>
        </p:txBody>
      </p:sp>
      <p:sp>
        <p:nvSpPr>
          <p:cNvPr id="17" name="Text 14"/>
          <p:cNvSpPr/>
          <p:nvPr/>
        </p:nvSpPr>
        <p:spPr>
          <a:xfrm>
            <a:off x="3215003" y="1468152"/>
            <a:ext cx="785181" cy="118430"/>
          </a:xfrm>
          <a:prstGeom prst="rect">
            <a:avLst/>
          </a:prstGeom>
          <a:noFill/>
          <a:ln/>
        </p:spPr>
        <p:txBody>
          <a:bodyPr wrap="none" lIns="0" tIns="0" rIns="0" bIns="0" rtlCol="0" anchor="t"/>
          <a:lstStyle/>
          <a:p>
            <a:pPr marL="0" indent="0" algn="ctr">
              <a:lnSpc>
                <a:spcPts val="768"/>
              </a:lnSpc>
              <a:buNone/>
            </a:pPr>
            <a:r>
              <a:rPr lang="en-US" sz="600" dirty="0">
                <a:solidFill>
                  <a:srgbClr val="4A5568"/>
                </a:solidFill>
                <a:latin typeface="Carlito" pitchFamily="34" charset="0"/>
                <a:ea typeface="Carlito" pitchFamily="34" charset="-122"/>
                <a:cs typeface="Carlito" pitchFamily="34" charset="-120"/>
              </a:rPr>
              <a:t>Wrong internal state</a:t>
            </a:r>
            <a:endParaRPr lang="en-US" sz="600" dirty="0"/>
          </a:p>
        </p:txBody>
      </p:sp>
      <p:sp>
        <p:nvSpPr>
          <p:cNvPr id="18" name="Text 15"/>
          <p:cNvSpPr/>
          <p:nvPr/>
        </p:nvSpPr>
        <p:spPr>
          <a:xfrm>
            <a:off x="4443413" y="1140544"/>
            <a:ext cx="257175" cy="10716"/>
          </a:xfrm>
          <a:prstGeom prst="rect">
            <a:avLst/>
          </a:prstGeom>
          <a:solidFill>
            <a:srgbClr val="0F2A4A"/>
          </a:solidFill>
          <a:ln/>
        </p:spPr>
        <p:txBody>
          <a:bodyPr wrap="square" rtlCol="0" anchor="ctr"/>
          <a:lstStyle/>
          <a:p>
            <a:pPr marL="0" indent="0">
              <a:buNone/>
            </a:pPr>
            <a:endParaRPr lang="en-US" dirty="0"/>
          </a:p>
        </p:txBody>
      </p:sp>
      <p:sp>
        <p:nvSpPr>
          <p:cNvPr id="19" name="Text 16"/>
          <p:cNvSpPr/>
          <p:nvPr/>
        </p:nvSpPr>
        <p:spPr>
          <a:xfrm>
            <a:off x="4321969" y="1194122"/>
            <a:ext cx="500063" cy="570297"/>
          </a:xfrm>
          <a:prstGeom prst="rect">
            <a:avLst/>
          </a:prstGeom>
          <a:noFill/>
          <a:ln/>
        </p:spPr>
        <p:txBody>
          <a:bodyPr wrap="square" lIns="0" tIns="0" rIns="0" bIns="0" rtlCol="0" anchor="t"/>
          <a:lstStyle/>
          <a:p>
            <a:pPr marL="0" indent="0" algn="ctr">
              <a:lnSpc>
                <a:spcPts val="695"/>
              </a:lnSpc>
              <a:buNone/>
            </a:pPr>
            <a:r>
              <a:rPr lang="en-US" sz="800" b="1" kern="0" spc="21" dirty="0">
                <a:solidFill>
                  <a:srgbClr val="0F2A4A"/>
                </a:solidFill>
                <a:latin typeface="Carlito" pitchFamily="34" charset="0"/>
                <a:ea typeface="Carlito" pitchFamily="34" charset="-122"/>
                <a:cs typeface="Carlito" pitchFamily="34" charset="-120"/>
              </a:rPr>
              <a:t>Error detection</a:t>
            </a:r>
            <a:endParaRPr lang="en-US" sz="800" dirty="0"/>
          </a:p>
          <a:p>
            <a:pPr marL="0" indent="0" algn="ctr">
              <a:lnSpc>
                <a:spcPts val="695"/>
              </a:lnSpc>
              <a:buNone/>
            </a:pPr>
            <a:r>
              <a:rPr lang="en-US" sz="800" kern="0" spc="21" dirty="0">
                <a:solidFill>
                  <a:srgbClr val="4A5568"/>
                </a:solidFill>
                <a:latin typeface="Carlito" pitchFamily="34" charset="0"/>
                <a:ea typeface="Carlito" pitchFamily="34" charset="-122"/>
                <a:cs typeface="Carlito" pitchFamily="34" charset="-120"/>
              </a:rPr>
              <a:t>MPU, runtime IDS</a:t>
            </a:r>
            <a:endParaRPr lang="en-US" sz="800" dirty="0"/>
          </a:p>
        </p:txBody>
      </p:sp>
      <p:sp>
        <p:nvSpPr>
          <p:cNvPr id="20" name="Text 17"/>
          <p:cNvSpPr/>
          <p:nvPr/>
        </p:nvSpPr>
        <p:spPr>
          <a:xfrm>
            <a:off x="4825603" y="1025798"/>
            <a:ext cx="1421606" cy="635794"/>
          </a:xfrm>
          <a:prstGeom prst="roundRect">
            <a:avLst>
              <a:gd name="adj" fmla="val 8989"/>
            </a:avLst>
          </a:prstGeom>
          <a:solidFill>
            <a:srgbClr val="0F2A4A"/>
          </a:solidFill>
          <a:ln w="7144">
            <a:solidFill>
              <a:srgbClr val="0F2A4A"/>
            </a:solidFill>
            <a:prstDash val="solid"/>
          </a:ln>
        </p:spPr>
        <p:txBody>
          <a:bodyPr wrap="square" rtlCol="0" anchor="ctr"/>
          <a:lstStyle/>
          <a:p>
            <a:pPr marL="0" indent="0">
              <a:buNone/>
            </a:pPr>
            <a:endParaRPr lang="en-US" dirty="0"/>
          </a:p>
        </p:txBody>
      </p:sp>
      <p:sp>
        <p:nvSpPr>
          <p:cNvPr id="21" name="Text 18"/>
          <p:cNvSpPr/>
          <p:nvPr/>
        </p:nvSpPr>
        <p:spPr>
          <a:xfrm>
            <a:off x="5457825" y="1121680"/>
            <a:ext cx="157163" cy="157163"/>
          </a:xfrm>
          <a:prstGeom prst="rect">
            <a:avLst/>
          </a:prstGeom>
          <a:noFill/>
          <a:ln/>
        </p:spPr>
        <p:txBody>
          <a:bodyPr wrap="none" lIns="0" tIns="0" rIns="0" bIns="0" rtlCol="0" anchor="ctr"/>
          <a:lstStyle/>
          <a:p>
            <a:pPr marL="0" indent="0" algn="ctr">
              <a:buNone/>
            </a:pPr>
            <a:r>
              <a:rPr lang="en-US" sz="1547" dirty="0">
                <a:solidFill>
                  <a:srgbClr val="C9A961"/>
                </a:solidFill>
                <a:latin typeface="Segoe UI Symbol" pitchFamily="34" charset="0"/>
                <a:ea typeface="Segoe UI Symbol" pitchFamily="34" charset="-122"/>
                <a:cs typeface="Segoe UI Symbol" pitchFamily="34" charset="-120"/>
              </a:rPr>
              <a:t>⚠</a:t>
            </a:r>
            <a:endParaRPr lang="en-US" sz="1547" dirty="0"/>
          </a:p>
        </p:txBody>
      </p:sp>
      <p:sp>
        <p:nvSpPr>
          <p:cNvPr id="22" name="Text 19"/>
          <p:cNvSpPr/>
          <p:nvPr/>
        </p:nvSpPr>
        <p:spPr>
          <a:xfrm>
            <a:off x="5232368" y="1307418"/>
            <a:ext cx="608076" cy="133302"/>
          </a:xfrm>
          <a:prstGeom prst="rect">
            <a:avLst/>
          </a:prstGeom>
          <a:noFill/>
          <a:ln/>
        </p:spPr>
        <p:txBody>
          <a:bodyPr wrap="none" lIns="0" tIns="0" rIns="0" bIns="0" rtlCol="0" anchor="t">
            <a:normAutofit/>
          </a:bodyPr>
          <a:lstStyle/>
          <a:p>
            <a:pPr marL="0" indent="0" algn="ctr">
              <a:lnSpc>
                <a:spcPts val="1097"/>
              </a:lnSpc>
              <a:buNone/>
            </a:pPr>
            <a:r>
              <a:rPr lang="en-US" sz="800" b="1" kern="0" spc="59" dirty="0">
                <a:solidFill>
                  <a:srgbClr val="FFFFFF"/>
                </a:solidFill>
                <a:latin typeface="Carlito" pitchFamily="34" charset="0"/>
                <a:ea typeface="Carlito" pitchFamily="34" charset="-122"/>
                <a:cs typeface="Carlito" pitchFamily="34" charset="-120"/>
              </a:rPr>
              <a:t>FAILURE</a:t>
            </a:r>
            <a:endParaRPr lang="en-US" sz="800" dirty="0"/>
          </a:p>
        </p:txBody>
      </p:sp>
      <p:sp>
        <p:nvSpPr>
          <p:cNvPr id="23" name="Text 20"/>
          <p:cNvSpPr/>
          <p:nvPr/>
        </p:nvSpPr>
        <p:spPr>
          <a:xfrm>
            <a:off x="5050104" y="1468152"/>
            <a:ext cx="972604" cy="118430"/>
          </a:xfrm>
          <a:prstGeom prst="rect">
            <a:avLst/>
          </a:prstGeom>
          <a:noFill/>
          <a:ln/>
        </p:spPr>
        <p:txBody>
          <a:bodyPr wrap="square" lIns="0" tIns="0" rIns="0" bIns="0" rtlCol="0" anchor="t"/>
          <a:lstStyle/>
          <a:p>
            <a:pPr marL="0" indent="0" algn="ctr">
              <a:lnSpc>
                <a:spcPts val="768"/>
              </a:lnSpc>
              <a:buNone/>
            </a:pPr>
            <a:r>
              <a:rPr lang="en-US" sz="600" dirty="0">
                <a:solidFill>
                  <a:srgbClr val="FFFFFF">
                    <a:alpha val="85000"/>
                  </a:srgbClr>
                </a:solidFill>
                <a:latin typeface="Carlito" pitchFamily="34" charset="0"/>
                <a:ea typeface="Carlito" pitchFamily="34" charset="-122"/>
                <a:cs typeface="Carlito" pitchFamily="34" charset="-120"/>
              </a:rPr>
              <a:t>Service deviates from spec</a:t>
            </a:r>
            <a:endParaRPr lang="en-US" sz="600" dirty="0"/>
          </a:p>
        </p:txBody>
      </p:sp>
      <p:sp>
        <p:nvSpPr>
          <p:cNvPr id="24" name="Text 21"/>
          <p:cNvSpPr/>
          <p:nvPr/>
        </p:nvSpPr>
        <p:spPr>
          <a:xfrm>
            <a:off x="6372225" y="1140544"/>
            <a:ext cx="257175" cy="10716"/>
          </a:xfrm>
          <a:prstGeom prst="rect">
            <a:avLst/>
          </a:prstGeom>
          <a:solidFill>
            <a:srgbClr val="0F2A4A"/>
          </a:solidFill>
          <a:ln/>
        </p:spPr>
        <p:txBody>
          <a:bodyPr wrap="square" rtlCol="0" anchor="ctr"/>
          <a:lstStyle/>
          <a:p>
            <a:pPr marL="0" indent="0">
              <a:buNone/>
            </a:pPr>
            <a:endParaRPr lang="en-US" dirty="0"/>
          </a:p>
        </p:txBody>
      </p:sp>
      <p:sp>
        <p:nvSpPr>
          <p:cNvPr id="25" name="Text 22"/>
          <p:cNvSpPr/>
          <p:nvPr/>
        </p:nvSpPr>
        <p:spPr>
          <a:xfrm>
            <a:off x="6250781" y="1194122"/>
            <a:ext cx="500063" cy="570297"/>
          </a:xfrm>
          <a:prstGeom prst="rect">
            <a:avLst/>
          </a:prstGeom>
          <a:noFill/>
          <a:ln/>
        </p:spPr>
        <p:txBody>
          <a:bodyPr wrap="square" lIns="0" tIns="0" rIns="0" bIns="0" rtlCol="0" anchor="t"/>
          <a:lstStyle/>
          <a:p>
            <a:pPr marL="0" indent="0" algn="ctr">
              <a:lnSpc>
                <a:spcPts val="695"/>
              </a:lnSpc>
              <a:buNone/>
            </a:pPr>
            <a:r>
              <a:rPr lang="en-US" sz="800" b="1" kern="0" spc="21" dirty="0">
                <a:solidFill>
                  <a:srgbClr val="0F2A4A"/>
                </a:solidFill>
                <a:latin typeface="Carlito" pitchFamily="34" charset="0"/>
                <a:ea typeface="Carlito" pitchFamily="34" charset="-122"/>
                <a:cs typeface="Carlito" pitchFamily="34" charset="-120"/>
              </a:rPr>
              <a:t>Fail-safe design</a:t>
            </a:r>
            <a:endParaRPr lang="en-US" sz="800" dirty="0"/>
          </a:p>
          <a:p>
            <a:pPr marL="0" indent="0" algn="ctr">
              <a:lnSpc>
                <a:spcPts val="695"/>
              </a:lnSpc>
              <a:buNone/>
            </a:pPr>
            <a:r>
              <a:rPr lang="en-US" sz="800" kern="0" spc="21" dirty="0">
                <a:solidFill>
                  <a:srgbClr val="4A5568"/>
                </a:solidFill>
                <a:latin typeface="Carlito" pitchFamily="34" charset="0"/>
                <a:ea typeface="Carlito" pitchFamily="34" charset="-122"/>
                <a:cs typeface="Carlito" pitchFamily="34" charset="-120"/>
              </a:rPr>
              <a:t>interlocks, redundancy</a:t>
            </a:r>
            <a:endParaRPr lang="en-US" sz="800" dirty="0"/>
          </a:p>
        </p:txBody>
      </p:sp>
      <p:sp>
        <p:nvSpPr>
          <p:cNvPr id="26" name="Text 23"/>
          <p:cNvSpPr/>
          <p:nvPr/>
        </p:nvSpPr>
        <p:spPr>
          <a:xfrm>
            <a:off x="6754416" y="1025798"/>
            <a:ext cx="1421606" cy="635794"/>
          </a:xfrm>
          <a:prstGeom prst="roundRect">
            <a:avLst>
              <a:gd name="adj" fmla="val 8989"/>
            </a:avLst>
          </a:prstGeom>
          <a:solidFill>
            <a:srgbClr val="C9A961"/>
          </a:solidFill>
          <a:ln w="7144">
            <a:solidFill>
              <a:srgbClr val="C9A961"/>
            </a:solidFill>
            <a:prstDash val="solid"/>
          </a:ln>
        </p:spPr>
        <p:txBody>
          <a:bodyPr wrap="square" rtlCol="0" anchor="ctr"/>
          <a:lstStyle/>
          <a:p>
            <a:pPr marL="0" indent="0">
              <a:buNone/>
            </a:pPr>
            <a:endParaRPr lang="en-US" dirty="0"/>
          </a:p>
        </p:txBody>
      </p:sp>
      <p:sp>
        <p:nvSpPr>
          <p:cNvPr id="27" name="Text 24"/>
          <p:cNvSpPr/>
          <p:nvPr/>
        </p:nvSpPr>
        <p:spPr>
          <a:xfrm>
            <a:off x="7386638" y="1121680"/>
            <a:ext cx="157163" cy="157163"/>
          </a:xfrm>
          <a:prstGeom prst="rect">
            <a:avLst/>
          </a:prstGeom>
          <a:noFill/>
          <a:ln/>
        </p:spPr>
        <p:txBody>
          <a:bodyPr wrap="none" lIns="0" tIns="0" rIns="0" bIns="0" rtlCol="0" anchor="ctr"/>
          <a:lstStyle/>
          <a:p>
            <a:pPr marL="0" indent="0" algn="ctr">
              <a:buNone/>
            </a:pPr>
            <a:r>
              <a:rPr lang="en-US" sz="1547" dirty="0">
                <a:solidFill>
                  <a:srgbClr val="0F2A4A"/>
                </a:solidFill>
                <a:latin typeface="Segoe UI Symbol" pitchFamily="34" charset="0"/>
                <a:ea typeface="Segoe UI Symbol" pitchFamily="34" charset="-122"/>
                <a:cs typeface="Segoe UI Symbol" pitchFamily="34" charset="-120"/>
              </a:rPr>
              <a:t>⚠</a:t>
            </a:r>
            <a:endParaRPr lang="en-US" sz="1547" dirty="0"/>
          </a:p>
        </p:txBody>
      </p:sp>
      <p:sp>
        <p:nvSpPr>
          <p:cNvPr id="28" name="Text 25"/>
          <p:cNvSpPr/>
          <p:nvPr/>
        </p:nvSpPr>
        <p:spPr>
          <a:xfrm>
            <a:off x="7169790" y="1307418"/>
            <a:ext cx="590858" cy="133302"/>
          </a:xfrm>
          <a:prstGeom prst="rect">
            <a:avLst/>
          </a:prstGeom>
          <a:noFill/>
          <a:ln/>
        </p:spPr>
        <p:txBody>
          <a:bodyPr wrap="none" lIns="0" tIns="0" rIns="0" bIns="0" rtlCol="0" anchor="t">
            <a:normAutofit/>
          </a:bodyPr>
          <a:lstStyle/>
          <a:p>
            <a:pPr marL="0" indent="0" algn="ctr">
              <a:lnSpc>
                <a:spcPts val="1097"/>
              </a:lnSpc>
              <a:buNone/>
            </a:pPr>
            <a:r>
              <a:rPr lang="en-US" sz="800" b="1" kern="0" spc="59" dirty="0">
                <a:solidFill>
                  <a:srgbClr val="0F2A4A"/>
                </a:solidFill>
                <a:latin typeface="Carlito" pitchFamily="34" charset="0"/>
                <a:ea typeface="Carlito" pitchFamily="34" charset="-122"/>
                <a:cs typeface="Carlito" pitchFamily="34" charset="-120"/>
              </a:rPr>
              <a:t>HAZARD</a:t>
            </a:r>
            <a:endParaRPr lang="en-US" sz="800" dirty="0"/>
          </a:p>
        </p:txBody>
      </p:sp>
      <p:sp>
        <p:nvSpPr>
          <p:cNvPr id="29" name="Text 26"/>
          <p:cNvSpPr/>
          <p:nvPr/>
        </p:nvSpPr>
        <p:spPr>
          <a:xfrm>
            <a:off x="7118284" y="1468152"/>
            <a:ext cx="693869" cy="118430"/>
          </a:xfrm>
          <a:prstGeom prst="rect">
            <a:avLst/>
          </a:prstGeom>
          <a:noFill/>
          <a:ln/>
        </p:spPr>
        <p:txBody>
          <a:bodyPr wrap="square" lIns="0" tIns="0" rIns="0" bIns="0" rtlCol="0" anchor="t"/>
          <a:lstStyle/>
          <a:p>
            <a:pPr marL="0" indent="0" algn="ctr">
              <a:lnSpc>
                <a:spcPts val="768"/>
              </a:lnSpc>
              <a:buNone/>
            </a:pPr>
            <a:r>
              <a:rPr lang="en-US" sz="600" dirty="0">
                <a:solidFill>
                  <a:srgbClr val="4A5568"/>
                </a:solidFill>
                <a:latin typeface="Carlito" pitchFamily="34" charset="0"/>
                <a:ea typeface="Carlito" pitchFamily="34" charset="-122"/>
                <a:cs typeface="Carlito" pitchFamily="34" charset="-120"/>
              </a:rPr>
              <a:t>Potential for harm</a:t>
            </a:r>
            <a:endParaRPr lang="en-US" sz="600" dirty="0"/>
          </a:p>
        </p:txBody>
      </p:sp>
      <p:sp>
        <p:nvSpPr>
          <p:cNvPr id="30" name="Text 27"/>
          <p:cNvSpPr/>
          <p:nvPr/>
        </p:nvSpPr>
        <p:spPr>
          <a:xfrm>
            <a:off x="460772" y="1868760"/>
            <a:ext cx="8222456" cy="1092436"/>
          </a:xfrm>
          <a:prstGeom prst="roundRect">
            <a:avLst>
              <a:gd name="adj" fmla="val 6975"/>
            </a:avLst>
          </a:prstGeom>
          <a:solidFill>
            <a:srgbClr val="F1F4F8"/>
          </a:solidFill>
          <a:ln w="7144">
            <a:solidFill>
              <a:srgbClr val="E5E9EE"/>
            </a:solidFill>
            <a:prstDash val="solid"/>
          </a:ln>
        </p:spPr>
        <p:txBody>
          <a:bodyPr wrap="square" rtlCol="0" anchor="ctr"/>
          <a:lstStyle/>
          <a:p>
            <a:pPr marL="0" indent="0">
              <a:buNone/>
            </a:pPr>
            <a:endParaRPr lang="en-US" dirty="0"/>
          </a:p>
        </p:txBody>
      </p:sp>
      <p:sp>
        <p:nvSpPr>
          <p:cNvPr id="31" name="Text 28"/>
          <p:cNvSpPr/>
          <p:nvPr/>
        </p:nvSpPr>
        <p:spPr>
          <a:xfrm>
            <a:off x="778669" y="2000920"/>
            <a:ext cx="2783071" cy="119703"/>
          </a:xfrm>
          <a:prstGeom prst="rect">
            <a:avLst/>
          </a:prstGeom>
          <a:noFill/>
          <a:ln/>
        </p:spPr>
        <p:txBody>
          <a:bodyPr wrap="square" lIns="0" tIns="0" rIns="0" bIns="0" rtlCol="0" anchor="t"/>
          <a:lstStyle/>
          <a:p>
            <a:pPr marL="0" indent="0" algn="l">
              <a:lnSpc>
                <a:spcPts val="928"/>
              </a:lnSpc>
              <a:buNone/>
            </a:pPr>
            <a:r>
              <a:rPr lang="en-US" sz="800" b="1" kern="0" spc="111" dirty="0">
                <a:solidFill>
                  <a:srgbClr val="C9A961"/>
                </a:solidFill>
                <a:latin typeface="Carlito" pitchFamily="34" charset="0"/>
                <a:ea typeface="Carlito" pitchFamily="34" charset="-122"/>
                <a:cs typeface="Carlito" pitchFamily="34" charset="-120"/>
              </a:rPr>
              <a:t>DEPENDABILITY ATTRIBUTES — FIVE PILLARS</a:t>
            </a:r>
            <a:endParaRPr lang="en-US" sz="800" dirty="0"/>
          </a:p>
        </p:txBody>
      </p:sp>
      <p:sp>
        <p:nvSpPr>
          <p:cNvPr id="32" name="Text 29"/>
          <p:cNvSpPr/>
          <p:nvPr/>
        </p:nvSpPr>
        <p:spPr>
          <a:xfrm>
            <a:off x="621506" y="1995562"/>
            <a:ext cx="100013" cy="100013"/>
          </a:xfrm>
          <a:prstGeom prst="rect">
            <a:avLst/>
          </a:prstGeom>
          <a:noFill/>
          <a:ln/>
        </p:spPr>
        <p:txBody>
          <a:bodyPr wrap="none" lIns="0" tIns="0" rIns="0" bIns="0" rtlCol="0" anchor="ctr"/>
          <a:lstStyle/>
          <a:p>
            <a:pPr marL="0" indent="0" algn="ctr">
              <a:buNone/>
            </a:pPr>
            <a:r>
              <a:rPr lang="en-US" sz="984" dirty="0">
                <a:solidFill>
                  <a:srgbClr val="C9A961"/>
                </a:solidFill>
                <a:latin typeface="Segoe UI Symbol" pitchFamily="34" charset="0"/>
                <a:ea typeface="Segoe UI Symbol" pitchFamily="34" charset="-122"/>
                <a:cs typeface="Segoe UI Symbol" pitchFamily="34" charset="-120"/>
              </a:rPr>
              <a:t>◉</a:t>
            </a:r>
            <a:endParaRPr lang="en-US" sz="984" dirty="0"/>
          </a:p>
        </p:txBody>
      </p:sp>
      <p:sp>
        <p:nvSpPr>
          <p:cNvPr id="33" name="Text 30"/>
          <p:cNvSpPr/>
          <p:nvPr/>
        </p:nvSpPr>
        <p:spPr>
          <a:xfrm>
            <a:off x="621506" y="2190229"/>
            <a:ext cx="1500188" cy="653095"/>
          </a:xfrm>
          <a:prstGeom prst="roundRect">
            <a:avLst>
              <a:gd name="adj" fmla="val 5834"/>
            </a:avLst>
          </a:prstGeom>
          <a:solidFill>
            <a:srgbClr val="FFFFFF"/>
          </a:solidFill>
          <a:ln/>
        </p:spPr>
        <p:txBody>
          <a:bodyPr wrap="square" rtlCol="0" anchor="ctr"/>
          <a:lstStyle/>
          <a:p>
            <a:pPr marL="0" indent="0">
              <a:buNone/>
            </a:pPr>
            <a:endParaRPr lang="en-US" dirty="0"/>
          </a:p>
        </p:txBody>
      </p:sp>
      <p:sp>
        <p:nvSpPr>
          <p:cNvPr id="34" name="Shape 31"/>
          <p:cNvSpPr/>
          <p:nvPr/>
        </p:nvSpPr>
        <p:spPr>
          <a:xfrm>
            <a:off x="621506" y="2200945"/>
            <a:ext cx="1500188" cy="0"/>
          </a:xfrm>
          <a:prstGeom prst="line">
            <a:avLst/>
          </a:prstGeom>
          <a:noFill/>
          <a:ln w="21431">
            <a:solidFill>
              <a:srgbClr val="0F2A4A"/>
            </a:solidFill>
            <a:prstDash val="solid"/>
          </a:ln>
        </p:spPr>
      </p:sp>
      <p:sp>
        <p:nvSpPr>
          <p:cNvPr id="35" name="Shape 32"/>
          <p:cNvSpPr/>
          <p:nvPr/>
        </p:nvSpPr>
        <p:spPr>
          <a:xfrm>
            <a:off x="2118122" y="2190229"/>
            <a:ext cx="0" cy="653095"/>
          </a:xfrm>
          <a:prstGeom prst="line">
            <a:avLst/>
          </a:prstGeom>
          <a:noFill/>
          <a:ln w="7144">
            <a:solidFill>
              <a:srgbClr val="E5E9EE"/>
            </a:solidFill>
            <a:prstDash val="solid"/>
          </a:ln>
        </p:spPr>
      </p:sp>
      <p:sp>
        <p:nvSpPr>
          <p:cNvPr id="36" name="Shape 33"/>
          <p:cNvSpPr/>
          <p:nvPr/>
        </p:nvSpPr>
        <p:spPr>
          <a:xfrm>
            <a:off x="621506" y="2839752"/>
            <a:ext cx="1500188" cy="0"/>
          </a:xfrm>
          <a:prstGeom prst="line">
            <a:avLst/>
          </a:prstGeom>
          <a:noFill/>
          <a:ln w="7144">
            <a:solidFill>
              <a:srgbClr val="E5E9EE"/>
            </a:solidFill>
            <a:prstDash val="solid"/>
          </a:ln>
        </p:spPr>
      </p:sp>
      <p:sp>
        <p:nvSpPr>
          <p:cNvPr id="37" name="Shape 34"/>
          <p:cNvSpPr/>
          <p:nvPr/>
        </p:nvSpPr>
        <p:spPr>
          <a:xfrm>
            <a:off x="625078" y="2190229"/>
            <a:ext cx="0" cy="653095"/>
          </a:xfrm>
          <a:prstGeom prst="line">
            <a:avLst/>
          </a:prstGeom>
          <a:noFill/>
          <a:ln w="7144">
            <a:solidFill>
              <a:srgbClr val="E5E9EE"/>
            </a:solidFill>
            <a:prstDash val="solid"/>
          </a:ln>
        </p:spPr>
      </p:sp>
      <p:sp>
        <p:nvSpPr>
          <p:cNvPr id="38" name="Text 35"/>
          <p:cNvSpPr/>
          <p:nvPr/>
        </p:nvSpPr>
        <p:spPr>
          <a:xfrm>
            <a:off x="1293019" y="2297385"/>
            <a:ext cx="157163" cy="157163"/>
          </a:xfrm>
          <a:prstGeom prst="rect">
            <a:avLst/>
          </a:prstGeom>
          <a:noFill/>
          <a:ln/>
        </p:spPr>
        <p:txBody>
          <a:bodyPr wrap="none" lIns="0" tIns="0" rIns="0" bIns="0" rtlCol="0" anchor="ctr"/>
          <a:lstStyle/>
          <a:p>
            <a:pPr marL="0" indent="0" algn="ctr">
              <a:buNone/>
            </a:pPr>
            <a:r>
              <a:rPr lang="en-US" sz="1547" dirty="0">
                <a:solidFill>
                  <a:srgbClr val="0F2A4A"/>
                </a:solidFill>
                <a:latin typeface="Segoe UI Symbol" pitchFamily="34" charset="0"/>
                <a:ea typeface="Segoe UI Symbol" pitchFamily="34" charset="-122"/>
                <a:cs typeface="Segoe UI Symbol" pitchFamily="34" charset="-120"/>
              </a:rPr>
              <a:t>⛨</a:t>
            </a:r>
            <a:endParaRPr lang="en-US" sz="1547" dirty="0"/>
          </a:p>
        </p:txBody>
      </p:sp>
      <p:sp>
        <p:nvSpPr>
          <p:cNvPr id="39" name="Text 36"/>
          <p:cNvSpPr/>
          <p:nvPr/>
        </p:nvSpPr>
        <p:spPr>
          <a:xfrm>
            <a:off x="1026600" y="2497410"/>
            <a:ext cx="689889" cy="124373"/>
          </a:xfrm>
          <a:prstGeom prst="rect">
            <a:avLst/>
          </a:prstGeom>
          <a:noFill/>
          <a:ln/>
        </p:spPr>
        <p:txBody>
          <a:bodyPr wrap="none" lIns="0" tIns="0" rIns="0" bIns="0" rtlCol="0" anchor="t">
            <a:normAutofit/>
          </a:bodyPr>
          <a:lstStyle/>
          <a:p>
            <a:pPr marL="0" indent="0" algn="ctr">
              <a:lnSpc>
                <a:spcPts val="970"/>
              </a:lnSpc>
              <a:buNone/>
            </a:pPr>
            <a:r>
              <a:rPr lang="en-US" sz="647" b="1" kern="0" spc="39" dirty="0">
                <a:solidFill>
                  <a:srgbClr val="0F2A4A"/>
                </a:solidFill>
                <a:latin typeface="Carlito" pitchFamily="34" charset="0"/>
                <a:ea typeface="Carlito" pitchFamily="34" charset="-122"/>
                <a:cs typeface="Carlito" pitchFamily="34" charset="-120"/>
              </a:rPr>
              <a:t>RELIABILITY</a:t>
            </a:r>
            <a:endParaRPr lang="en-US" sz="647" dirty="0"/>
          </a:p>
        </p:txBody>
      </p:sp>
      <p:sp>
        <p:nvSpPr>
          <p:cNvPr id="40" name="Text 37"/>
          <p:cNvSpPr/>
          <p:nvPr/>
        </p:nvSpPr>
        <p:spPr>
          <a:xfrm>
            <a:off x="1102454" y="2649215"/>
            <a:ext cx="538292" cy="101240"/>
          </a:xfrm>
          <a:prstGeom prst="rect">
            <a:avLst/>
          </a:prstGeom>
          <a:noFill/>
          <a:ln/>
        </p:spPr>
        <p:txBody>
          <a:bodyPr wrap="none" lIns="0" tIns="0" rIns="0" bIns="0" rtlCol="0" anchor="t"/>
          <a:lstStyle/>
          <a:p>
            <a:pPr marL="0" indent="0" algn="ctr">
              <a:lnSpc>
                <a:spcPts val="797"/>
              </a:lnSpc>
              <a:buNone/>
            </a:pPr>
            <a:r>
              <a:rPr lang="en-US" sz="600" dirty="0">
                <a:solidFill>
                  <a:srgbClr val="4A5568"/>
                </a:solidFill>
                <a:latin typeface="Carlito" pitchFamily="34" charset="0"/>
                <a:ea typeface="Carlito" pitchFamily="34" charset="-122"/>
                <a:cs typeface="Carlito" pitchFamily="34" charset="-120"/>
              </a:rPr>
              <a:t>MTBF, MTTR</a:t>
            </a:r>
            <a:endParaRPr lang="en-US" sz="600" dirty="0"/>
          </a:p>
        </p:txBody>
      </p:sp>
      <p:sp>
        <p:nvSpPr>
          <p:cNvPr id="41" name="Text 38"/>
          <p:cNvSpPr/>
          <p:nvPr/>
        </p:nvSpPr>
        <p:spPr>
          <a:xfrm>
            <a:off x="2221706" y="2190229"/>
            <a:ext cx="1500188" cy="653095"/>
          </a:xfrm>
          <a:prstGeom prst="roundRect">
            <a:avLst>
              <a:gd name="adj" fmla="val 5834"/>
            </a:avLst>
          </a:prstGeom>
          <a:solidFill>
            <a:srgbClr val="FFFFFF"/>
          </a:solidFill>
          <a:ln/>
        </p:spPr>
        <p:txBody>
          <a:bodyPr wrap="square" rtlCol="0" anchor="ctr"/>
          <a:lstStyle/>
          <a:p>
            <a:pPr marL="0" indent="0">
              <a:buNone/>
            </a:pPr>
            <a:endParaRPr lang="en-US" dirty="0"/>
          </a:p>
        </p:txBody>
      </p:sp>
      <p:sp>
        <p:nvSpPr>
          <p:cNvPr id="42" name="Shape 39"/>
          <p:cNvSpPr/>
          <p:nvPr/>
        </p:nvSpPr>
        <p:spPr>
          <a:xfrm>
            <a:off x="2221706" y="2200945"/>
            <a:ext cx="1500188" cy="0"/>
          </a:xfrm>
          <a:prstGeom prst="line">
            <a:avLst/>
          </a:prstGeom>
          <a:noFill/>
          <a:ln w="21431">
            <a:solidFill>
              <a:srgbClr val="0F2A4A"/>
            </a:solidFill>
            <a:prstDash val="solid"/>
          </a:ln>
        </p:spPr>
      </p:sp>
      <p:sp>
        <p:nvSpPr>
          <p:cNvPr id="43" name="Shape 40"/>
          <p:cNvSpPr/>
          <p:nvPr/>
        </p:nvSpPr>
        <p:spPr>
          <a:xfrm>
            <a:off x="3718322" y="2190229"/>
            <a:ext cx="0" cy="653095"/>
          </a:xfrm>
          <a:prstGeom prst="line">
            <a:avLst/>
          </a:prstGeom>
          <a:noFill/>
          <a:ln w="7144">
            <a:solidFill>
              <a:srgbClr val="E5E9EE"/>
            </a:solidFill>
            <a:prstDash val="solid"/>
          </a:ln>
        </p:spPr>
      </p:sp>
      <p:sp>
        <p:nvSpPr>
          <p:cNvPr id="44" name="Shape 41"/>
          <p:cNvSpPr/>
          <p:nvPr/>
        </p:nvSpPr>
        <p:spPr>
          <a:xfrm>
            <a:off x="2221706" y="2839752"/>
            <a:ext cx="1500188" cy="0"/>
          </a:xfrm>
          <a:prstGeom prst="line">
            <a:avLst/>
          </a:prstGeom>
          <a:noFill/>
          <a:ln w="7144">
            <a:solidFill>
              <a:srgbClr val="E5E9EE"/>
            </a:solidFill>
            <a:prstDash val="solid"/>
          </a:ln>
        </p:spPr>
      </p:sp>
      <p:sp>
        <p:nvSpPr>
          <p:cNvPr id="45" name="Shape 42"/>
          <p:cNvSpPr/>
          <p:nvPr/>
        </p:nvSpPr>
        <p:spPr>
          <a:xfrm>
            <a:off x="2225278" y="2190229"/>
            <a:ext cx="0" cy="653095"/>
          </a:xfrm>
          <a:prstGeom prst="line">
            <a:avLst/>
          </a:prstGeom>
          <a:noFill/>
          <a:ln w="7144">
            <a:solidFill>
              <a:srgbClr val="E5E9EE"/>
            </a:solidFill>
            <a:prstDash val="solid"/>
          </a:ln>
        </p:spPr>
      </p:sp>
      <p:sp>
        <p:nvSpPr>
          <p:cNvPr id="46" name="Text 43"/>
          <p:cNvSpPr/>
          <p:nvPr/>
        </p:nvSpPr>
        <p:spPr>
          <a:xfrm>
            <a:off x="2893219" y="2297385"/>
            <a:ext cx="157163" cy="157163"/>
          </a:xfrm>
          <a:prstGeom prst="rect">
            <a:avLst/>
          </a:prstGeom>
          <a:noFill/>
          <a:ln/>
        </p:spPr>
        <p:txBody>
          <a:bodyPr wrap="none" lIns="0" tIns="0" rIns="0" bIns="0" rtlCol="0" anchor="ctr"/>
          <a:lstStyle/>
          <a:p>
            <a:pPr marL="0" indent="0" algn="ctr">
              <a:buNone/>
            </a:pPr>
            <a:r>
              <a:rPr lang="en-US" sz="1547" dirty="0">
                <a:solidFill>
                  <a:srgbClr val="0F2A4A"/>
                </a:solidFill>
                <a:latin typeface="Segoe UI Symbol" pitchFamily="34" charset="0"/>
                <a:ea typeface="Segoe UI Symbol" pitchFamily="34" charset="-122"/>
                <a:cs typeface="Segoe UI Symbol" pitchFamily="34" charset="-120"/>
              </a:rPr>
              <a:t>☁</a:t>
            </a:r>
            <a:endParaRPr lang="en-US" sz="1547" dirty="0"/>
          </a:p>
        </p:txBody>
      </p:sp>
      <p:sp>
        <p:nvSpPr>
          <p:cNvPr id="47" name="Text 44"/>
          <p:cNvSpPr/>
          <p:nvPr/>
        </p:nvSpPr>
        <p:spPr>
          <a:xfrm>
            <a:off x="2596748" y="2497410"/>
            <a:ext cx="749992" cy="124373"/>
          </a:xfrm>
          <a:prstGeom prst="rect">
            <a:avLst/>
          </a:prstGeom>
          <a:noFill/>
          <a:ln/>
        </p:spPr>
        <p:txBody>
          <a:bodyPr wrap="none" lIns="0" tIns="0" rIns="0" bIns="0" rtlCol="0" anchor="t">
            <a:normAutofit/>
          </a:bodyPr>
          <a:lstStyle/>
          <a:p>
            <a:pPr marL="0" indent="0" algn="ctr">
              <a:lnSpc>
                <a:spcPts val="970"/>
              </a:lnSpc>
              <a:buNone/>
            </a:pPr>
            <a:r>
              <a:rPr lang="en-US" sz="647" b="1" kern="0" spc="39" dirty="0">
                <a:solidFill>
                  <a:srgbClr val="0F2A4A"/>
                </a:solidFill>
                <a:latin typeface="Carlito" pitchFamily="34" charset="0"/>
                <a:ea typeface="Carlito" pitchFamily="34" charset="-122"/>
                <a:cs typeface="Carlito" pitchFamily="34" charset="-120"/>
              </a:rPr>
              <a:t>AVAILABILITY</a:t>
            </a:r>
            <a:endParaRPr lang="en-US" sz="647" dirty="0"/>
          </a:p>
        </p:txBody>
      </p:sp>
      <p:sp>
        <p:nvSpPr>
          <p:cNvPr id="48" name="Text 45"/>
          <p:cNvSpPr/>
          <p:nvPr/>
        </p:nvSpPr>
        <p:spPr>
          <a:xfrm>
            <a:off x="2654048" y="2649215"/>
            <a:ext cx="635392" cy="101240"/>
          </a:xfrm>
          <a:prstGeom prst="rect">
            <a:avLst/>
          </a:prstGeom>
          <a:noFill/>
          <a:ln/>
        </p:spPr>
        <p:txBody>
          <a:bodyPr wrap="none" lIns="0" tIns="0" rIns="0" bIns="0" rtlCol="0" anchor="t"/>
          <a:lstStyle/>
          <a:p>
            <a:pPr marL="0" indent="0" algn="ctr">
              <a:lnSpc>
                <a:spcPts val="797"/>
              </a:lnSpc>
              <a:buNone/>
            </a:pPr>
            <a:r>
              <a:rPr lang="en-US" sz="600" dirty="0">
                <a:solidFill>
                  <a:srgbClr val="4A5568"/>
                </a:solidFill>
                <a:latin typeface="Liberation Sans Narrow" pitchFamily="34" charset="0"/>
                <a:ea typeface="Liberation Sans Narrow" pitchFamily="34" charset="-122"/>
                <a:cs typeface="Liberation Sans Narrow" pitchFamily="34" charset="-120"/>
              </a:rPr>
              <a:t>99.999% uptime</a:t>
            </a:r>
            <a:endParaRPr lang="en-US" sz="600" dirty="0"/>
          </a:p>
        </p:txBody>
      </p:sp>
      <p:sp>
        <p:nvSpPr>
          <p:cNvPr id="49" name="Text 46"/>
          <p:cNvSpPr/>
          <p:nvPr/>
        </p:nvSpPr>
        <p:spPr>
          <a:xfrm>
            <a:off x="3821906" y="2190229"/>
            <a:ext cx="1500188" cy="653095"/>
          </a:xfrm>
          <a:prstGeom prst="roundRect">
            <a:avLst>
              <a:gd name="adj" fmla="val 5834"/>
            </a:avLst>
          </a:prstGeom>
          <a:solidFill>
            <a:srgbClr val="FFFFFF"/>
          </a:solidFill>
          <a:ln/>
        </p:spPr>
        <p:txBody>
          <a:bodyPr wrap="square" rtlCol="0" anchor="ctr"/>
          <a:lstStyle/>
          <a:p>
            <a:pPr marL="0" indent="0">
              <a:buNone/>
            </a:pPr>
            <a:endParaRPr lang="en-US" dirty="0"/>
          </a:p>
        </p:txBody>
      </p:sp>
      <p:sp>
        <p:nvSpPr>
          <p:cNvPr id="50" name="Shape 47"/>
          <p:cNvSpPr/>
          <p:nvPr/>
        </p:nvSpPr>
        <p:spPr>
          <a:xfrm>
            <a:off x="3821906" y="2200945"/>
            <a:ext cx="1500188" cy="0"/>
          </a:xfrm>
          <a:prstGeom prst="line">
            <a:avLst/>
          </a:prstGeom>
          <a:noFill/>
          <a:ln w="21431">
            <a:solidFill>
              <a:srgbClr val="0F2A4A"/>
            </a:solidFill>
            <a:prstDash val="solid"/>
          </a:ln>
        </p:spPr>
      </p:sp>
      <p:sp>
        <p:nvSpPr>
          <p:cNvPr id="51" name="Shape 48"/>
          <p:cNvSpPr/>
          <p:nvPr/>
        </p:nvSpPr>
        <p:spPr>
          <a:xfrm>
            <a:off x="5318522" y="2190229"/>
            <a:ext cx="0" cy="653095"/>
          </a:xfrm>
          <a:prstGeom prst="line">
            <a:avLst/>
          </a:prstGeom>
          <a:noFill/>
          <a:ln w="7144">
            <a:solidFill>
              <a:srgbClr val="E5E9EE"/>
            </a:solidFill>
            <a:prstDash val="solid"/>
          </a:ln>
        </p:spPr>
      </p:sp>
      <p:sp>
        <p:nvSpPr>
          <p:cNvPr id="52" name="Shape 49"/>
          <p:cNvSpPr/>
          <p:nvPr/>
        </p:nvSpPr>
        <p:spPr>
          <a:xfrm>
            <a:off x="3821906" y="2839752"/>
            <a:ext cx="1500188" cy="0"/>
          </a:xfrm>
          <a:prstGeom prst="line">
            <a:avLst/>
          </a:prstGeom>
          <a:noFill/>
          <a:ln w="7144">
            <a:solidFill>
              <a:srgbClr val="E5E9EE"/>
            </a:solidFill>
            <a:prstDash val="solid"/>
          </a:ln>
        </p:spPr>
      </p:sp>
      <p:sp>
        <p:nvSpPr>
          <p:cNvPr id="53" name="Shape 50"/>
          <p:cNvSpPr/>
          <p:nvPr/>
        </p:nvSpPr>
        <p:spPr>
          <a:xfrm>
            <a:off x="3825478" y="2190229"/>
            <a:ext cx="0" cy="653095"/>
          </a:xfrm>
          <a:prstGeom prst="line">
            <a:avLst/>
          </a:prstGeom>
          <a:noFill/>
          <a:ln w="7144">
            <a:solidFill>
              <a:srgbClr val="E5E9EE"/>
            </a:solidFill>
            <a:prstDash val="solid"/>
          </a:ln>
        </p:spPr>
      </p:sp>
      <p:sp>
        <p:nvSpPr>
          <p:cNvPr id="54" name="Text 51"/>
          <p:cNvSpPr/>
          <p:nvPr/>
        </p:nvSpPr>
        <p:spPr>
          <a:xfrm>
            <a:off x="4493419" y="2297385"/>
            <a:ext cx="157163" cy="157163"/>
          </a:xfrm>
          <a:prstGeom prst="rect">
            <a:avLst/>
          </a:prstGeom>
          <a:noFill/>
          <a:ln/>
        </p:spPr>
        <p:txBody>
          <a:bodyPr wrap="none" lIns="0" tIns="0" rIns="0" bIns="0" rtlCol="0" anchor="ctr"/>
          <a:lstStyle/>
          <a:p>
            <a:pPr marL="0" indent="0" algn="ctr">
              <a:buNone/>
            </a:pPr>
            <a:r>
              <a:rPr lang="en-US" sz="1547" dirty="0">
                <a:solidFill>
                  <a:srgbClr val="0F2A4A"/>
                </a:solidFill>
                <a:latin typeface="Segoe UI Symbol" pitchFamily="34" charset="0"/>
                <a:ea typeface="Segoe UI Symbol" pitchFamily="34" charset="-122"/>
                <a:cs typeface="Segoe UI Symbol" pitchFamily="34" charset="-120"/>
              </a:rPr>
              <a:t>✚</a:t>
            </a:r>
            <a:endParaRPr lang="en-US" sz="1547" dirty="0"/>
          </a:p>
        </p:txBody>
      </p:sp>
      <p:sp>
        <p:nvSpPr>
          <p:cNvPr id="55" name="Text 52"/>
          <p:cNvSpPr/>
          <p:nvPr/>
        </p:nvSpPr>
        <p:spPr>
          <a:xfrm>
            <a:off x="4331173" y="2497410"/>
            <a:ext cx="481543" cy="124373"/>
          </a:xfrm>
          <a:prstGeom prst="rect">
            <a:avLst/>
          </a:prstGeom>
          <a:noFill/>
          <a:ln/>
        </p:spPr>
        <p:txBody>
          <a:bodyPr wrap="none" lIns="0" tIns="0" rIns="0" bIns="0" rtlCol="0" anchor="t">
            <a:normAutofit/>
          </a:bodyPr>
          <a:lstStyle/>
          <a:p>
            <a:pPr marL="0" indent="0" algn="ctr">
              <a:lnSpc>
                <a:spcPts val="970"/>
              </a:lnSpc>
              <a:buNone/>
            </a:pPr>
            <a:r>
              <a:rPr lang="en-US" sz="800" b="1" kern="0" spc="39" dirty="0">
                <a:solidFill>
                  <a:srgbClr val="0F2A4A"/>
                </a:solidFill>
                <a:latin typeface="Carlito" pitchFamily="34" charset="0"/>
                <a:ea typeface="Carlito" pitchFamily="34" charset="-122"/>
                <a:cs typeface="Carlito" pitchFamily="34" charset="-120"/>
              </a:rPr>
              <a:t>SAFETY</a:t>
            </a:r>
            <a:endParaRPr lang="en-US" sz="800" dirty="0"/>
          </a:p>
        </p:txBody>
      </p:sp>
      <p:sp>
        <p:nvSpPr>
          <p:cNvPr id="56" name="Text 53"/>
          <p:cNvSpPr/>
          <p:nvPr/>
        </p:nvSpPr>
        <p:spPr>
          <a:xfrm>
            <a:off x="4232391" y="2649215"/>
            <a:ext cx="679217" cy="101240"/>
          </a:xfrm>
          <a:prstGeom prst="rect">
            <a:avLst/>
          </a:prstGeom>
          <a:noFill/>
          <a:ln/>
        </p:spPr>
        <p:txBody>
          <a:bodyPr wrap="none" lIns="0" tIns="0" rIns="0" bIns="0" rtlCol="0" anchor="t"/>
          <a:lstStyle/>
          <a:p>
            <a:pPr marL="0" indent="0" algn="ctr">
              <a:lnSpc>
                <a:spcPts val="797"/>
              </a:lnSpc>
              <a:buNone/>
            </a:pPr>
            <a:r>
              <a:rPr lang="en-US" sz="600" dirty="0">
                <a:solidFill>
                  <a:srgbClr val="4A5568"/>
                </a:solidFill>
                <a:latin typeface="Carlito" pitchFamily="34" charset="0"/>
                <a:ea typeface="Carlito" pitchFamily="34" charset="-122"/>
                <a:cs typeface="Carlito" pitchFamily="34" charset="-120"/>
              </a:rPr>
              <a:t>No physical harm</a:t>
            </a:r>
            <a:endParaRPr lang="en-US" sz="600" dirty="0"/>
          </a:p>
        </p:txBody>
      </p:sp>
      <p:sp>
        <p:nvSpPr>
          <p:cNvPr id="57" name="Text 54"/>
          <p:cNvSpPr/>
          <p:nvPr/>
        </p:nvSpPr>
        <p:spPr>
          <a:xfrm>
            <a:off x="5422106" y="2190229"/>
            <a:ext cx="1500188" cy="653095"/>
          </a:xfrm>
          <a:prstGeom prst="roundRect">
            <a:avLst>
              <a:gd name="adj" fmla="val 5834"/>
            </a:avLst>
          </a:prstGeom>
          <a:solidFill>
            <a:srgbClr val="FFFFFF"/>
          </a:solidFill>
          <a:ln/>
        </p:spPr>
        <p:txBody>
          <a:bodyPr wrap="square" rtlCol="0" anchor="ctr"/>
          <a:lstStyle/>
          <a:p>
            <a:pPr marL="0" indent="0">
              <a:buNone/>
            </a:pPr>
            <a:endParaRPr lang="en-US" dirty="0"/>
          </a:p>
        </p:txBody>
      </p:sp>
      <p:sp>
        <p:nvSpPr>
          <p:cNvPr id="58" name="Shape 55"/>
          <p:cNvSpPr/>
          <p:nvPr/>
        </p:nvSpPr>
        <p:spPr>
          <a:xfrm>
            <a:off x="5422106" y="2200945"/>
            <a:ext cx="1500188" cy="0"/>
          </a:xfrm>
          <a:prstGeom prst="line">
            <a:avLst/>
          </a:prstGeom>
          <a:noFill/>
          <a:ln w="21431">
            <a:solidFill>
              <a:srgbClr val="0F2A4A"/>
            </a:solidFill>
            <a:prstDash val="solid"/>
          </a:ln>
        </p:spPr>
      </p:sp>
      <p:sp>
        <p:nvSpPr>
          <p:cNvPr id="59" name="Shape 56"/>
          <p:cNvSpPr/>
          <p:nvPr/>
        </p:nvSpPr>
        <p:spPr>
          <a:xfrm>
            <a:off x="6918722" y="2190229"/>
            <a:ext cx="0" cy="653095"/>
          </a:xfrm>
          <a:prstGeom prst="line">
            <a:avLst/>
          </a:prstGeom>
          <a:noFill/>
          <a:ln w="7144">
            <a:solidFill>
              <a:srgbClr val="E5E9EE"/>
            </a:solidFill>
            <a:prstDash val="solid"/>
          </a:ln>
        </p:spPr>
      </p:sp>
      <p:sp>
        <p:nvSpPr>
          <p:cNvPr id="60" name="Shape 57"/>
          <p:cNvSpPr/>
          <p:nvPr/>
        </p:nvSpPr>
        <p:spPr>
          <a:xfrm>
            <a:off x="5422106" y="2839752"/>
            <a:ext cx="1500188" cy="0"/>
          </a:xfrm>
          <a:prstGeom prst="line">
            <a:avLst/>
          </a:prstGeom>
          <a:noFill/>
          <a:ln w="7144">
            <a:solidFill>
              <a:srgbClr val="E5E9EE"/>
            </a:solidFill>
            <a:prstDash val="solid"/>
          </a:ln>
        </p:spPr>
      </p:sp>
      <p:sp>
        <p:nvSpPr>
          <p:cNvPr id="61" name="Shape 58"/>
          <p:cNvSpPr/>
          <p:nvPr/>
        </p:nvSpPr>
        <p:spPr>
          <a:xfrm>
            <a:off x="5425678" y="2190229"/>
            <a:ext cx="0" cy="653095"/>
          </a:xfrm>
          <a:prstGeom prst="line">
            <a:avLst/>
          </a:prstGeom>
          <a:noFill/>
          <a:ln w="7144">
            <a:solidFill>
              <a:srgbClr val="E5E9EE"/>
            </a:solidFill>
            <a:prstDash val="solid"/>
          </a:ln>
        </p:spPr>
      </p:sp>
      <p:sp>
        <p:nvSpPr>
          <p:cNvPr id="62" name="Text 59"/>
          <p:cNvSpPr/>
          <p:nvPr/>
        </p:nvSpPr>
        <p:spPr>
          <a:xfrm>
            <a:off x="6093619" y="2297385"/>
            <a:ext cx="157163" cy="157163"/>
          </a:xfrm>
          <a:prstGeom prst="rect">
            <a:avLst/>
          </a:prstGeom>
          <a:noFill/>
          <a:ln/>
        </p:spPr>
        <p:txBody>
          <a:bodyPr wrap="none" lIns="0" tIns="0" rIns="0" bIns="0" rtlCol="0" anchor="ctr"/>
          <a:lstStyle/>
          <a:p>
            <a:pPr marL="0" indent="0" algn="ctr">
              <a:buNone/>
            </a:pPr>
            <a:r>
              <a:rPr lang="en-US" sz="1547" dirty="0">
                <a:solidFill>
                  <a:srgbClr val="0F2A4A"/>
                </a:solidFill>
                <a:latin typeface="Segoe UI Symbol" pitchFamily="34" charset="0"/>
                <a:ea typeface="Segoe UI Symbol" pitchFamily="34" charset="-122"/>
                <a:cs typeface="Segoe UI Symbol" pitchFamily="34" charset="-120"/>
              </a:rPr>
              <a:t>⚿</a:t>
            </a:r>
            <a:endParaRPr lang="en-US" sz="1547" dirty="0"/>
          </a:p>
        </p:txBody>
      </p:sp>
      <p:sp>
        <p:nvSpPr>
          <p:cNvPr id="63" name="Text 60"/>
          <p:cNvSpPr/>
          <p:nvPr/>
        </p:nvSpPr>
        <p:spPr>
          <a:xfrm>
            <a:off x="5857042" y="2497410"/>
            <a:ext cx="630204" cy="124373"/>
          </a:xfrm>
          <a:prstGeom prst="rect">
            <a:avLst/>
          </a:prstGeom>
          <a:noFill/>
          <a:ln/>
        </p:spPr>
        <p:txBody>
          <a:bodyPr wrap="none" lIns="0" tIns="0" rIns="0" bIns="0" rtlCol="0" anchor="t">
            <a:normAutofit/>
          </a:bodyPr>
          <a:lstStyle/>
          <a:p>
            <a:pPr marL="0" indent="0" algn="ctr">
              <a:lnSpc>
                <a:spcPts val="970"/>
              </a:lnSpc>
              <a:buNone/>
            </a:pPr>
            <a:r>
              <a:rPr lang="en-US" sz="800" b="1" kern="0" spc="39" dirty="0">
                <a:solidFill>
                  <a:srgbClr val="0F2A4A"/>
                </a:solidFill>
                <a:latin typeface="Carlito" pitchFamily="34" charset="0"/>
                <a:ea typeface="Carlito" pitchFamily="34" charset="-122"/>
                <a:cs typeface="Carlito" pitchFamily="34" charset="-120"/>
              </a:rPr>
              <a:t>SECURITY</a:t>
            </a:r>
            <a:endParaRPr lang="en-US" sz="800" dirty="0"/>
          </a:p>
        </p:txBody>
      </p:sp>
      <p:sp>
        <p:nvSpPr>
          <p:cNvPr id="64" name="Text 61"/>
          <p:cNvSpPr/>
          <p:nvPr/>
        </p:nvSpPr>
        <p:spPr>
          <a:xfrm>
            <a:off x="5839607" y="2649215"/>
            <a:ext cx="665074" cy="101240"/>
          </a:xfrm>
          <a:prstGeom prst="rect">
            <a:avLst/>
          </a:prstGeom>
          <a:noFill/>
          <a:ln/>
        </p:spPr>
        <p:txBody>
          <a:bodyPr wrap="square" lIns="0" tIns="0" rIns="0" bIns="0" rtlCol="0" anchor="t"/>
          <a:lstStyle/>
          <a:p>
            <a:pPr marL="0" indent="0" algn="ctr">
              <a:lnSpc>
                <a:spcPts val="797"/>
              </a:lnSpc>
              <a:buNone/>
            </a:pPr>
            <a:r>
              <a:rPr lang="en-US" sz="600" dirty="0">
                <a:solidFill>
                  <a:srgbClr val="4A5568"/>
                </a:solidFill>
                <a:latin typeface="Carlito" pitchFamily="34" charset="0"/>
                <a:ea typeface="Carlito" pitchFamily="34" charset="-122"/>
                <a:cs typeface="Carlito" pitchFamily="34" charset="-120"/>
              </a:rPr>
              <a:t>CIA triad held</a:t>
            </a:r>
            <a:endParaRPr lang="en-US" sz="600" dirty="0"/>
          </a:p>
        </p:txBody>
      </p:sp>
      <p:sp>
        <p:nvSpPr>
          <p:cNvPr id="65" name="Text 62"/>
          <p:cNvSpPr/>
          <p:nvPr/>
        </p:nvSpPr>
        <p:spPr>
          <a:xfrm>
            <a:off x="7022306" y="2190229"/>
            <a:ext cx="1500188" cy="653095"/>
          </a:xfrm>
          <a:prstGeom prst="roundRect">
            <a:avLst>
              <a:gd name="adj" fmla="val 5834"/>
            </a:avLst>
          </a:prstGeom>
          <a:solidFill>
            <a:srgbClr val="FFFFFF"/>
          </a:solidFill>
          <a:ln/>
        </p:spPr>
        <p:txBody>
          <a:bodyPr wrap="square" rtlCol="0" anchor="ctr"/>
          <a:lstStyle/>
          <a:p>
            <a:pPr marL="0" indent="0">
              <a:buNone/>
            </a:pPr>
            <a:endParaRPr lang="en-US" dirty="0"/>
          </a:p>
        </p:txBody>
      </p:sp>
      <p:sp>
        <p:nvSpPr>
          <p:cNvPr id="66" name="Shape 63"/>
          <p:cNvSpPr/>
          <p:nvPr/>
        </p:nvSpPr>
        <p:spPr>
          <a:xfrm>
            <a:off x="7022306" y="2200945"/>
            <a:ext cx="1500188" cy="0"/>
          </a:xfrm>
          <a:prstGeom prst="line">
            <a:avLst/>
          </a:prstGeom>
          <a:noFill/>
          <a:ln w="21431">
            <a:solidFill>
              <a:srgbClr val="0F2A4A"/>
            </a:solidFill>
            <a:prstDash val="solid"/>
          </a:ln>
        </p:spPr>
      </p:sp>
      <p:sp>
        <p:nvSpPr>
          <p:cNvPr id="67" name="Shape 64"/>
          <p:cNvSpPr/>
          <p:nvPr/>
        </p:nvSpPr>
        <p:spPr>
          <a:xfrm>
            <a:off x="8518922" y="2190229"/>
            <a:ext cx="0" cy="653095"/>
          </a:xfrm>
          <a:prstGeom prst="line">
            <a:avLst/>
          </a:prstGeom>
          <a:noFill/>
          <a:ln w="7144">
            <a:solidFill>
              <a:srgbClr val="E5E9EE"/>
            </a:solidFill>
            <a:prstDash val="solid"/>
          </a:ln>
        </p:spPr>
      </p:sp>
      <p:sp>
        <p:nvSpPr>
          <p:cNvPr id="68" name="Shape 65"/>
          <p:cNvSpPr/>
          <p:nvPr/>
        </p:nvSpPr>
        <p:spPr>
          <a:xfrm>
            <a:off x="7022306" y="2839752"/>
            <a:ext cx="1500188" cy="0"/>
          </a:xfrm>
          <a:prstGeom prst="line">
            <a:avLst/>
          </a:prstGeom>
          <a:noFill/>
          <a:ln w="7144">
            <a:solidFill>
              <a:srgbClr val="E5E9EE"/>
            </a:solidFill>
            <a:prstDash val="solid"/>
          </a:ln>
        </p:spPr>
      </p:sp>
      <p:sp>
        <p:nvSpPr>
          <p:cNvPr id="69" name="Shape 66"/>
          <p:cNvSpPr/>
          <p:nvPr/>
        </p:nvSpPr>
        <p:spPr>
          <a:xfrm>
            <a:off x="7025878" y="2190229"/>
            <a:ext cx="0" cy="653095"/>
          </a:xfrm>
          <a:prstGeom prst="line">
            <a:avLst/>
          </a:prstGeom>
          <a:noFill/>
          <a:ln w="7144">
            <a:solidFill>
              <a:srgbClr val="E5E9EE"/>
            </a:solidFill>
            <a:prstDash val="solid"/>
          </a:ln>
        </p:spPr>
      </p:sp>
      <p:sp>
        <p:nvSpPr>
          <p:cNvPr id="70" name="Text 67"/>
          <p:cNvSpPr/>
          <p:nvPr/>
        </p:nvSpPr>
        <p:spPr>
          <a:xfrm>
            <a:off x="7693819" y="2297385"/>
            <a:ext cx="157163" cy="157163"/>
          </a:xfrm>
          <a:prstGeom prst="rect">
            <a:avLst/>
          </a:prstGeom>
          <a:noFill/>
          <a:ln/>
        </p:spPr>
        <p:txBody>
          <a:bodyPr wrap="none" lIns="0" tIns="0" rIns="0" bIns="0" rtlCol="0" anchor="ctr"/>
          <a:lstStyle/>
          <a:p>
            <a:pPr marL="0" indent="0" algn="ctr">
              <a:buNone/>
            </a:pPr>
            <a:r>
              <a:rPr lang="en-US" sz="1547" dirty="0">
                <a:solidFill>
                  <a:srgbClr val="0F2A4A"/>
                </a:solidFill>
                <a:latin typeface="Segoe UI Symbol" pitchFamily="34" charset="0"/>
                <a:ea typeface="Segoe UI Symbol" pitchFamily="34" charset="-122"/>
                <a:cs typeface="Segoe UI Symbol" pitchFamily="34" charset="-120"/>
              </a:rPr>
              <a:t>⚒</a:t>
            </a:r>
            <a:endParaRPr lang="en-US" sz="1547" dirty="0"/>
          </a:p>
        </p:txBody>
      </p:sp>
      <p:sp>
        <p:nvSpPr>
          <p:cNvPr id="71" name="Text 68"/>
          <p:cNvSpPr/>
          <p:nvPr/>
        </p:nvSpPr>
        <p:spPr>
          <a:xfrm>
            <a:off x="7290944" y="2497410"/>
            <a:ext cx="962911" cy="124373"/>
          </a:xfrm>
          <a:prstGeom prst="rect">
            <a:avLst/>
          </a:prstGeom>
          <a:noFill/>
          <a:ln/>
        </p:spPr>
        <p:txBody>
          <a:bodyPr wrap="none" lIns="0" tIns="0" rIns="0" bIns="0" rtlCol="0" anchor="t">
            <a:normAutofit/>
          </a:bodyPr>
          <a:lstStyle/>
          <a:p>
            <a:pPr marL="0" indent="0" algn="ctr">
              <a:lnSpc>
                <a:spcPts val="970"/>
              </a:lnSpc>
              <a:buNone/>
            </a:pPr>
            <a:r>
              <a:rPr lang="en-US" sz="647" b="1" kern="0" spc="39" dirty="0">
                <a:solidFill>
                  <a:srgbClr val="0F2A4A"/>
                </a:solidFill>
                <a:latin typeface="Carlito" pitchFamily="34" charset="0"/>
                <a:ea typeface="Carlito" pitchFamily="34" charset="-122"/>
                <a:cs typeface="Carlito" pitchFamily="34" charset="-120"/>
              </a:rPr>
              <a:t>MAINTAINABILITY</a:t>
            </a:r>
            <a:endParaRPr lang="en-US" sz="647" dirty="0"/>
          </a:p>
        </p:txBody>
      </p:sp>
      <p:sp>
        <p:nvSpPr>
          <p:cNvPr id="72" name="Text 69"/>
          <p:cNvSpPr/>
          <p:nvPr/>
        </p:nvSpPr>
        <p:spPr>
          <a:xfrm>
            <a:off x="7472233" y="2649215"/>
            <a:ext cx="600334" cy="101240"/>
          </a:xfrm>
          <a:prstGeom prst="rect">
            <a:avLst/>
          </a:prstGeom>
          <a:noFill/>
          <a:ln/>
        </p:spPr>
        <p:txBody>
          <a:bodyPr wrap="none" lIns="0" tIns="0" rIns="0" bIns="0" rtlCol="0" anchor="t"/>
          <a:lstStyle/>
          <a:p>
            <a:pPr marL="0" indent="0" algn="ctr">
              <a:lnSpc>
                <a:spcPts val="797"/>
              </a:lnSpc>
              <a:buNone/>
            </a:pPr>
            <a:r>
              <a:rPr lang="en-US" sz="600" dirty="0">
                <a:solidFill>
                  <a:srgbClr val="4A5568"/>
                </a:solidFill>
                <a:latin typeface="Carlito" pitchFamily="34" charset="0"/>
                <a:ea typeface="Carlito" pitchFamily="34" charset="-122"/>
                <a:cs typeface="Carlito" pitchFamily="34" charset="-120"/>
              </a:rPr>
              <a:t>Easy to patch</a:t>
            </a:r>
            <a:endParaRPr lang="en-US" sz="600" dirty="0"/>
          </a:p>
        </p:txBody>
      </p:sp>
      <p:sp>
        <p:nvSpPr>
          <p:cNvPr id="73" name="Text 70"/>
          <p:cNvSpPr/>
          <p:nvPr/>
        </p:nvSpPr>
        <p:spPr>
          <a:xfrm>
            <a:off x="5115037" y="4579144"/>
            <a:ext cx="3568192" cy="203597"/>
          </a:xfrm>
          <a:prstGeom prst="roundRect">
            <a:avLst>
              <a:gd name="adj" fmla="val 4673681"/>
            </a:avLst>
          </a:prstGeom>
          <a:solidFill>
            <a:srgbClr val="E5D5A3"/>
          </a:solidFill>
          <a:ln w="7144">
            <a:solidFill>
              <a:srgbClr val="C9A961"/>
            </a:solidFill>
            <a:prstDash val="solid"/>
          </a:ln>
        </p:spPr>
        <p:txBody>
          <a:bodyPr wrap="square" rtlCol="0" anchor="ctr"/>
          <a:lstStyle/>
          <a:p>
            <a:pPr marL="0" indent="0">
              <a:buNone/>
            </a:pPr>
            <a:endParaRPr lang="en-US" dirty="0"/>
          </a:p>
        </p:txBody>
      </p:sp>
      <p:sp>
        <p:nvSpPr>
          <p:cNvPr id="74" name="Text 71"/>
          <p:cNvSpPr/>
          <p:nvPr/>
        </p:nvSpPr>
        <p:spPr>
          <a:xfrm>
            <a:off x="5111465" y="4575572"/>
            <a:ext cx="3575335" cy="248998"/>
          </a:xfrm>
          <a:prstGeom prst="rect">
            <a:avLst/>
          </a:prstGeom>
          <a:noFill/>
          <a:ln/>
        </p:spPr>
        <p:txBody>
          <a:bodyPr wrap="square" lIns="85725" tIns="28575" rIns="85725" bIns="28575" rtlCol="0" anchor="t"/>
          <a:lstStyle/>
          <a:p>
            <a:pPr marL="0" indent="0" algn="l">
              <a:lnSpc>
                <a:spcPts val="1097"/>
              </a:lnSpc>
              <a:buNone/>
            </a:pPr>
            <a:r>
              <a:rPr lang="en-US" sz="731" dirty="0">
                <a:solidFill>
                  <a:srgbClr val="0F2A4A"/>
                </a:solidFill>
                <a:latin typeface="Carlito" pitchFamily="34" charset="0"/>
                <a:ea typeface="Carlito" pitchFamily="34" charset="-122"/>
                <a:cs typeface="Carlito" pitchFamily="34" charset="-120"/>
              </a:rPr>
              <a:t>Application — Medical device must satisfy all 5; consumer wearable trades off SIL.</a:t>
            </a:r>
            <a:endParaRPr lang="en-US" sz="731" dirty="0"/>
          </a:p>
        </p:txBody>
      </p:sp>
      <p:sp>
        <p:nvSpPr>
          <p:cNvPr id="75" name="Text 72"/>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76" name="Text 73"/>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20 / 21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42863"/>
          </a:xfrm>
          <a:prstGeom prst="rect">
            <a:avLst/>
          </a:prstGeom>
        </p:spPr>
      </p:pic>
      <p:sp>
        <p:nvSpPr>
          <p:cNvPr id="3" name="Text 0"/>
          <p:cNvSpPr/>
          <p:nvPr/>
        </p:nvSpPr>
        <p:spPr>
          <a:xfrm>
            <a:off x="3832733" y="328613"/>
            <a:ext cx="42863" cy="42863"/>
          </a:xfrm>
          <a:prstGeom prst="roundRect">
            <a:avLst>
              <a:gd name="adj" fmla="val 66666"/>
            </a:avLst>
          </a:prstGeom>
          <a:solidFill>
            <a:srgbClr val="C9A961"/>
          </a:solidFill>
          <a:ln/>
        </p:spPr>
        <p:txBody>
          <a:bodyPr wrap="square" rtlCol="0" anchor="ctr"/>
          <a:lstStyle/>
          <a:p>
            <a:pPr marL="0" indent="0">
              <a:buNone/>
            </a:pPr>
            <a:endParaRPr lang="en-US" dirty="0"/>
          </a:p>
        </p:txBody>
      </p:sp>
      <p:sp>
        <p:nvSpPr>
          <p:cNvPr id="4" name="Text 1"/>
          <p:cNvSpPr/>
          <p:nvPr/>
        </p:nvSpPr>
        <p:spPr>
          <a:xfrm>
            <a:off x="3523166" y="285750"/>
            <a:ext cx="2097669" cy="164592"/>
          </a:xfrm>
          <a:prstGeom prst="rect">
            <a:avLst/>
          </a:prstGeom>
          <a:noFill/>
          <a:ln/>
        </p:spPr>
        <p:txBody>
          <a:bodyPr wrap="none" lIns="0" tIns="0" rIns="0" bIns="0" rtlCol="0" anchor="t"/>
          <a:lstStyle/>
          <a:p>
            <a:pPr marL="0" indent="0" algn="ctr">
              <a:lnSpc>
                <a:spcPts val="1013"/>
              </a:lnSpc>
              <a:buNone/>
            </a:pPr>
            <a:r>
              <a:rPr lang="en-US" sz="800" b="1" kern="0" spc="135" dirty="0">
                <a:solidFill>
                  <a:srgbClr val="C9A961"/>
                </a:solidFill>
                <a:latin typeface="Carlito" pitchFamily="34" charset="0"/>
                <a:ea typeface="Carlito" pitchFamily="34" charset="-122"/>
                <a:cs typeface="Carlito" pitchFamily="34" charset="-120"/>
              </a:rPr>
              <a:t>SUMMARY · TAKEAWAYS</a:t>
            </a:r>
            <a:endParaRPr lang="en-US" sz="800" dirty="0"/>
          </a:p>
        </p:txBody>
      </p:sp>
      <p:sp>
        <p:nvSpPr>
          <p:cNvPr id="5" name="Text 2"/>
          <p:cNvSpPr/>
          <p:nvPr/>
        </p:nvSpPr>
        <p:spPr>
          <a:xfrm>
            <a:off x="274320" y="500063"/>
            <a:ext cx="8595360" cy="337060"/>
          </a:xfrm>
          <a:prstGeom prst="rect">
            <a:avLst/>
          </a:prstGeom>
          <a:noFill/>
          <a:ln/>
        </p:spPr>
        <p:txBody>
          <a:bodyPr wrap="square" lIns="0" tIns="0" rIns="0" bIns="0" rtlCol="0" anchor="t"/>
          <a:lstStyle/>
          <a:p>
            <a:pPr marL="0" indent="0" algn="ctr">
              <a:lnSpc>
                <a:spcPts val="2458"/>
              </a:lnSpc>
              <a:buNone/>
            </a:pPr>
            <a:r>
              <a:rPr lang="en-US" sz="2138" b="1" kern="0" spc="-43" dirty="0">
                <a:solidFill>
                  <a:srgbClr val="0F2A4A"/>
                </a:solidFill>
                <a:latin typeface="Tinos" pitchFamily="34" charset="0"/>
                <a:ea typeface="Tinos" pitchFamily="34" charset="-122"/>
                <a:cs typeface="Tinos" pitchFamily="34" charset="-120"/>
              </a:rPr>
              <a:t>Nine Concepts, One Secure Stack</a:t>
            </a:r>
            <a:endParaRPr lang="en-US" sz="2138" dirty="0"/>
          </a:p>
        </p:txBody>
      </p:sp>
      <p:sp>
        <p:nvSpPr>
          <p:cNvPr id="6" name="Text 3"/>
          <p:cNvSpPr/>
          <p:nvPr/>
        </p:nvSpPr>
        <p:spPr>
          <a:xfrm>
            <a:off x="1714500" y="897880"/>
            <a:ext cx="5715000" cy="358759"/>
          </a:xfrm>
          <a:prstGeom prst="rect">
            <a:avLst/>
          </a:prstGeom>
          <a:noFill/>
          <a:ln/>
        </p:spPr>
        <p:txBody>
          <a:bodyPr wrap="square" lIns="0" tIns="0" rIns="0" bIns="0" rtlCol="0" anchor="t"/>
          <a:lstStyle/>
          <a:p>
            <a:pPr marL="0" indent="0" algn="ctr">
              <a:lnSpc>
                <a:spcPts val="1308"/>
              </a:lnSpc>
              <a:buNone/>
            </a:pPr>
            <a:r>
              <a:rPr lang="en-US" sz="844" dirty="0">
                <a:solidFill>
                  <a:srgbClr val="4A5568"/>
                </a:solidFill>
                <a:latin typeface="Carlito" pitchFamily="34" charset="0"/>
                <a:ea typeface="Carlito" pitchFamily="34" charset="-122"/>
                <a:cs typeface="Carlito" pitchFamily="34" charset="-120"/>
              </a:rPr>
              <a:t>IoT security is a layered, lifecycle discipline. Each concept reinforces the next — from the silicon root of trust to the privacy promises you make to your users.</a:t>
            </a:r>
            <a:endParaRPr lang="en-US" sz="844" dirty="0"/>
          </a:p>
        </p:txBody>
      </p:sp>
      <p:sp>
        <p:nvSpPr>
          <p:cNvPr id="7" name="Text 4"/>
          <p:cNvSpPr/>
          <p:nvPr/>
        </p:nvSpPr>
        <p:spPr>
          <a:xfrm>
            <a:off x="457200" y="1458664"/>
            <a:ext cx="2638388" cy="1428750"/>
          </a:xfrm>
          <a:prstGeom prst="roundRect">
            <a:avLst>
              <a:gd name="adj" fmla="val 5333"/>
            </a:avLst>
          </a:prstGeom>
          <a:solidFill>
            <a:srgbClr val="FFFFFF"/>
          </a:solidFill>
          <a:ln/>
        </p:spPr>
        <p:txBody>
          <a:bodyPr wrap="square" rtlCol="0" anchor="ctr"/>
          <a:lstStyle/>
          <a:p>
            <a:pPr marL="0" indent="0">
              <a:buNone/>
            </a:pPr>
            <a:endParaRPr lang="en-US" dirty="0"/>
          </a:p>
        </p:txBody>
      </p:sp>
      <p:sp>
        <p:nvSpPr>
          <p:cNvPr id="8" name="Shape 5"/>
          <p:cNvSpPr/>
          <p:nvPr/>
        </p:nvSpPr>
        <p:spPr>
          <a:xfrm>
            <a:off x="457200" y="1462236"/>
            <a:ext cx="2638388" cy="0"/>
          </a:xfrm>
          <a:prstGeom prst="line">
            <a:avLst/>
          </a:prstGeom>
          <a:noFill/>
          <a:ln w="7144">
            <a:solidFill>
              <a:srgbClr val="D8DEE6"/>
            </a:solidFill>
            <a:prstDash val="solid"/>
          </a:ln>
        </p:spPr>
      </p:sp>
      <p:sp>
        <p:nvSpPr>
          <p:cNvPr id="9" name="Shape 6"/>
          <p:cNvSpPr/>
          <p:nvPr/>
        </p:nvSpPr>
        <p:spPr>
          <a:xfrm>
            <a:off x="3092016" y="1458664"/>
            <a:ext cx="0" cy="1428750"/>
          </a:xfrm>
          <a:prstGeom prst="line">
            <a:avLst/>
          </a:prstGeom>
          <a:noFill/>
          <a:ln w="7144">
            <a:solidFill>
              <a:srgbClr val="D8DEE6"/>
            </a:solidFill>
            <a:prstDash val="solid"/>
          </a:ln>
        </p:spPr>
      </p:sp>
      <p:sp>
        <p:nvSpPr>
          <p:cNvPr id="10" name="Shape 7"/>
          <p:cNvSpPr/>
          <p:nvPr/>
        </p:nvSpPr>
        <p:spPr>
          <a:xfrm>
            <a:off x="457200" y="2883843"/>
            <a:ext cx="2638388" cy="0"/>
          </a:xfrm>
          <a:prstGeom prst="line">
            <a:avLst/>
          </a:prstGeom>
          <a:noFill/>
          <a:ln w="7144">
            <a:solidFill>
              <a:srgbClr val="D8DEE6"/>
            </a:solidFill>
            <a:prstDash val="solid"/>
          </a:ln>
        </p:spPr>
      </p:sp>
      <p:sp>
        <p:nvSpPr>
          <p:cNvPr id="11" name="Shape 8"/>
          <p:cNvSpPr/>
          <p:nvPr/>
        </p:nvSpPr>
        <p:spPr>
          <a:xfrm>
            <a:off x="467916" y="1458664"/>
            <a:ext cx="0" cy="1428750"/>
          </a:xfrm>
          <a:prstGeom prst="line">
            <a:avLst/>
          </a:prstGeom>
          <a:noFill/>
          <a:ln w="21431">
            <a:solidFill>
              <a:srgbClr val="0F2A4A"/>
            </a:solidFill>
            <a:prstDash val="solid"/>
          </a:ln>
        </p:spPr>
      </p:sp>
      <p:sp>
        <p:nvSpPr>
          <p:cNvPr id="12" name="Text 9"/>
          <p:cNvSpPr/>
          <p:nvPr/>
        </p:nvSpPr>
        <p:spPr>
          <a:xfrm>
            <a:off x="635794" y="1594396"/>
            <a:ext cx="2295488" cy="140446"/>
          </a:xfrm>
          <a:prstGeom prst="rect">
            <a:avLst/>
          </a:prstGeom>
          <a:noFill/>
          <a:ln/>
        </p:spPr>
        <p:txBody>
          <a:bodyPr wrap="none" lIns="0" tIns="0" rIns="0" bIns="0" rtlCol="0" anchor="t">
            <a:normAutofit/>
          </a:bodyPr>
          <a:lstStyle/>
          <a:p>
            <a:pPr marL="0" indent="0" algn="l">
              <a:lnSpc>
                <a:spcPts val="1097"/>
              </a:lnSpc>
              <a:buNone/>
            </a:pPr>
            <a:r>
              <a:rPr lang="en-US" sz="800" b="1" kern="0" spc="73" dirty="0">
                <a:solidFill>
                  <a:srgbClr val="C9A961"/>
                </a:solidFill>
                <a:latin typeface="Liberation Sans Narrow" pitchFamily="34" charset="0"/>
                <a:ea typeface="Liberation Sans Narrow" pitchFamily="34" charset="-122"/>
                <a:cs typeface="Liberation Sans Narrow" pitchFamily="34" charset="-120"/>
              </a:rPr>
              <a:t>01 — 03</a:t>
            </a:r>
            <a:endParaRPr lang="en-US" sz="800" dirty="0"/>
          </a:p>
        </p:txBody>
      </p:sp>
      <p:sp>
        <p:nvSpPr>
          <p:cNvPr id="13" name="Text 10"/>
          <p:cNvSpPr/>
          <p:nvPr/>
        </p:nvSpPr>
        <p:spPr>
          <a:xfrm>
            <a:off x="635794" y="1762274"/>
            <a:ext cx="2295488" cy="185166"/>
          </a:xfrm>
          <a:prstGeom prst="rect">
            <a:avLst/>
          </a:prstGeom>
          <a:noFill/>
          <a:ln/>
        </p:spPr>
        <p:txBody>
          <a:bodyPr wrap="none" lIns="0" tIns="0" rIns="0" bIns="0" rtlCol="0" anchor="t"/>
          <a:lstStyle/>
          <a:p>
            <a:pPr marL="0" indent="0" algn="l">
              <a:lnSpc>
                <a:spcPts val="1350"/>
              </a:lnSpc>
              <a:buNone/>
            </a:pPr>
            <a:r>
              <a:rPr lang="en-US" sz="900" kern="0" spc="-4" dirty="0">
                <a:solidFill>
                  <a:srgbClr val="0F2A4A"/>
                </a:solidFill>
                <a:latin typeface="Liberation Sans Narrow" pitchFamily="34" charset="0"/>
                <a:ea typeface="Liberation Sans Narrow" pitchFamily="34" charset="-122"/>
                <a:cs typeface="Liberation Sans Narrow" pitchFamily="34" charset="-120"/>
              </a:rPr>
              <a:t>Foundation (Topics 1-3)</a:t>
            </a:r>
            <a:endParaRPr lang="en-US" sz="900" dirty="0"/>
          </a:p>
        </p:txBody>
      </p:sp>
      <p:sp>
        <p:nvSpPr>
          <p:cNvPr id="14" name="Text 11"/>
          <p:cNvSpPr/>
          <p:nvPr/>
        </p:nvSpPr>
        <p:spPr>
          <a:xfrm>
            <a:off x="635794" y="2019449"/>
            <a:ext cx="2295488" cy="833318"/>
          </a:xfrm>
          <a:prstGeom prst="rect">
            <a:avLst/>
          </a:prstGeom>
          <a:noFill/>
          <a:ln/>
        </p:spPr>
        <p:txBody>
          <a:bodyPr wrap="square" lIns="0" tIns="0" rIns="0" bIns="0" rtlCol="0" anchor="t"/>
          <a:lstStyle/>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Carlito" pitchFamily="34" charset="0"/>
                <a:ea typeface="Carlito" pitchFamily="34" charset="-122"/>
                <a:cs typeface="Carlito" pitchFamily="34" charset="-120"/>
              </a:rPr>
              <a:t>Layered architecture</a:t>
            </a:r>
            <a:r>
              <a:rPr lang="en-US" sz="800" dirty="0">
                <a:solidFill>
                  <a:srgbClr val="4A5568"/>
                </a:solidFill>
                <a:latin typeface="Carlito" pitchFamily="34" charset="0"/>
                <a:ea typeface="Carlito" pitchFamily="34" charset="-122"/>
                <a:cs typeface="Carlito" pitchFamily="34" charset="-120"/>
              </a:rPr>
              <a:t> — perception, network, application</a:t>
            </a:r>
            <a:endParaRPr lang="en-US" sz="800" dirty="0"/>
          </a:p>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Carlito" pitchFamily="34" charset="0"/>
                <a:ea typeface="Carlito" pitchFamily="34" charset="-122"/>
                <a:cs typeface="Carlito" pitchFamily="34" charset="-120"/>
              </a:rPr>
              <a:t>Hardware root of trust</a:t>
            </a:r>
            <a:r>
              <a:rPr lang="en-US" sz="800" dirty="0">
                <a:solidFill>
                  <a:srgbClr val="4A5568"/>
                </a:solidFill>
                <a:latin typeface="Carlito" pitchFamily="34" charset="0"/>
                <a:ea typeface="Carlito" pitchFamily="34" charset="-122"/>
                <a:cs typeface="Carlito" pitchFamily="34" charset="-120"/>
              </a:rPr>
              <a:t> anchors every higher layer</a:t>
            </a:r>
            <a:endParaRPr lang="en-US" sz="800" dirty="0"/>
          </a:p>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Liberation Sans Narrow" pitchFamily="34" charset="0"/>
                <a:ea typeface="Liberation Sans Narrow" pitchFamily="34" charset="-122"/>
                <a:cs typeface="Liberation Sans Narrow" pitchFamily="34" charset="-120"/>
              </a:rPr>
              <a:t>Mutual auth, TLS 1.3, IDS</a:t>
            </a:r>
            <a:r>
              <a:rPr lang="en-US" sz="800" dirty="0">
                <a:solidFill>
                  <a:srgbClr val="4A5568"/>
                </a:solidFill>
                <a:latin typeface="Carlito" pitchFamily="34" charset="0"/>
                <a:ea typeface="Carlito" pitchFamily="34" charset="-122"/>
                <a:cs typeface="Carlito" pitchFamily="34" charset="-120"/>
              </a:rPr>
              <a:t> in every network hop</a:t>
            </a:r>
            <a:endParaRPr lang="en-US" sz="800" dirty="0"/>
          </a:p>
        </p:txBody>
      </p:sp>
      <p:sp>
        <p:nvSpPr>
          <p:cNvPr id="15" name="Text 12"/>
          <p:cNvSpPr/>
          <p:nvPr/>
        </p:nvSpPr>
        <p:spPr>
          <a:xfrm>
            <a:off x="3252750" y="1458664"/>
            <a:ext cx="2638388" cy="1428750"/>
          </a:xfrm>
          <a:prstGeom prst="roundRect">
            <a:avLst>
              <a:gd name="adj" fmla="val 5333"/>
            </a:avLst>
          </a:prstGeom>
          <a:solidFill>
            <a:srgbClr val="FFFFFF"/>
          </a:solidFill>
          <a:ln/>
        </p:spPr>
        <p:txBody>
          <a:bodyPr wrap="square" rtlCol="0" anchor="ctr"/>
          <a:lstStyle/>
          <a:p>
            <a:pPr marL="0" indent="0">
              <a:buNone/>
            </a:pPr>
            <a:endParaRPr lang="en-US" dirty="0"/>
          </a:p>
        </p:txBody>
      </p:sp>
      <p:sp>
        <p:nvSpPr>
          <p:cNvPr id="16" name="Shape 13"/>
          <p:cNvSpPr/>
          <p:nvPr/>
        </p:nvSpPr>
        <p:spPr>
          <a:xfrm>
            <a:off x="3252750" y="1462236"/>
            <a:ext cx="2638388" cy="0"/>
          </a:xfrm>
          <a:prstGeom prst="line">
            <a:avLst/>
          </a:prstGeom>
          <a:noFill/>
          <a:ln w="7144">
            <a:solidFill>
              <a:srgbClr val="D8DEE6"/>
            </a:solidFill>
            <a:prstDash val="solid"/>
          </a:ln>
        </p:spPr>
      </p:sp>
      <p:sp>
        <p:nvSpPr>
          <p:cNvPr id="17" name="Shape 14"/>
          <p:cNvSpPr/>
          <p:nvPr/>
        </p:nvSpPr>
        <p:spPr>
          <a:xfrm>
            <a:off x="5887566" y="1458664"/>
            <a:ext cx="0" cy="1428750"/>
          </a:xfrm>
          <a:prstGeom prst="line">
            <a:avLst/>
          </a:prstGeom>
          <a:noFill/>
          <a:ln w="7144">
            <a:solidFill>
              <a:srgbClr val="D8DEE6"/>
            </a:solidFill>
            <a:prstDash val="solid"/>
          </a:ln>
        </p:spPr>
      </p:sp>
      <p:sp>
        <p:nvSpPr>
          <p:cNvPr id="18" name="Shape 15"/>
          <p:cNvSpPr/>
          <p:nvPr/>
        </p:nvSpPr>
        <p:spPr>
          <a:xfrm>
            <a:off x="3252750" y="2883843"/>
            <a:ext cx="2638388" cy="0"/>
          </a:xfrm>
          <a:prstGeom prst="line">
            <a:avLst/>
          </a:prstGeom>
          <a:noFill/>
          <a:ln w="7144">
            <a:solidFill>
              <a:srgbClr val="D8DEE6"/>
            </a:solidFill>
            <a:prstDash val="solid"/>
          </a:ln>
        </p:spPr>
      </p:sp>
      <p:sp>
        <p:nvSpPr>
          <p:cNvPr id="19" name="Shape 16"/>
          <p:cNvSpPr/>
          <p:nvPr/>
        </p:nvSpPr>
        <p:spPr>
          <a:xfrm>
            <a:off x="3263466" y="1458664"/>
            <a:ext cx="0" cy="1428750"/>
          </a:xfrm>
          <a:prstGeom prst="line">
            <a:avLst/>
          </a:prstGeom>
          <a:noFill/>
          <a:ln w="21431">
            <a:solidFill>
              <a:srgbClr val="0F2A4A"/>
            </a:solidFill>
            <a:prstDash val="solid"/>
          </a:ln>
        </p:spPr>
      </p:sp>
      <p:sp>
        <p:nvSpPr>
          <p:cNvPr id="20" name="Text 17"/>
          <p:cNvSpPr/>
          <p:nvPr/>
        </p:nvSpPr>
        <p:spPr>
          <a:xfrm>
            <a:off x="3431344" y="1594396"/>
            <a:ext cx="2295488" cy="140446"/>
          </a:xfrm>
          <a:prstGeom prst="rect">
            <a:avLst/>
          </a:prstGeom>
          <a:noFill/>
          <a:ln/>
        </p:spPr>
        <p:txBody>
          <a:bodyPr wrap="none" lIns="0" tIns="0" rIns="0" bIns="0" rtlCol="0" anchor="t">
            <a:normAutofit/>
          </a:bodyPr>
          <a:lstStyle/>
          <a:p>
            <a:pPr marL="0" indent="0" algn="l">
              <a:lnSpc>
                <a:spcPts val="1097"/>
              </a:lnSpc>
              <a:buNone/>
            </a:pPr>
            <a:r>
              <a:rPr lang="en-US" sz="800" b="1" kern="0" spc="73" dirty="0">
                <a:solidFill>
                  <a:srgbClr val="C9A961"/>
                </a:solidFill>
                <a:latin typeface="Liberation Sans Narrow" pitchFamily="34" charset="0"/>
                <a:ea typeface="Liberation Sans Narrow" pitchFamily="34" charset="-122"/>
                <a:cs typeface="Liberation Sans Narrow" pitchFamily="34" charset="-120"/>
              </a:rPr>
              <a:t>04 — 06</a:t>
            </a:r>
            <a:endParaRPr lang="en-US" sz="800" dirty="0"/>
          </a:p>
        </p:txBody>
      </p:sp>
      <p:sp>
        <p:nvSpPr>
          <p:cNvPr id="21" name="Text 18"/>
          <p:cNvSpPr/>
          <p:nvPr/>
        </p:nvSpPr>
        <p:spPr>
          <a:xfrm>
            <a:off x="3431344" y="1762274"/>
            <a:ext cx="2295488" cy="185166"/>
          </a:xfrm>
          <a:prstGeom prst="rect">
            <a:avLst/>
          </a:prstGeom>
          <a:noFill/>
          <a:ln/>
        </p:spPr>
        <p:txBody>
          <a:bodyPr wrap="none" lIns="0" tIns="0" rIns="0" bIns="0" rtlCol="0" anchor="t"/>
          <a:lstStyle/>
          <a:p>
            <a:pPr marL="0" indent="0" algn="l">
              <a:lnSpc>
                <a:spcPts val="1350"/>
              </a:lnSpc>
              <a:buNone/>
            </a:pPr>
            <a:r>
              <a:rPr lang="en-US" sz="900" kern="0" spc="-4" dirty="0">
                <a:solidFill>
                  <a:srgbClr val="0F2A4A"/>
                </a:solidFill>
                <a:latin typeface="Liberation Sans Narrow" pitchFamily="34" charset="0"/>
                <a:ea typeface="Liberation Sans Narrow" pitchFamily="34" charset="-122"/>
                <a:cs typeface="Liberation Sans Narrow" pitchFamily="34" charset="-120"/>
              </a:rPr>
              <a:t>Application (Topics 4-6)</a:t>
            </a:r>
            <a:endParaRPr lang="en-US" sz="900" dirty="0"/>
          </a:p>
        </p:txBody>
      </p:sp>
      <p:sp>
        <p:nvSpPr>
          <p:cNvPr id="22" name="Text 19"/>
          <p:cNvSpPr/>
          <p:nvPr/>
        </p:nvSpPr>
        <p:spPr>
          <a:xfrm>
            <a:off x="3431344" y="2019449"/>
            <a:ext cx="2295488" cy="833318"/>
          </a:xfrm>
          <a:prstGeom prst="rect">
            <a:avLst/>
          </a:prstGeom>
          <a:noFill/>
          <a:ln/>
        </p:spPr>
        <p:txBody>
          <a:bodyPr wrap="square" lIns="0" tIns="0" rIns="0" bIns="0" rtlCol="0" anchor="t"/>
          <a:lstStyle/>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Carlito" pitchFamily="34" charset="0"/>
                <a:ea typeface="Carlito" pitchFamily="34" charset="-122"/>
                <a:cs typeface="Carlito" pitchFamily="34" charset="-120"/>
              </a:rPr>
              <a:t>Six controls</a:t>
            </a:r>
            <a:r>
              <a:rPr lang="en-US" sz="800" dirty="0">
                <a:solidFill>
                  <a:srgbClr val="4A5568"/>
                </a:solidFill>
                <a:latin typeface="Carlito" pitchFamily="34" charset="0"/>
                <a:ea typeface="Carlito" pitchFamily="34" charset="-122"/>
                <a:cs typeface="Carlito" pitchFamily="34" charset="-120"/>
              </a:rPr>
              <a:t> — authN, authZ, crypto, validation, OTA, logging</a:t>
            </a:r>
            <a:endParaRPr lang="en-US" sz="800" dirty="0"/>
          </a:p>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Carlito" pitchFamily="34" charset="0"/>
                <a:ea typeface="Carlito" pitchFamily="34" charset="-122"/>
                <a:cs typeface="Carlito" pitchFamily="34" charset="-120"/>
              </a:rPr>
              <a:t>Process safety</a:t>
            </a:r>
            <a:r>
              <a:rPr lang="en-US" sz="800" dirty="0">
                <a:solidFill>
                  <a:srgbClr val="4A5568"/>
                </a:solidFill>
                <a:latin typeface="Carlito" pitchFamily="34" charset="0"/>
                <a:ea typeface="Carlito" pitchFamily="34" charset="-122"/>
                <a:cs typeface="Carlito" pitchFamily="34" charset="-120"/>
              </a:rPr>
              <a:t> — SIL/SIF and the IEC 61508 lifecycle</a:t>
            </a:r>
            <a:endParaRPr lang="en-US" sz="800" dirty="0"/>
          </a:p>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Carlito" pitchFamily="34" charset="0"/>
                <a:ea typeface="Carlito" pitchFamily="34" charset="-122"/>
                <a:cs typeface="Carlito" pitchFamily="34" charset="-120"/>
              </a:rPr>
              <a:t>Secure-by-design</a:t>
            </a:r>
            <a:r>
              <a:rPr lang="en-US" sz="800" dirty="0">
                <a:solidFill>
                  <a:srgbClr val="4A5568"/>
                </a:solidFill>
                <a:latin typeface="Carlito" pitchFamily="34" charset="0"/>
                <a:ea typeface="Carlito" pitchFamily="34" charset="-122"/>
                <a:cs typeface="Carlito" pitchFamily="34" charset="-120"/>
              </a:rPr>
              <a:t> — shift left, threat-model first</a:t>
            </a:r>
            <a:endParaRPr lang="en-US" sz="800" dirty="0"/>
          </a:p>
        </p:txBody>
      </p:sp>
      <p:sp>
        <p:nvSpPr>
          <p:cNvPr id="23" name="Text 20"/>
          <p:cNvSpPr/>
          <p:nvPr/>
        </p:nvSpPr>
        <p:spPr>
          <a:xfrm>
            <a:off x="6048301" y="1458664"/>
            <a:ext cx="2638499" cy="1428750"/>
          </a:xfrm>
          <a:prstGeom prst="roundRect">
            <a:avLst>
              <a:gd name="adj" fmla="val 5333"/>
            </a:avLst>
          </a:prstGeom>
          <a:solidFill>
            <a:srgbClr val="FFFFFF"/>
          </a:solidFill>
          <a:ln/>
        </p:spPr>
        <p:txBody>
          <a:bodyPr wrap="square" rtlCol="0" anchor="ctr"/>
          <a:lstStyle/>
          <a:p>
            <a:pPr marL="0" indent="0">
              <a:buNone/>
            </a:pPr>
            <a:endParaRPr lang="en-US" dirty="0"/>
          </a:p>
        </p:txBody>
      </p:sp>
      <p:sp>
        <p:nvSpPr>
          <p:cNvPr id="24" name="Shape 21"/>
          <p:cNvSpPr/>
          <p:nvPr/>
        </p:nvSpPr>
        <p:spPr>
          <a:xfrm>
            <a:off x="6048301" y="1462236"/>
            <a:ext cx="2638499" cy="0"/>
          </a:xfrm>
          <a:prstGeom prst="line">
            <a:avLst/>
          </a:prstGeom>
          <a:noFill/>
          <a:ln w="7144">
            <a:solidFill>
              <a:srgbClr val="D8DEE6"/>
            </a:solidFill>
            <a:prstDash val="solid"/>
          </a:ln>
        </p:spPr>
      </p:sp>
      <p:sp>
        <p:nvSpPr>
          <p:cNvPr id="25" name="Shape 22"/>
          <p:cNvSpPr/>
          <p:nvPr/>
        </p:nvSpPr>
        <p:spPr>
          <a:xfrm>
            <a:off x="8683228" y="1458664"/>
            <a:ext cx="0" cy="1428750"/>
          </a:xfrm>
          <a:prstGeom prst="line">
            <a:avLst/>
          </a:prstGeom>
          <a:noFill/>
          <a:ln w="7144">
            <a:solidFill>
              <a:srgbClr val="D8DEE6"/>
            </a:solidFill>
            <a:prstDash val="solid"/>
          </a:ln>
        </p:spPr>
      </p:sp>
      <p:sp>
        <p:nvSpPr>
          <p:cNvPr id="26" name="Shape 23"/>
          <p:cNvSpPr/>
          <p:nvPr/>
        </p:nvSpPr>
        <p:spPr>
          <a:xfrm>
            <a:off x="6048301" y="2883843"/>
            <a:ext cx="2638499" cy="0"/>
          </a:xfrm>
          <a:prstGeom prst="line">
            <a:avLst/>
          </a:prstGeom>
          <a:noFill/>
          <a:ln w="7144">
            <a:solidFill>
              <a:srgbClr val="D8DEE6"/>
            </a:solidFill>
            <a:prstDash val="solid"/>
          </a:ln>
        </p:spPr>
      </p:sp>
      <p:sp>
        <p:nvSpPr>
          <p:cNvPr id="27" name="Shape 24"/>
          <p:cNvSpPr/>
          <p:nvPr/>
        </p:nvSpPr>
        <p:spPr>
          <a:xfrm>
            <a:off x="6059016" y="1458664"/>
            <a:ext cx="0" cy="1428750"/>
          </a:xfrm>
          <a:prstGeom prst="line">
            <a:avLst/>
          </a:prstGeom>
          <a:noFill/>
          <a:ln w="21431">
            <a:solidFill>
              <a:srgbClr val="0F2A4A"/>
            </a:solidFill>
            <a:prstDash val="solid"/>
          </a:ln>
        </p:spPr>
      </p:sp>
      <p:sp>
        <p:nvSpPr>
          <p:cNvPr id="28" name="Text 25"/>
          <p:cNvSpPr/>
          <p:nvPr/>
        </p:nvSpPr>
        <p:spPr>
          <a:xfrm>
            <a:off x="6226894" y="1594396"/>
            <a:ext cx="2295599" cy="140446"/>
          </a:xfrm>
          <a:prstGeom prst="rect">
            <a:avLst/>
          </a:prstGeom>
          <a:noFill/>
          <a:ln/>
        </p:spPr>
        <p:txBody>
          <a:bodyPr wrap="none" lIns="0" tIns="0" rIns="0" bIns="0" rtlCol="0" anchor="t">
            <a:normAutofit/>
          </a:bodyPr>
          <a:lstStyle/>
          <a:p>
            <a:pPr marL="0" indent="0" algn="l">
              <a:lnSpc>
                <a:spcPts val="1097"/>
              </a:lnSpc>
              <a:buNone/>
            </a:pPr>
            <a:r>
              <a:rPr lang="en-US" sz="800" b="1" kern="0" spc="73" dirty="0">
                <a:solidFill>
                  <a:srgbClr val="C9A961"/>
                </a:solidFill>
                <a:latin typeface="Liberation Sans Narrow" pitchFamily="34" charset="0"/>
                <a:ea typeface="Liberation Sans Narrow" pitchFamily="34" charset="-122"/>
                <a:cs typeface="Liberation Sans Narrow" pitchFamily="34" charset="-120"/>
              </a:rPr>
              <a:t>07 — 09</a:t>
            </a:r>
            <a:endParaRPr lang="en-US" sz="800" dirty="0"/>
          </a:p>
        </p:txBody>
      </p:sp>
      <p:sp>
        <p:nvSpPr>
          <p:cNvPr id="29" name="Text 26"/>
          <p:cNvSpPr/>
          <p:nvPr/>
        </p:nvSpPr>
        <p:spPr>
          <a:xfrm>
            <a:off x="6226894" y="1762274"/>
            <a:ext cx="2295599" cy="185166"/>
          </a:xfrm>
          <a:prstGeom prst="rect">
            <a:avLst/>
          </a:prstGeom>
          <a:noFill/>
          <a:ln/>
        </p:spPr>
        <p:txBody>
          <a:bodyPr wrap="none" lIns="0" tIns="0" rIns="0" bIns="0" rtlCol="0" anchor="t"/>
          <a:lstStyle/>
          <a:p>
            <a:pPr marL="0" indent="0" algn="l">
              <a:lnSpc>
                <a:spcPts val="1350"/>
              </a:lnSpc>
              <a:buNone/>
            </a:pPr>
            <a:r>
              <a:rPr lang="en-US" sz="900" kern="0" spc="-4" dirty="0">
                <a:solidFill>
                  <a:srgbClr val="0F2A4A"/>
                </a:solidFill>
                <a:latin typeface="Liberation Sans Narrow" pitchFamily="34" charset="0"/>
                <a:ea typeface="Liberation Sans Narrow" pitchFamily="34" charset="-122"/>
                <a:cs typeface="Liberation Sans Narrow" pitchFamily="34" charset="-120"/>
              </a:rPr>
              <a:t>Operation (Topics 7-9)</a:t>
            </a:r>
            <a:endParaRPr lang="en-US" sz="900" dirty="0"/>
          </a:p>
        </p:txBody>
      </p:sp>
      <p:sp>
        <p:nvSpPr>
          <p:cNvPr id="30" name="Text 27"/>
          <p:cNvSpPr/>
          <p:nvPr/>
        </p:nvSpPr>
        <p:spPr>
          <a:xfrm>
            <a:off x="6226894" y="2019449"/>
            <a:ext cx="2295599" cy="833318"/>
          </a:xfrm>
          <a:prstGeom prst="rect">
            <a:avLst/>
          </a:prstGeom>
          <a:noFill/>
          <a:ln/>
        </p:spPr>
        <p:txBody>
          <a:bodyPr wrap="square" lIns="0" tIns="0" rIns="0" bIns="0" rtlCol="0" anchor="t"/>
          <a:lstStyle/>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Carlito" pitchFamily="34" charset="0"/>
                <a:ea typeface="Carlito" pitchFamily="34" charset="-122"/>
                <a:cs typeface="Carlito" pitchFamily="34" charset="-120"/>
              </a:rPr>
              <a:t>Runtime monitoring</a:t>
            </a:r>
            <a:r>
              <a:rPr lang="en-US" sz="800" dirty="0">
                <a:solidFill>
                  <a:srgbClr val="4A5568"/>
                </a:solidFill>
                <a:latin typeface="Carlito" pitchFamily="34" charset="0"/>
                <a:ea typeface="Carlito" pitchFamily="34" charset="-122"/>
                <a:cs typeface="Carlito" pitchFamily="34" charset="-120"/>
              </a:rPr>
              <a:t> — sense, analyze, decide, act, learn</a:t>
            </a:r>
            <a:endParaRPr lang="en-US" sz="800" dirty="0"/>
          </a:p>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Carlito" pitchFamily="34" charset="0"/>
                <a:ea typeface="Carlito" pitchFamily="34" charset="-122"/>
                <a:cs typeface="Carlito" pitchFamily="34" charset="-120"/>
              </a:rPr>
              <a:t>ARMET</a:t>
            </a:r>
            <a:r>
              <a:rPr lang="en-US" sz="800" dirty="0">
                <a:solidFill>
                  <a:srgbClr val="4A5568"/>
                </a:solidFill>
                <a:latin typeface="Carlito" pitchFamily="34" charset="0"/>
                <a:ea typeface="Carlito" pitchFamily="34" charset="-122"/>
                <a:cs typeface="Carlito" pitchFamily="34" charset="-120"/>
              </a:rPr>
              <a:t> — application-aware 7-step hardening pipeline</a:t>
            </a:r>
            <a:endParaRPr lang="en-US" sz="800" dirty="0"/>
          </a:p>
          <a:p>
            <a:pPr marL="0" indent="0" algn="l">
              <a:lnSpc>
                <a:spcPts val="979"/>
              </a:lnSpc>
              <a:spcAft>
                <a:spcPts val="450"/>
              </a:spcAft>
              <a:buNone/>
            </a:pPr>
            <a:r>
              <a:rPr lang="en-US" sz="600" dirty="0">
                <a:solidFill>
                  <a:srgbClr val="C9A961"/>
                </a:solidFill>
                <a:latin typeface="Carlito" pitchFamily="34" charset="0"/>
                <a:ea typeface="Carlito" pitchFamily="34" charset="-122"/>
                <a:cs typeface="Carlito" pitchFamily="34" charset="-120"/>
              </a:rPr>
              <a:t>●  </a:t>
            </a:r>
            <a:r>
              <a:rPr lang="en-US" sz="800" dirty="0">
                <a:solidFill>
                  <a:srgbClr val="0F2A4A"/>
                </a:solidFill>
                <a:latin typeface="Carlito" pitchFamily="34" charset="0"/>
                <a:ea typeface="Carlito" pitchFamily="34" charset="-122"/>
                <a:cs typeface="Carlito" pitchFamily="34" charset="-120"/>
              </a:rPr>
              <a:t>Privacy + dependability</a:t>
            </a:r>
            <a:r>
              <a:rPr lang="en-US" sz="800" dirty="0">
                <a:solidFill>
                  <a:srgbClr val="4A5568"/>
                </a:solidFill>
                <a:latin typeface="Carlito" pitchFamily="34" charset="0"/>
                <a:ea typeface="Carlito" pitchFamily="34" charset="-122"/>
                <a:cs typeface="Carlito" pitchFamily="34" charset="-120"/>
              </a:rPr>
              <a:t> — the user-facing promises</a:t>
            </a:r>
            <a:endParaRPr lang="en-US" sz="800" dirty="0"/>
          </a:p>
        </p:txBody>
      </p:sp>
      <p:sp>
        <p:nvSpPr>
          <p:cNvPr id="31" name="Text 28"/>
          <p:cNvSpPr/>
          <p:nvPr/>
        </p:nvSpPr>
        <p:spPr>
          <a:xfrm>
            <a:off x="4214813" y="3073152"/>
            <a:ext cx="714375" cy="10716"/>
          </a:xfrm>
          <a:prstGeom prst="rect">
            <a:avLst/>
          </a:prstGeom>
          <a:solidFill>
            <a:srgbClr val="C9A961"/>
          </a:solidFill>
          <a:ln/>
        </p:spPr>
        <p:txBody>
          <a:bodyPr wrap="square" rtlCol="0" anchor="ctr"/>
          <a:lstStyle/>
          <a:p>
            <a:pPr marL="0" indent="0">
              <a:buNone/>
            </a:pPr>
            <a:endParaRPr lang="en-US" dirty="0"/>
          </a:p>
        </p:txBody>
      </p:sp>
      <p:sp>
        <p:nvSpPr>
          <p:cNvPr id="32" name="Text 29"/>
          <p:cNvSpPr/>
          <p:nvPr/>
        </p:nvSpPr>
        <p:spPr>
          <a:xfrm>
            <a:off x="2694533" y="3183880"/>
            <a:ext cx="3754822" cy="194328"/>
          </a:xfrm>
          <a:prstGeom prst="rect">
            <a:avLst/>
          </a:prstGeom>
          <a:noFill/>
          <a:ln/>
        </p:spPr>
        <p:txBody>
          <a:bodyPr wrap="square" lIns="0" tIns="0" rIns="0" bIns="0" rtlCol="0" anchor="t"/>
          <a:lstStyle/>
          <a:p>
            <a:pPr marL="0" indent="0" algn="ctr">
              <a:lnSpc>
                <a:spcPts val="1418"/>
              </a:lnSpc>
              <a:buNone/>
            </a:pPr>
            <a:r>
              <a:rPr lang="en-US" sz="1013" i="1" dirty="0">
                <a:solidFill>
                  <a:srgbClr val="0F2A4A"/>
                </a:solidFill>
                <a:latin typeface="Tinos" pitchFamily="34" charset="0"/>
                <a:ea typeface="Tinos" pitchFamily="34" charset="-122"/>
                <a:cs typeface="Tinos" pitchFamily="34" charset="-120"/>
              </a:rPr>
              <a:t>Build it in. Verify it holds. Watch it run. Patch it before the attacker does.</a:t>
            </a:r>
            <a:endParaRPr lang="en-US" sz="1013" dirty="0"/>
          </a:p>
        </p:txBody>
      </p:sp>
      <p:sp>
        <p:nvSpPr>
          <p:cNvPr id="33" name="Text 30"/>
          <p:cNvSpPr/>
          <p:nvPr/>
        </p:nvSpPr>
        <p:spPr>
          <a:xfrm>
            <a:off x="3245713" y="3435251"/>
            <a:ext cx="2652462" cy="164592"/>
          </a:xfrm>
          <a:prstGeom prst="rect">
            <a:avLst/>
          </a:prstGeom>
          <a:noFill/>
          <a:ln/>
        </p:spPr>
        <p:txBody>
          <a:bodyPr wrap="square" lIns="0" tIns="0" rIns="0" bIns="0" rtlCol="0" anchor="t"/>
          <a:lstStyle/>
          <a:p>
            <a:pPr marL="0" indent="0" algn="ctr">
              <a:lnSpc>
                <a:spcPts val="928"/>
              </a:lnSpc>
              <a:buNone/>
            </a:pPr>
            <a:r>
              <a:rPr lang="en-US" sz="619" kern="0" spc="93" dirty="0">
                <a:solidFill>
                  <a:srgbClr val="6B7280"/>
                </a:solidFill>
                <a:latin typeface="Courier New" pitchFamily="34" charset="0"/>
                <a:ea typeface="Courier New" pitchFamily="34" charset="-122"/>
                <a:cs typeface="Courier New" pitchFamily="34" charset="-120"/>
              </a:rPr>
              <a:t>IOT-SEC · COURSE NOTES · 09 TOPICS · 21 SLIDES</a:t>
            </a:r>
            <a:endParaRPr lang="en-US" sz="619" dirty="0"/>
          </a:p>
        </p:txBody>
      </p:sp>
      <p:sp>
        <p:nvSpPr>
          <p:cNvPr id="34" name="Text 31"/>
          <p:cNvSpPr/>
          <p:nvPr/>
        </p:nvSpPr>
        <p:spPr>
          <a:xfrm>
            <a:off x="457200" y="4897041"/>
            <a:ext cx="7912708" cy="164592"/>
          </a:xfrm>
          <a:prstGeom prst="rect">
            <a:avLst/>
          </a:prstGeom>
          <a:noFill/>
          <a:ln/>
        </p:spPr>
        <p:txBody>
          <a:bodyPr wrap="none" lIns="0" tIns="0" rIns="0" bIns="0" rtlCol="0" anchor="t"/>
          <a:lstStyle/>
          <a:p>
            <a:pPr marL="0" indent="0" algn="l">
              <a:lnSpc>
                <a:spcPts val="928"/>
              </a:lnSpc>
              <a:buNone/>
            </a:pPr>
            <a:r>
              <a:rPr lang="en-US" sz="800" kern="0" spc="31" dirty="0">
                <a:solidFill>
                  <a:srgbClr val="0F2A4A"/>
                </a:solidFill>
                <a:latin typeface="Carlito" pitchFamily="34" charset="0"/>
                <a:ea typeface="Carlito" pitchFamily="34" charset="-122"/>
                <a:cs typeface="Carlito" pitchFamily="34" charset="-120"/>
              </a:rPr>
              <a:t>RELIABLE &amp; SECURE IOT APPLICATIONS · IOT-SEC 2026</a:t>
            </a:r>
            <a:endParaRPr lang="en-US" sz="800" dirty="0"/>
          </a:p>
        </p:txBody>
      </p:sp>
      <p:sp>
        <p:nvSpPr>
          <p:cNvPr id="35" name="Text 32"/>
          <p:cNvSpPr/>
          <p:nvPr/>
        </p:nvSpPr>
        <p:spPr>
          <a:xfrm>
            <a:off x="8368833" y="4897041"/>
            <a:ext cx="453969" cy="164592"/>
          </a:xfrm>
          <a:prstGeom prst="rect">
            <a:avLst/>
          </a:prstGeom>
          <a:noFill/>
          <a:ln/>
        </p:spPr>
        <p:txBody>
          <a:bodyPr wrap="square" lIns="0" tIns="0" rIns="0" bIns="0" rtlCol="0" anchor="t"/>
          <a:lstStyle/>
          <a:p>
            <a:pPr marL="0" indent="0" algn="l">
              <a:lnSpc>
                <a:spcPts val="928"/>
              </a:lnSpc>
              <a:buNone/>
            </a:pPr>
            <a:r>
              <a:rPr lang="en-US" sz="800" kern="0" spc="31" dirty="0">
                <a:solidFill>
                  <a:srgbClr val="6B7280"/>
                </a:solidFill>
                <a:latin typeface="Liberation Sans Narrow" pitchFamily="34" charset="0"/>
                <a:ea typeface="Liberation Sans Narrow" pitchFamily="34" charset="-122"/>
                <a:cs typeface="Liberation Sans Narrow" pitchFamily="34" charset="-120"/>
              </a:rPr>
              <a:t>21 / 21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6954</Words>
  <Application>Microsoft Office PowerPoint</Application>
  <PresentationFormat>On-screen Show (16:9)</PresentationFormat>
  <Paragraphs>686</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Carlito</vt:lpstr>
      <vt:lpstr>Courier New</vt:lpstr>
      <vt:lpstr>Liberation Sans Narrow</vt:lpstr>
      <vt:lpstr>Segoe UI Symbol</vt:lpstr>
      <vt:lpstr>Tinos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arepallirama@outlook.com</cp:lastModifiedBy>
  <cp:revision>2</cp:revision>
  <dcterms:created xsi:type="dcterms:W3CDTF">2026-09-24T13:12:48Z</dcterms:created>
  <dcterms:modified xsi:type="dcterms:W3CDTF">2026-09-25T15:42:30Z</dcterms:modified>
</cp:coreProperties>
</file>